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74320"/>
            <a:ext cx="53340" cy="548640"/>
          </a:xfrm>
          <a:prstGeom prst="roundRect">
            <a:avLst>
              <a:gd name="adj" fmla="val 50000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28600"/>
            <a:ext cx="80010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6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 관리 테이블 ERD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40080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8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대상 PostgreSQL 의 kdms 스키마 · 관리 스키마 v3 · 정의는 docs/database.md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382000" y="411480"/>
            <a:ext cx="3429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KDMS-D05 · v0.1 · 2026-10-09</a:t>
            </a:r>
          </a:p>
        </p:txBody>
      </p:sp>
      <p:sp>
        <p:nvSpPr>
          <p:cNvPr id="6" name="영역 적재 · 기타"/>
          <p:cNvSpPr/>
          <p:nvPr/>
        </p:nvSpPr>
        <p:spPr>
          <a:xfrm>
            <a:off x="335280" y="960120"/>
            <a:ext cx="3672840" cy="5059680"/>
          </a:xfrm>
          <a:prstGeom prst="roundRect">
            <a:avLst>
              <a:gd name="adj" fmla="val 3734"/>
            </a:avLst>
          </a:prstGeom>
          <a:solidFill>
            <a:srgbClr val="EEF8F3"/>
          </a:solidFill>
          <a:ln w="10668">
            <a:solidFill>
              <a:srgbClr val="9DD3B8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적재 · 기타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3단계 적재 구간, FK 없는 표</a:t>
            </a:r>
          </a:p>
        </p:txBody>
      </p:sp>
      <p:sp>
        <p:nvSpPr>
          <p:cNvPr id="7" name="영역 작업 · 변경분"/>
          <p:cNvSpPr/>
          <p:nvPr/>
        </p:nvSpPr>
        <p:spPr>
          <a:xfrm>
            <a:off x="4267200" y="960120"/>
            <a:ext cx="3657600" cy="5059680"/>
          </a:xfrm>
          <a:prstGeom prst="roundRect">
            <a:avLst>
              <a:gd name="adj" fmla="val 3750"/>
            </a:avLst>
          </a:prstGeom>
          <a:solidFill>
            <a:srgbClr val="EEF8F3"/>
          </a:solidFill>
          <a:ln w="15240">
            <a:solidFill>
              <a:srgbClr val="1E6B4F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작업 · 변경분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작업 1건 = 원천 DB 1 → 대상 DB 1</a:t>
            </a:r>
          </a:p>
        </p:txBody>
      </p:sp>
      <p:sp>
        <p:nvSpPr>
          <p:cNvPr id="8" name="영역 검증 · 전환"/>
          <p:cNvSpPr/>
          <p:nvPr/>
        </p:nvSpPr>
        <p:spPr>
          <a:xfrm>
            <a:off x="8183880" y="960120"/>
            <a:ext cx="3672840" cy="5059680"/>
          </a:xfrm>
          <a:prstGeom prst="roundRect">
            <a:avLst>
              <a:gd name="adj" fmla="val 3734"/>
            </a:avLst>
          </a:prstGeom>
          <a:solidFill>
            <a:srgbClr val="EEF8F3"/>
          </a:solidFill>
          <a:ln w="10668">
            <a:solidFill>
              <a:srgbClr val="9DD3B8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검증 · 전환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3단계 검증, 5단계 전환 기록</a:t>
            </a:r>
          </a:p>
        </p:txBody>
      </p:sp>
      <p:sp>
        <p:nvSpPr>
          <p:cNvPr id="9" name="블록 job"/>
          <p:cNvSpPr/>
          <p:nvPr/>
        </p:nvSpPr>
        <p:spPr>
          <a:xfrm>
            <a:off x="4495800" y="1554480"/>
            <a:ext cx="3200400" cy="685800"/>
          </a:xfrm>
          <a:prstGeom prst="roundRect">
            <a:avLst>
              <a:gd name="adj" fmla="val 13333"/>
            </a:avLst>
          </a:prstGeom>
          <a:solidFill>
            <a:srgbClr val="0B3D2E"/>
          </a:solidFill>
          <a:ln w="18288">
            <a:solidFill>
              <a:srgbClr val="0B3D2E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job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PK job_id · UK job_name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status · config_sha256 · last_error</a:t>
            </a:r>
          </a:p>
        </p:txBody>
      </p:sp>
      <p:sp>
        <p:nvSpPr>
          <p:cNvPr id="10" name="블록 watermark"/>
          <p:cNvSpPr/>
          <p:nvPr/>
        </p:nvSpPr>
        <p:spPr>
          <a:xfrm>
            <a:off x="4465320" y="2682240"/>
            <a:ext cx="103632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watermark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PK = job_id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LSN · 지연</a:t>
            </a:r>
          </a:p>
        </p:txBody>
      </p:sp>
      <p:sp>
        <p:nvSpPr>
          <p:cNvPr id="11" name="블록 change_log"/>
          <p:cNvSpPr/>
          <p:nvPr/>
        </p:nvSpPr>
        <p:spPr>
          <a:xfrm>
            <a:off x="5577840" y="2682240"/>
            <a:ext cx="103632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change_log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반영 전 변경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반영 뒤 삭제</a:t>
            </a:r>
          </a:p>
        </p:txBody>
      </p:sp>
      <p:sp>
        <p:nvSpPr>
          <p:cNvPr id="12" name="블록 event_log"/>
          <p:cNvSpPr/>
          <p:nvPr/>
        </p:nvSpPr>
        <p:spPr>
          <a:xfrm>
            <a:off x="6690360" y="2682240"/>
            <a:ext cx="103632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event_log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단계 기록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행 값 없음</a:t>
            </a:r>
          </a:p>
        </p:txBody>
      </p:sp>
      <p:sp>
        <p:nvSpPr>
          <p:cNvPr id="13" name="블록 job.status"/>
          <p:cNvSpPr/>
          <p:nvPr/>
        </p:nvSpPr>
        <p:spPr>
          <a:xfrm>
            <a:off x="4495800" y="3810000"/>
            <a:ext cx="3200400" cy="685800"/>
          </a:xfrm>
          <a:prstGeom prst="roundRect">
            <a:avLst>
              <a:gd name="adj" fmla="val 13333"/>
            </a:avLst>
          </a:prstGeom>
          <a:solidFill>
            <a:srgbClr val="D5EFE2"/>
          </a:solidFill>
          <a:ln w="16764">
            <a:solidFill>
              <a:srgbClr val="1E6B4F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job.status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SCHEMA_DONE → LOADING → SYNCING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→ CUTOVER → VERIFIED → DONE · FAILED</a:t>
            </a:r>
          </a:p>
        </p:txBody>
      </p:sp>
      <p:sp>
        <p:nvSpPr>
          <p:cNvPr id="14" name="블록 job_table.status"/>
          <p:cNvSpPr/>
          <p:nvPr/>
        </p:nvSpPr>
        <p:spPr>
          <a:xfrm>
            <a:off x="4495800" y="4876800"/>
            <a:ext cx="3200400" cy="685800"/>
          </a:xfrm>
          <a:prstGeom prst="roundRect">
            <a:avLst>
              <a:gd name="adj" fmla="val 13333"/>
            </a:avLst>
          </a:prstGeom>
          <a:solidFill>
            <a:srgbClr val="D5EFE2"/>
          </a:solidFill>
          <a:ln w="16764">
            <a:solidFill>
              <a:srgbClr val="1E6B4F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job_table.status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PENDING → LOADING → LOADED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구간 실패 → FAILED → 다시 LOADING</a:t>
            </a:r>
          </a:p>
        </p:txBody>
      </p:sp>
      <p:sp>
        <p:nvSpPr>
          <p:cNvPr id="15" name="블록 job_table"/>
          <p:cNvSpPr/>
          <p:nvPr/>
        </p:nvSpPr>
        <p:spPr>
          <a:xfrm>
            <a:off x="563880" y="1554480"/>
            <a:ext cx="32156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job_table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PK job_table_id · FK job_id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status · 테이블별 반영 위치(LSN)</a:t>
            </a:r>
          </a:p>
        </p:txBody>
      </p:sp>
      <p:sp>
        <p:nvSpPr>
          <p:cNvPr id="16" name="블록 load_chunk"/>
          <p:cNvSpPr/>
          <p:nvPr/>
        </p:nvSpPr>
        <p:spPr>
          <a:xfrm>
            <a:off x="563880" y="2682240"/>
            <a:ext cx="32156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load_chunk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PK chunk_id · FK job_table_id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구간 상·하한(jsonb) · status</a:t>
            </a:r>
          </a:p>
        </p:txBody>
      </p:sp>
      <p:sp>
        <p:nvSpPr>
          <p:cNvPr id="17" name="블록 schema_version"/>
          <p:cNvSpPr/>
          <p:nvPr/>
        </p:nvSpPr>
        <p:spPr>
          <a:xfrm>
            <a:off x="563880" y="3810000"/>
            <a:ext cx="32156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schema_version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적용한 관리 스키마 버전 1 · 2 · 3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FK 없음</a:t>
            </a:r>
          </a:p>
        </p:txBody>
      </p:sp>
      <p:sp>
        <p:nvSpPr>
          <p:cNvPr id="18" name="블록 debezium_offset · schema_history"/>
          <p:cNvSpPr/>
          <p:nvPr/>
        </p:nvSpPr>
        <p:spPr>
          <a:xfrm>
            <a:off x="563880" y="4876800"/>
            <a:ext cx="32156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debezium_offset · schema_history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Debezium 이 만든다 · 작업마다 따로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FK 없음 · reset 이 지운다</a:t>
            </a:r>
          </a:p>
        </p:txBody>
      </p:sp>
      <p:sp>
        <p:nvSpPr>
          <p:cNvPr id="19" name="블록 verify_run"/>
          <p:cNvSpPr/>
          <p:nvPr/>
        </p:nvSpPr>
        <p:spPr>
          <a:xfrm>
            <a:off x="8412480" y="1554480"/>
            <a:ext cx="32156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verify_run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PK run_id · FK job_id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checks · mismatches</a:t>
            </a:r>
          </a:p>
        </p:txBody>
      </p:sp>
      <p:sp>
        <p:nvSpPr>
          <p:cNvPr id="20" name="블록 verify_result"/>
          <p:cNvSpPr/>
          <p:nvPr/>
        </p:nvSpPr>
        <p:spPr>
          <a:xfrm>
            <a:off x="8412480" y="2682240"/>
            <a:ext cx="156972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verify_result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건수·합계·해시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숫자만</a:t>
            </a:r>
          </a:p>
        </p:txBody>
      </p:sp>
      <p:sp>
        <p:nvSpPr>
          <p:cNvPr id="21" name="블록 verify_row_diff"/>
          <p:cNvSpPr/>
          <p:nvPr/>
        </p:nvSpPr>
        <p:spPr>
          <a:xfrm>
            <a:off x="10058400" y="2682240"/>
            <a:ext cx="156972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verify_row_diff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PK 값만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missing·extra·diff</a:t>
            </a:r>
          </a:p>
        </p:txBody>
      </p:sp>
      <p:sp>
        <p:nvSpPr>
          <p:cNvPr id="22" name="블록 cutover_run"/>
          <p:cNvSpPr/>
          <p:nvPr/>
        </p:nvSpPr>
        <p:spPr>
          <a:xfrm>
            <a:off x="8412480" y="3810000"/>
            <a:ext cx="32156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cutover_run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PK cutover_id · FK job_id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elapsed_ms = 예상 다운타임</a:t>
            </a:r>
          </a:p>
        </p:txBody>
      </p:sp>
      <p:sp>
        <p:nvSpPr>
          <p:cNvPr id="23" name="블록 cutover_step"/>
          <p:cNvSpPr/>
          <p:nvPr/>
        </p:nvSpPr>
        <p:spPr>
          <a:xfrm>
            <a:off x="8412480" y="4876800"/>
            <a:ext cx="32156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cutover_step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PK (cutover_id, step_no)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drain → reload → … → fk</a:t>
            </a:r>
          </a:p>
        </p:txBody>
      </p:sp>
      <p:cxnSp>
        <p:nvCxnSpPr>
          <p:cNvPr id="24" name="연결 wm→job"/>
          <p:cNvCxnSpPr>
            <a:stCxn id="10" idx="0"/>
          </p:cNvCxnSpPr>
          <p:nvPr/>
        </p:nvCxnSpPr>
        <p:spPr>
          <a:xfrm flipV="1">
            <a:off x="4983480" y="2240280"/>
            <a:ext cx="0" cy="44196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25" name="연결 cl→job"/>
          <p:cNvCxnSpPr>
            <a:stCxn id="11" idx="0"/>
            <a:endCxn id="9" idx="2"/>
          </p:cNvCxnSpPr>
          <p:nvPr/>
        </p:nvCxnSpPr>
        <p:spPr>
          <a:xfrm flipV="1">
            <a:off x="6096000" y="2240280"/>
            <a:ext cx="0" cy="44196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26" name="연결 ev→job"/>
          <p:cNvCxnSpPr>
            <a:stCxn id="12" idx="0"/>
          </p:cNvCxnSpPr>
          <p:nvPr/>
        </p:nvCxnSpPr>
        <p:spPr>
          <a:xfrm flipV="1">
            <a:off x="7208520" y="2240280"/>
            <a:ext cx="0" cy="44196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27" name="연결 jt→job"/>
          <p:cNvCxnSpPr>
            <a:stCxn id="15" idx="3"/>
            <a:endCxn id="9" idx="1"/>
          </p:cNvCxnSpPr>
          <p:nvPr/>
        </p:nvCxnSpPr>
        <p:spPr>
          <a:xfrm>
            <a:off x="3779520" y="1897380"/>
            <a:ext cx="71628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28" name="연결 lc→jt"/>
          <p:cNvCxnSpPr>
            <a:stCxn id="16" idx="0"/>
            <a:endCxn id="15" idx="2"/>
          </p:cNvCxnSpPr>
          <p:nvPr/>
        </p:nvCxnSpPr>
        <p:spPr>
          <a:xfrm flipV="1">
            <a:off x="2171700" y="2240280"/>
            <a:ext cx="0" cy="44196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29" name="연결 vr→job"/>
          <p:cNvCxnSpPr>
            <a:stCxn id="19" idx="1"/>
            <a:endCxn id="9" idx="3"/>
          </p:cNvCxnSpPr>
          <p:nvPr/>
        </p:nvCxnSpPr>
        <p:spPr>
          <a:xfrm flipH="1">
            <a:off x="7696200" y="1897380"/>
            <a:ext cx="71628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30" name="연결 vres→vr"/>
          <p:cNvCxnSpPr>
            <a:stCxn id="20" idx="0"/>
          </p:cNvCxnSpPr>
          <p:nvPr/>
        </p:nvCxnSpPr>
        <p:spPr>
          <a:xfrm flipV="1">
            <a:off x="9197340" y="2240280"/>
            <a:ext cx="0" cy="44196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31" name="연결 vdiff→vr"/>
          <p:cNvCxnSpPr>
            <a:stCxn id="21" idx="0"/>
          </p:cNvCxnSpPr>
          <p:nvPr/>
        </p:nvCxnSpPr>
        <p:spPr>
          <a:xfrm flipV="1">
            <a:off x="10843260" y="2240280"/>
            <a:ext cx="0" cy="44196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32" name="연결 cs→cr"/>
          <p:cNvCxnSpPr>
            <a:stCxn id="23" idx="0"/>
            <a:endCxn id="22" idx="2"/>
          </p:cNvCxnSpPr>
          <p:nvPr/>
        </p:nvCxnSpPr>
        <p:spPr>
          <a:xfrm flipV="1">
            <a:off x="10020300" y="4495800"/>
            <a:ext cx="0" cy="38100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33" name="연결 cr→job"/>
          <p:cNvCxnSpPr>
            <a:stCxn id="22" idx="1"/>
          </p:cNvCxnSpPr>
          <p:nvPr/>
        </p:nvCxnSpPr>
        <p:spPr>
          <a:xfrm flipH="1" flipV="1">
            <a:off x="7696200" y="2080260"/>
            <a:ext cx="716280" cy="2072640"/>
          </a:xfrm>
          <a:prstGeom prst="bentConnector3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sp>
        <p:nvSpPr>
          <p:cNvPr id="34" name="범례"/>
          <p:cNvSpPr/>
          <p:nvPr/>
        </p:nvSpPr>
        <p:spPr>
          <a:xfrm>
            <a:off x="381000" y="6309360"/>
            <a:ext cx="4236339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cxnSp>
        <p:nvCxnSpPr>
          <p:cNvPr id="36" name="범례 FK 참조 (자식 → 부모, 1 : N)"/>
          <p:cNvCxnSpPr/>
          <p:nvPr/>
        </p:nvCxnSpPr>
        <p:spPr>
          <a:xfrm>
            <a:off x="914400" y="6507480"/>
            <a:ext cx="35052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sp>
        <p:nvSpPr>
          <p:cNvPr id="37" name="범례 글 FK 참조 (자식 → 부모, 1 : N)"/>
          <p:cNvSpPr txBox="1"/>
          <p:nvPr/>
        </p:nvSpPr>
        <p:spPr>
          <a:xfrm>
            <a:off x="1341120" y="6309360"/>
            <a:ext cx="2069592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FK 참조 (자식 → 부모, 1 : N)</a:t>
            </a:r>
          </a:p>
        </p:txBody>
      </p:sp>
      <p:sp>
        <p:nvSpPr>
          <p:cNvPr id="38" name="범례 상태 코드값"/>
          <p:cNvSpPr/>
          <p:nvPr/>
        </p:nvSpPr>
        <p:spPr>
          <a:xfrm>
            <a:off x="3486912" y="6438900"/>
            <a:ext cx="182880" cy="137160"/>
          </a:xfrm>
          <a:prstGeom prst="roundRect">
            <a:avLst>
              <a:gd name="adj" fmla="val 22222"/>
            </a:avLst>
          </a:prstGeom>
          <a:solidFill>
            <a:srgbClr val="D5EFE2"/>
          </a:solidFill>
          <a:ln w="7620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범례 글 상태 코드값"/>
          <p:cNvSpPr txBox="1"/>
          <p:nvPr/>
        </p:nvSpPr>
        <p:spPr>
          <a:xfrm>
            <a:off x="3745992" y="6309360"/>
            <a:ext cx="871347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상태 코드값</a:t>
            </a:r>
          </a:p>
        </p:txBody>
      </p:sp>
      <p:sp>
        <p:nvSpPr>
          <p:cNvPr id="40" name="설명"/>
          <p:cNvSpPr txBox="1"/>
          <p:nvPr/>
        </p:nvSpPr>
        <p:spPr>
          <a:xfrm>
            <a:off x="5081016" y="6347460"/>
            <a:ext cx="6729984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verify_result · verify_row_diff 는 job_table 도 참조(선 생략) · FK 는 모두 ON DELETE CASCADE</a:t>
            </a:r>
          </a:p>
        </p:txBody>
      </p:sp>
      <p:sp>
        <p:nvSpPr>
          <p:cNvPr id="41" name="설명"/>
          <p:cNvSpPr txBox="1"/>
          <p:nvPr/>
        </p:nvSpPr>
        <p:spPr>
          <a:xfrm>
            <a:off x="6259830" y="6537960"/>
            <a:ext cx="5551170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행 값은 change_log.payload 에만 두고 반영하면 바로 지운다 · 비밀번호 컬럼 없음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KDMS 관리 테이블 ERD</dc:title>
  <dc:subject/>
  <dc:creator>KDMS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
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막대"/>
          <p:cNvSpPr/>
          <p:nvPr/>
        </p:nvSpPr>
        <p:spPr>
          <a:xfrm>
            <a:off x="381000" y="274320"/>
            <a:ext cx="53340" cy="548640"/>
          </a:xfrm>
          <a:prstGeom prst="roundRect">
            <a:avLst>
              <a:gd name="adj" fmla="val 50000"/>
            </a:avLst>
          </a:pr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제목"/>
          <p:cNvSpPr txBox="1"/>
          <p:nvPr/>
        </p:nvSpPr>
        <p:spPr>
          <a:xfrm>
            <a:off x="533400" y="228600"/>
            <a:ext cx="8001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6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KDMS 관리 테이블 논리 ERD (1/3)</a:t>
            </a:r>
          </a:p>
        </p:txBody>
      </p:sp>
      <p:sp>
        <p:nvSpPr>
          <p:cNvPr id="4" name="부제"/>
          <p:cNvSpPr txBox="1"/>
          <p:nvPr/>
        </p:nvSpPr>
        <p:spPr>
          <a:xfrm>
            <a:off x="533400" y="64008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80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엔터티·관계·핵심 속성 · 머리 오른쪽은 물리 테이블 이름 · 컬럼·타입 전체는 2·3장 물리 ERD</a:t>
            </a:r>
          </a:p>
        </p:txBody>
      </p:sp>
      <p:sp>
        <p:nvSpPr>
          <p:cNvPr id="5" name="문서 정보"/>
          <p:cNvSpPr txBox="1"/>
          <p:nvPr/>
        </p:nvSpPr>
        <p:spPr>
          <a:xfrm>
            <a:off x="8382000" y="411480"/>
            <a:ext cx="3429000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KDMS-D05 · v0.3 · 2026-10-09 · 1/3</a:t>
            </a:r>
          </a:p>
        </p:txBody>
      </p:sp>
      <p:grpSp>
        <p:nvGrpSpPr>
          <p:cNvPr id="6" name="관계 job → wm"/>
          <p:cNvGrpSpPr/>
          <p:nvPr/>
        </p:nvGrpSpPr>
        <p:grpSpPr>
          <a:xfrm>
            <a:off x="4530090" y="1981200"/>
            <a:ext cx="121920" cy="822960"/>
            <a:chOff x="4530090" y="1981200"/>
            <a:chExt cx="121920" cy="822960"/>
          </a:xfrm>
        </p:grpSpPr>
        <p:sp>
          <p:nvSpPr>
            <p:cNvPr id="7" name="관계선"/>
            <p:cNvSpPr/>
            <p:nvPr/>
          </p:nvSpPr>
          <p:spPr>
            <a:xfrm>
              <a:off x="4591050" y="1981200"/>
              <a:ext cx="0" cy="822960"/>
            </a:xfrm>
            <a:custGeom>
              <a:avLst/>
              <a:gdLst/>
              <a:ahLst/>
              <a:cxnLst/>
              <a:rect l="l" t="t" r="r" b="b"/>
              <a:pathLst>
                <a:path w="0" h="822960">
                  <a:moveTo>
                    <a:pt x="0" y="82296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관계 기호"/>
            <p:cNvCxnSpPr/>
            <p:nvPr/>
          </p:nvCxnSpPr>
          <p:spPr>
            <a:xfrm>
              <a:off x="4530090" y="272796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9" name="관계 기호"/>
            <p:cNvCxnSpPr/>
            <p:nvPr/>
          </p:nvCxnSpPr>
          <p:spPr>
            <a:xfrm>
              <a:off x="4530090" y="267462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10" name="관계 기호"/>
            <p:cNvCxnSpPr/>
            <p:nvPr/>
          </p:nvCxnSpPr>
          <p:spPr>
            <a:xfrm flipH="1">
              <a:off x="4530090" y="205740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11" name="관계 기호 0"/>
            <p:cNvSpPr/>
            <p:nvPr/>
          </p:nvSpPr>
          <p:spPr>
            <a:xfrm>
              <a:off x="4545330" y="211836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" name="관계 job → cl"/>
          <p:cNvGrpSpPr/>
          <p:nvPr/>
        </p:nvGrpSpPr>
        <p:grpSpPr>
          <a:xfrm>
            <a:off x="2781300" y="3314700"/>
            <a:ext cx="609600" cy="137160"/>
            <a:chOff x="2781300" y="3314700"/>
            <a:chExt cx="609600" cy="137160"/>
          </a:xfrm>
        </p:grpSpPr>
        <p:sp>
          <p:nvSpPr>
            <p:cNvPr id="13" name="관계선"/>
            <p:cNvSpPr/>
            <p:nvPr/>
          </p:nvSpPr>
          <p:spPr>
            <a:xfrm>
              <a:off x="2781300" y="3383280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 h="0">
                  <a:moveTo>
                    <a:pt x="60960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E6B4F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관계 기호"/>
            <p:cNvCxnSpPr/>
            <p:nvPr/>
          </p:nvCxnSpPr>
          <p:spPr>
            <a:xfrm flipV="1">
              <a:off x="3314700" y="332232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15" name="관계 기호"/>
            <p:cNvCxnSpPr/>
            <p:nvPr/>
          </p:nvCxnSpPr>
          <p:spPr>
            <a:xfrm flipV="1">
              <a:off x="3261360" y="332232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16" name="관계 기호"/>
            <p:cNvCxnSpPr/>
            <p:nvPr/>
          </p:nvCxnSpPr>
          <p:spPr>
            <a:xfrm flipH="1" flipV="1">
              <a:off x="2781300" y="331470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17" name="관계 기호"/>
            <p:cNvCxnSpPr/>
            <p:nvPr/>
          </p:nvCxnSpPr>
          <p:spPr>
            <a:xfrm flipH="1">
              <a:off x="2781300" y="338328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18" name="관계 기호"/>
            <p:cNvCxnSpPr/>
            <p:nvPr/>
          </p:nvCxnSpPr>
          <p:spPr>
            <a:xfrm flipH="1">
              <a:off x="2781300" y="338328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19" name="관계 기호 0"/>
            <p:cNvSpPr/>
            <p:nvPr/>
          </p:nvSpPr>
          <p:spPr>
            <a:xfrm>
              <a:off x="2948940" y="333756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관계 job → ev"/>
          <p:cNvGrpSpPr/>
          <p:nvPr/>
        </p:nvGrpSpPr>
        <p:grpSpPr>
          <a:xfrm>
            <a:off x="2781300" y="1363980"/>
            <a:ext cx="609600" cy="1805940"/>
            <a:chOff x="2781300" y="1363980"/>
            <a:chExt cx="609600" cy="1805940"/>
          </a:xfrm>
        </p:grpSpPr>
        <p:sp>
          <p:nvSpPr>
            <p:cNvPr id="21" name="관계선"/>
            <p:cNvSpPr/>
            <p:nvPr/>
          </p:nvSpPr>
          <p:spPr>
            <a:xfrm>
              <a:off x="2781300" y="1432560"/>
              <a:ext cx="609600" cy="1676400"/>
            </a:xfrm>
            <a:custGeom>
              <a:avLst/>
              <a:gdLst/>
              <a:ahLst/>
              <a:cxnLst/>
              <a:rect l="l" t="t" r="r" b="b"/>
              <a:pathLst>
                <a:path w="609600" h="1676400">
                  <a:moveTo>
                    <a:pt x="609600" y="1676400"/>
                  </a:moveTo>
                  <a:lnTo>
                    <a:pt x="304800" y="1676400"/>
                  </a:lnTo>
                  <a:lnTo>
                    <a:pt x="304800" y="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E6B4F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2" name="관계 기호"/>
            <p:cNvCxnSpPr/>
            <p:nvPr/>
          </p:nvCxnSpPr>
          <p:spPr>
            <a:xfrm flipV="1">
              <a:off x="3314700" y="304800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23" name="관계 기호 0"/>
            <p:cNvSpPr/>
            <p:nvPr/>
          </p:nvSpPr>
          <p:spPr>
            <a:xfrm>
              <a:off x="3162300" y="306324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관계 기호"/>
            <p:cNvCxnSpPr/>
            <p:nvPr/>
          </p:nvCxnSpPr>
          <p:spPr>
            <a:xfrm flipH="1" flipV="1">
              <a:off x="2781300" y="136398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25" name="관계 기호"/>
            <p:cNvCxnSpPr/>
            <p:nvPr/>
          </p:nvCxnSpPr>
          <p:spPr>
            <a:xfrm flipH="1">
              <a:off x="2781300" y="143256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26" name="관계 기호"/>
            <p:cNvCxnSpPr/>
            <p:nvPr/>
          </p:nvCxnSpPr>
          <p:spPr>
            <a:xfrm flipH="1">
              <a:off x="2781300" y="143256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27" name="관계 기호 0"/>
            <p:cNvSpPr/>
            <p:nvPr/>
          </p:nvSpPr>
          <p:spPr>
            <a:xfrm>
              <a:off x="2948940" y="138684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" name="관계 job → cr"/>
          <p:cNvGrpSpPr/>
          <p:nvPr/>
        </p:nvGrpSpPr>
        <p:grpSpPr>
          <a:xfrm>
            <a:off x="2781300" y="3672840"/>
            <a:ext cx="609600" cy="1409700"/>
            <a:chOff x="2781300" y="3672840"/>
            <a:chExt cx="609600" cy="1409700"/>
          </a:xfrm>
        </p:grpSpPr>
        <p:sp>
          <p:nvSpPr>
            <p:cNvPr id="29" name="관계선"/>
            <p:cNvSpPr/>
            <p:nvPr/>
          </p:nvSpPr>
          <p:spPr>
            <a:xfrm>
              <a:off x="2781300" y="3733800"/>
              <a:ext cx="609600" cy="1280160"/>
            </a:xfrm>
            <a:custGeom>
              <a:avLst/>
              <a:gdLst/>
              <a:ahLst/>
              <a:cxnLst/>
              <a:rect l="l" t="t" r="r" b="b"/>
              <a:pathLst>
                <a:path w="609600" h="1280160">
                  <a:moveTo>
                    <a:pt x="609600" y="0"/>
                  </a:moveTo>
                  <a:lnTo>
                    <a:pt x="304800" y="0"/>
                  </a:lnTo>
                  <a:lnTo>
                    <a:pt x="304800" y="1280160"/>
                  </a:lnTo>
                  <a:lnTo>
                    <a:pt x="0" y="1280160"/>
                  </a:lnTo>
                </a:path>
              </a:pathLst>
            </a:custGeom>
            <a:noFill/>
            <a:ln w="15240">
              <a:solidFill>
                <a:srgbClr val="1E6B4F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0" name="관계 기호"/>
            <p:cNvCxnSpPr/>
            <p:nvPr/>
          </p:nvCxnSpPr>
          <p:spPr>
            <a:xfrm flipV="1">
              <a:off x="3314700" y="367284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31" name="관계 기호"/>
            <p:cNvCxnSpPr/>
            <p:nvPr/>
          </p:nvCxnSpPr>
          <p:spPr>
            <a:xfrm flipV="1">
              <a:off x="3261360" y="367284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32" name="관계 기호"/>
            <p:cNvCxnSpPr/>
            <p:nvPr/>
          </p:nvCxnSpPr>
          <p:spPr>
            <a:xfrm flipH="1" flipV="1">
              <a:off x="2781300" y="494538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33" name="관계 기호"/>
            <p:cNvCxnSpPr/>
            <p:nvPr/>
          </p:nvCxnSpPr>
          <p:spPr>
            <a:xfrm flipH="1">
              <a:off x="2781300" y="501396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34" name="관계 기호"/>
            <p:cNvCxnSpPr/>
            <p:nvPr/>
          </p:nvCxnSpPr>
          <p:spPr>
            <a:xfrm flipH="1">
              <a:off x="2781300" y="501396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35" name="관계 기호 0"/>
            <p:cNvSpPr/>
            <p:nvPr/>
          </p:nvSpPr>
          <p:spPr>
            <a:xfrm>
              <a:off x="2948940" y="496824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" name="관계 cr → cs"/>
          <p:cNvGrpSpPr/>
          <p:nvPr/>
        </p:nvGrpSpPr>
        <p:grpSpPr>
          <a:xfrm>
            <a:off x="2781300" y="5402580"/>
            <a:ext cx="609600" cy="137160"/>
            <a:chOff x="2781300" y="5402580"/>
            <a:chExt cx="609600" cy="137160"/>
          </a:xfrm>
        </p:grpSpPr>
        <p:sp>
          <p:nvSpPr>
            <p:cNvPr id="37" name="관계선"/>
            <p:cNvSpPr/>
            <p:nvPr/>
          </p:nvSpPr>
          <p:spPr>
            <a:xfrm>
              <a:off x="2781300" y="5471160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 h="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8" name="관계 기호"/>
            <p:cNvCxnSpPr/>
            <p:nvPr/>
          </p:nvCxnSpPr>
          <p:spPr>
            <a:xfrm>
              <a:off x="2857500" y="541020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39" name="관계 기호"/>
            <p:cNvCxnSpPr/>
            <p:nvPr/>
          </p:nvCxnSpPr>
          <p:spPr>
            <a:xfrm>
              <a:off x="2910840" y="541020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40" name="관계 기호"/>
            <p:cNvCxnSpPr/>
            <p:nvPr/>
          </p:nvCxnSpPr>
          <p:spPr>
            <a:xfrm>
              <a:off x="3268980" y="547116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41" name="관계 기호"/>
            <p:cNvCxnSpPr/>
            <p:nvPr/>
          </p:nvCxnSpPr>
          <p:spPr>
            <a:xfrm>
              <a:off x="3268980" y="547116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42" name="관계 기호"/>
            <p:cNvCxnSpPr/>
            <p:nvPr/>
          </p:nvCxnSpPr>
          <p:spPr>
            <a:xfrm flipV="1">
              <a:off x="3268980" y="540258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43" name="관계 기호 0"/>
            <p:cNvSpPr/>
            <p:nvPr/>
          </p:nvSpPr>
          <p:spPr>
            <a:xfrm>
              <a:off x="3131820" y="542544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관계 job → vr"/>
          <p:cNvGrpSpPr/>
          <p:nvPr/>
        </p:nvGrpSpPr>
        <p:grpSpPr>
          <a:xfrm>
            <a:off x="5791200" y="1363980"/>
            <a:ext cx="609600" cy="1805940"/>
            <a:chOff x="5791200" y="1363980"/>
            <a:chExt cx="609600" cy="1805940"/>
          </a:xfrm>
        </p:grpSpPr>
        <p:sp>
          <p:nvSpPr>
            <p:cNvPr id="45" name="관계선"/>
            <p:cNvSpPr/>
            <p:nvPr/>
          </p:nvSpPr>
          <p:spPr>
            <a:xfrm>
              <a:off x="5791200" y="1432560"/>
              <a:ext cx="609600" cy="1676400"/>
            </a:xfrm>
            <a:custGeom>
              <a:avLst/>
              <a:gdLst/>
              <a:ahLst/>
              <a:cxnLst/>
              <a:rect l="l" t="t" r="r" b="b"/>
              <a:pathLst>
                <a:path w="609600" h="1676400">
                  <a:moveTo>
                    <a:pt x="0" y="1676400"/>
                  </a:moveTo>
                  <a:lnTo>
                    <a:pt x="304800" y="1676400"/>
                  </a:lnTo>
                  <a:lnTo>
                    <a:pt x="304800" y="0"/>
                  </a:lnTo>
                  <a:lnTo>
                    <a:pt x="609600" y="0"/>
                  </a:lnTo>
                </a:path>
              </a:pathLst>
            </a:custGeom>
            <a:noFill/>
            <a:ln w="15240">
              <a:solidFill>
                <a:srgbClr val="1E6B4F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6" name="관계 기호"/>
            <p:cNvCxnSpPr/>
            <p:nvPr/>
          </p:nvCxnSpPr>
          <p:spPr>
            <a:xfrm>
              <a:off x="5867400" y="304800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47" name="관계 기호"/>
            <p:cNvCxnSpPr/>
            <p:nvPr/>
          </p:nvCxnSpPr>
          <p:spPr>
            <a:xfrm>
              <a:off x="5920740" y="304800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48" name="관계 기호"/>
            <p:cNvCxnSpPr/>
            <p:nvPr/>
          </p:nvCxnSpPr>
          <p:spPr>
            <a:xfrm>
              <a:off x="6278880" y="143256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49" name="관계 기호"/>
            <p:cNvCxnSpPr/>
            <p:nvPr/>
          </p:nvCxnSpPr>
          <p:spPr>
            <a:xfrm>
              <a:off x="6278880" y="143256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50" name="관계 기호"/>
            <p:cNvCxnSpPr/>
            <p:nvPr/>
          </p:nvCxnSpPr>
          <p:spPr>
            <a:xfrm flipV="1">
              <a:off x="6278880" y="136398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51" name="관계 기호 0"/>
            <p:cNvSpPr/>
            <p:nvPr/>
          </p:nvSpPr>
          <p:spPr>
            <a:xfrm>
              <a:off x="6141720" y="138684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" name="관계 job → jt"/>
          <p:cNvGrpSpPr/>
          <p:nvPr/>
        </p:nvGrpSpPr>
        <p:grpSpPr>
          <a:xfrm>
            <a:off x="5791200" y="3672840"/>
            <a:ext cx="609600" cy="1409700"/>
            <a:chOff x="5791200" y="3672840"/>
            <a:chExt cx="609600" cy="1409700"/>
          </a:xfrm>
        </p:grpSpPr>
        <p:sp>
          <p:nvSpPr>
            <p:cNvPr id="53" name="관계선"/>
            <p:cNvSpPr/>
            <p:nvPr/>
          </p:nvSpPr>
          <p:spPr>
            <a:xfrm>
              <a:off x="5791200" y="3733800"/>
              <a:ext cx="609600" cy="1280160"/>
            </a:xfrm>
            <a:custGeom>
              <a:avLst/>
              <a:gdLst/>
              <a:ahLst/>
              <a:cxnLst/>
              <a:rect l="l" t="t" r="r" b="b"/>
              <a:pathLst>
                <a:path w="609600" h="1280160">
                  <a:moveTo>
                    <a:pt x="0" y="0"/>
                  </a:moveTo>
                  <a:lnTo>
                    <a:pt x="304800" y="0"/>
                  </a:lnTo>
                  <a:lnTo>
                    <a:pt x="304800" y="1280160"/>
                  </a:lnTo>
                  <a:lnTo>
                    <a:pt x="609600" y="1280160"/>
                  </a:lnTo>
                </a:path>
              </a:pathLst>
            </a:custGeom>
            <a:noFill/>
            <a:ln w="15240">
              <a:solidFill>
                <a:srgbClr val="1E6B4F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4" name="관계 기호"/>
            <p:cNvCxnSpPr/>
            <p:nvPr/>
          </p:nvCxnSpPr>
          <p:spPr>
            <a:xfrm>
              <a:off x="5867400" y="367284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55" name="관계 기호"/>
            <p:cNvCxnSpPr/>
            <p:nvPr/>
          </p:nvCxnSpPr>
          <p:spPr>
            <a:xfrm>
              <a:off x="5920740" y="367284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56" name="관계 기호"/>
            <p:cNvCxnSpPr/>
            <p:nvPr/>
          </p:nvCxnSpPr>
          <p:spPr>
            <a:xfrm>
              <a:off x="6278880" y="501396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57" name="관계 기호"/>
            <p:cNvCxnSpPr/>
            <p:nvPr/>
          </p:nvCxnSpPr>
          <p:spPr>
            <a:xfrm>
              <a:off x="6278880" y="501396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58" name="관계 기호"/>
            <p:cNvCxnSpPr/>
            <p:nvPr/>
          </p:nvCxnSpPr>
          <p:spPr>
            <a:xfrm flipV="1">
              <a:off x="6278880" y="494538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59" name="관계 기호 0"/>
            <p:cNvSpPr/>
            <p:nvPr/>
          </p:nvSpPr>
          <p:spPr>
            <a:xfrm>
              <a:off x="6141720" y="496824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" name="관계 vr → vres"/>
          <p:cNvGrpSpPr/>
          <p:nvPr/>
        </p:nvGrpSpPr>
        <p:grpSpPr>
          <a:xfrm>
            <a:off x="7532370" y="1981200"/>
            <a:ext cx="137160" cy="822960"/>
            <a:chOff x="7532370" y="1981200"/>
            <a:chExt cx="137160" cy="822960"/>
          </a:xfrm>
        </p:grpSpPr>
        <p:sp>
          <p:nvSpPr>
            <p:cNvPr id="61" name="관계선"/>
            <p:cNvSpPr/>
            <p:nvPr/>
          </p:nvSpPr>
          <p:spPr>
            <a:xfrm>
              <a:off x="7600950" y="1981200"/>
              <a:ext cx="0" cy="822960"/>
            </a:xfrm>
            <a:custGeom>
              <a:avLst/>
              <a:gdLst/>
              <a:ahLst/>
              <a:cxnLst/>
              <a:rect l="l" t="t" r="r" b="b"/>
              <a:pathLst>
                <a:path w="0" h="822960">
                  <a:moveTo>
                    <a:pt x="0" y="0"/>
                  </a:moveTo>
                  <a:lnTo>
                    <a:pt x="0" y="822960"/>
                  </a:lnTo>
                </a:path>
              </a:pathLst>
            </a:custGeom>
            <a:noFill/>
            <a:ln w="15240">
              <a:solidFill>
                <a:srgbClr val="1E6B4F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2" name="관계 기호"/>
            <p:cNvCxnSpPr/>
            <p:nvPr/>
          </p:nvCxnSpPr>
          <p:spPr>
            <a:xfrm flipH="1">
              <a:off x="7539990" y="205740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63" name="관계 기호"/>
            <p:cNvCxnSpPr/>
            <p:nvPr/>
          </p:nvCxnSpPr>
          <p:spPr>
            <a:xfrm flipH="1">
              <a:off x="7539990" y="211074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64" name="관계 기호"/>
            <p:cNvCxnSpPr/>
            <p:nvPr/>
          </p:nvCxnSpPr>
          <p:spPr>
            <a:xfrm flipH="1">
              <a:off x="7532370" y="2682240"/>
              <a:ext cx="6858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65" name="관계 기호"/>
            <p:cNvCxnSpPr/>
            <p:nvPr/>
          </p:nvCxnSpPr>
          <p:spPr>
            <a:xfrm>
              <a:off x="7600950" y="268224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66" name="관계 기호"/>
            <p:cNvCxnSpPr/>
            <p:nvPr/>
          </p:nvCxnSpPr>
          <p:spPr>
            <a:xfrm>
              <a:off x="7600950" y="2682240"/>
              <a:ext cx="6858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67" name="관계 기호 0"/>
            <p:cNvSpPr/>
            <p:nvPr/>
          </p:nvSpPr>
          <p:spPr>
            <a:xfrm>
              <a:off x="7555230" y="254508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" name="관계 jt → vres"/>
          <p:cNvGrpSpPr/>
          <p:nvPr/>
        </p:nvGrpSpPr>
        <p:grpSpPr>
          <a:xfrm>
            <a:off x="7532370" y="4114800"/>
            <a:ext cx="137160" cy="518160"/>
            <a:chOff x="7532370" y="4114800"/>
            <a:chExt cx="137160" cy="518160"/>
          </a:xfrm>
        </p:grpSpPr>
        <p:sp>
          <p:nvSpPr>
            <p:cNvPr id="69" name="관계선"/>
            <p:cNvSpPr/>
            <p:nvPr/>
          </p:nvSpPr>
          <p:spPr>
            <a:xfrm>
              <a:off x="7600950" y="4114800"/>
              <a:ext cx="0" cy="518160"/>
            </a:xfrm>
            <a:custGeom>
              <a:avLst/>
              <a:gdLst/>
              <a:ahLst/>
              <a:cxnLst/>
              <a:rect l="l" t="t" r="r" b="b"/>
              <a:pathLst>
                <a:path w="0" h="518160">
                  <a:moveTo>
                    <a:pt x="0" y="51816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E6B4F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0" name="관계 기호"/>
            <p:cNvCxnSpPr/>
            <p:nvPr/>
          </p:nvCxnSpPr>
          <p:spPr>
            <a:xfrm>
              <a:off x="7539990" y="455676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71" name="관계 기호"/>
            <p:cNvCxnSpPr/>
            <p:nvPr/>
          </p:nvCxnSpPr>
          <p:spPr>
            <a:xfrm>
              <a:off x="7539990" y="450342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72" name="관계 기호"/>
            <p:cNvCxnSpPr/>
            <p:nvPr/>
          </p:nvCxnSpPr>
          <p:spPr>
            <a:xfrm flipV="1">
              <a:off x="7600950" y="4114800"/>
              <a:ext cx="6858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73" name="관계 기호"/>
            <p:cNvCxnSpPr/>
            <p:nvPr/>
          </p:nvCxnSpPr>
          <p:spPr>
            <a:xfrm flipV="1">
              <a:off x="7600950" y="411480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74" name="관계 기호"/>
            <p:cNvCxnSpPr/>
            <p:nvPr/>
          </p:nvCxnSpPr>
          <p:spPr>
            <a:xfrm flipH="1" flipV="1">
              <a:off x="7532370" y="4114800"/>
              <a:ext cx="6858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75" name="관계 기호 0"/>
            <p:cNvSpPr/>
            <p:nvPr/>
          </p:nvSpPr>
          <p:spPr>
            <a:xfrm>
              <a:off x="7555230" y="428244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" name="관계 vr → rd"/>
          <p:cNvGrpSpPr/>
          <p:nvPr/>
        </p:nvGrpSpPr>
        <p:grpSpPr>
          <a:xfrm>
            <a:off x="8801100" y="1691640"/>
            <a:ext cx="1878330" cy="1112520"/>
            <a:chOff x="8801100" y="1691640"/>
            <a:chExt cx="1878330" cy="1112520"/>
          </a:xfrm>
        </p:grpSpPr>
        <p:sp>
          <p:nvSpPr>
            <p:cNvPr id="77" name="관계선"/>
            <p:cNvSpPr/>
            <p:nvPr/>
          </p:nvSpPr>
          <p:spPr>
            <a:xfrm>
              <a:off x="8801100" y="1752600"/>
              <a:ext cx="1809750" cy="1051560"/>
            </a:xfrm>
            <a:custGeom>
              <a:avLst/>
              <a:gdLst/>
              <a:ahLst/>
              <a:cxnLst/>
              <a:rect l="l" t="t" r="r" b="b"/>
              <a:pathLst>
                <a:path w="1809750" h="1051560">
                  <a:moveTo>
                    <a:pt x="0" y="0"/>
                  </a:moveTo>
                  <a:lnTo>
                    <a:pt x="304800" y="0"/>
                  </a:lnTo>
                  <a:lnTo>
                    <a:pt x="304800" y="685800"/>
                  </a:lnTo>
                  <a:lnTo>
                    <a:pt x="1809750" y="685800"/>
                  </a:lnTo>
                  <a:lnTo>
                    <a:pt x="1809750" y="1051560"/>
                  </a:lnTo>
                </a:path>
              </a:pathLst>
            </a:custGeom>
            <a:noFill/>
            <a:ln w="15240">
              <a:solidFill>
                <a:srgbClr val="1E6B4F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8" name="관계 기호"/>
            <p:cNvCxnSpPr/>
            <p:nvPr/>
          </p:nvCxnSpPr>
          <p:spPr>
            <a:xfrm>
              <a:off x="8877300" y="169164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79" name="관계 기호"/>
            <p:cNvCxnSpPr/>
            <p:nvPr/>
          </p:nvCxnSpPr>
          <p:spPr>
            <a:xfrm>
              <a:off x="8930640" y="169164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80" name="관계 기호"/>
            <p:cNvCxnSpPr/>
            <p:nvPr/>
          </p:nvCxnSpPr>
          <p:spPr>
            <a:xfrm flipH="1">
              <a:off x="10542270" y="2682240"/>
              <a:ext cx="6858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81" name="관계 기호"/>
            <p:cNvCxnSpPr/>
            <p:nvPr/>
          </p:nvCxnSpPr>
          <p:spPr>
            <a:xfrm>
              <a:off x="10610850" y="268224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82" name="관계 기호"/>
            <p:cNvCxnSpPr/>
            <p:nvPr/>
          </p:nvCxnSpPr>
          <p:spPr>
            <a:xfrm>
              <a:off x="10610850" y="2682240"/>
              <a:ext cx="6858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83" name="관계 기호 0"/>
            <p:cNvSpPr/>
            <p:nvPr/>
          </p:nvSpPr>
          <p:spPr>
            <a:xfrm>
              <a:off x="10565130" y="254508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" name="관계 jt → rd"/>
          <p:cNvGrpSpPr/>
          <p:nvPr/>
        </p:nvGrpSpPr>
        <p:grpSpPr>
          <a:xfrm>
            <a:off x="8435340" y="3962400"/>
            <a:ext cx="2244090" cy="670560"/>
            <a:chOff x="8435340" y="3962400"/>
            <a:chExt cx="2244090" cy="670560"/>
          </a:xfrm>
        </p:grpSpPr>
        <p:sp>
          <p:nvSpPr>
            <p:cNvPr id="85" name="관계선"/>
            <p:cNvSpPr/>
            <p:nvPr/>
          </p:nvSpPr>
          <p:spPr>
            <a:xfrm>
              <a:off x="8496300" y="3962400"/>
              <a:ext cx="2114550" cy="670560"/>
            </a:xfrm>
            <a:custGeom>
              <a:avLst/>
              <a:gdLst/>
              <a:ahLst/>
              <a:cxnLst/>
              <a:rect l="l" t="t" r="r" b="b"/>
              <a:pathLst>
                <a:path w="2114550" h="670560">
                  <a:moveTo>
                    <a:pt x="0" y="670560"/>
                  </a:moveTo>
                  <a:lnTo>
                    <a:pt x="0" y="411480"/>
                  </a:lnTo>
                  <a:lnTo>
                    <a:pt x="2114550" y="411480"/>
                  </a:lnTo>
                  <a:lnTo>
                    <a:pt x="2114550" y="0"/>
                  </a:lnTo>
                </a:path>
              </a:pathLst>
            </a:custGeom>
            <a:noFill/>
            <a:ln w="15240">
              <a:solidFill>
                <a:srgbClr val="1E6B4F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86" name="관계 기호"/>
            <p:cNvCxnSpPr/>
            <p:nvPr/>
          </p:nvCxnSpPr>
          <p:spPr>
            <a:xfrm>
              <a:off x="8435340" y="455676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87" name="관계 기호"/>
            <p:cNvCxnSpPr/>
            <p:nvPr/>
          </p:nvCxnSpPr>
          <p:spPr>
            <a:xfrm>
              <a:off x="8435340" y="450342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88" name="관계 기호"/>
            <p:cNvCxnSpPr/>
            <p:nvPr/>
          </p:nvCxnSpPr>
          <p:spPr>
            <a:xfrm flipV="1">
              <a:off x="10610850" y="3962400"/>
              <a:ext cx="6858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89" name="관계 기호"/>
            <p:cNvCxnSpPr/>
            <p:nvPr/>
          </p:nvCxnSpPr>
          <p:spPr>
            <a:xfrm flipV="1">
              <a:off x="10610850" y="396240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90" name="관계 기호"/>
            <p:cNvCxnSpPr/>
            <p:nvPr/>
          </p:nvCxnSpPr>
          <p:spPr>
            <a:xfrm flipH="1" flipV="1">
              <a:off x="10542270" y="3962400"/>
              <a:ext cx="6858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91" name="관계 기호 0"/>
            <p:cNvSpPr/>
            <p:nvPr/>
          </p:nvSpPr>
          <p:spPr>
            <a:xfrm>
              <a:off x="10565130" y="413004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" name="관계 jt → lc"/>
          <p:cNvGrpSpPr/>
          <p:nvPr/>
        </p:nvGrpSpPr>
        <p:grpSpPr>
          <a:xfrm>
            <a:off x="8801100" y="5402580"/>
            <a:ext cx="609600" cy="137160"/>
            <a:chOff x="8801100" y="5402580"/>
            <a:chExt cx="609600" cy="137160"/>
          </a:xfrm>
        </p:grpSpPr>
        <p:sp>
          <p:nvSpPr>
            <p:cNvPr id="93" name="관계선"/>
            <p:cNvSpPr/>
            <p:nvPr/>
          </p:nvSpPr>
          <p:spPr>
            <a:xfrm>
              <a:off x="8801100" y="5471160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 h="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15240">
              <a:solidFill>
                <a:srgbClr val="1E6B4F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94" name="관계 기호"/>
            <p:cNvCxnSpPr/>
            <p:nvPr/>
          </p:nvCxnSpPr>
          <p:spPr>
            <a:xfrm>
              <a:off x="8877300" y="541020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95" name="관계 기호"/>
            <p:cNvCxnSpPr/>
            <p:nvPr/>
          </p:nvCxnSpPr>
          <p:spPr>
            <a:xfrm>
              <a:off x="8930640" y="541020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96" name="관계 기호"/>
            <p:cNvCxnSpPr/>
            <p:nvPr/>
          </p:nvCxnSpPr>
          <p:spPr>
            <a:xfrm>
              <a:off x="9288780" y="547116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97" name="관계 기호"/>
            <p:cNvCxnSpPr/>
            <p:nvPr/>
          </p:nvCxnSpPr>
          <p:spPr>
            <a:xfrm>
              <a:off x="9288780" y="547116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98" name="관계 기호"/>
            <p:cNvCxnSpPr/>
            <p:nvPr/>
          </p:nvCxnSpPr>
          <p:spPr>
            <a:xfrm flipV="1">
              <a:off x="9288780" y="540258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99" name="관계 기호 0"/>
            <p:cNvSpPr/>
            <p:nvPr/>
          </p:nvSpPr>
          <p:spPr>
            <a:xfrm>
              <a:off x="9151620" y="542544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" name="엔터티 단계 기록"/>
          <p:cNvGrpSpPr/>
          <p:nvPr/>
        </p:nvGrpSpPr>
        <p:grpSpPr>
          <a:xfrm>
            <a:off x="381000" y="975360"/>
            <a:ext cx="2400300" cy="1158240"/>
            <a:chOff x="381000" y="975360"/>
            <a:chExt cx="2400300" cy="1158240"/>
          </a:xfrm>
        </p:grpSpPr>
        <p:sp>
          <p:nvSpPr>
            <p:cNvPr id="101" name="테두리"/>
            <p:cNvSpPr/>
            <p:nvPr/>
          </p:nvSpPr>
          <p:spPr>
            <a:xfrm>
              <a:off x="381000" y="975360"/>
              <a:ext cx="2400300" cy="1158240"/>
            </a:xfrm>
            <a:prstGeom prst="roundRect">
              <a:avLst>
                <a:gd name="adj" fmla="val 6578"/>
              </a:avLst>
            </a:prstGeom>
            <a:solidFill>
              <a:srgbClr val="FFFFFF"/>
            </a:solidFill>
            <a:ln w="13716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머리"/>
            <p:cNvSpPr/>
            <p:nvPr/>
          </p:nvSpPr>
          <p:spPr>
            <a:xfrm>
              <a:off x="388620" y="982980"/>
              <a:ext cx="238506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D5EF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3" name="머리 선"/>
            <p:cNvCxnSpPr/>
            <p:nvPr/>
          </p:nvCxnSpPr>
          <p:spPr>
            <a:xfrm>
              <a:off x="381000" y="1219200"/>
              <a:ext cx="2400300" cy="0"/>
            </a:xfrm>
            <a:prstGeom prst="line">
              <a:avLst/>
            </a:prstGeom>
            <a:ln w="10668">
              <a:solidFill>
                <a:srgbClr val="1E6B4F"/>
              </a:solidFill>
            </a:ln>
          </p:spPr>
        </p:cxnSp>
        <p:sp>
          <p:nvSpPr>
            <p:cNvPr id="104" name="테이블 이름"/>
            <p:cNvSpPr txBox="1"/>
            <p:nvPr/>
          </p:nvSpPr>
          <p:spPr>
            <a:xfrm>
              <a:off x="487680" y="975360"/>
              <a:ext cx="120015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단계 기록</a:t>
              </a:r>
            </a:p>
          </p:txBody>
        </p:sp>
        <p:sp>
          <p:nvSpPr>
            <p:cNvPr id="105" name="한글 이름"/>
            <p:cNvSpPr txBox="1"/>
            <p:nvPr/>
          </p:nvSpPr>
          <p:spPr>
            <a:xfrm>
              <a:off x="1581150" y="975360"/>
              <a:ext cx="109347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event_log</a:t>
              </a:r>
            </a:p>
          </p:txBody>
        </p:sp>
        <p:cxnSp>
          <p:nvCxnSpPr>
            <p:cNvPr id="106" name="PK 구분선"/>
            <p:cNvCxnSpPr/>
            <p:nvPr/>
          </p:nvCxnSpPr>
          <p:spPr>
            <a:xfrm>
              <a:off x="457200" y="1447800"/>
              <a:ext cx="224790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107" name="PK 키"/>
            <p:cNvSpPr txBox="1"/>
            <p:nvPr/>
          </p:nvSpPr>
          <p:spPr>
            <a:xfrm>
              <a:off x="472440" y="1264920"/>
              <a:ext cx="25908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108" name="PK 이름"/>
            <p:cNvSpPr txBox="1"/>
            <p:nvPr/>
          </p:nvSpPr>
          <p:spPr>
            <a:xfrm>
              <a:off x="731520" y="1264920"/>
              <a:ext cx="8763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기록 ID</a:t>
              </a:r>
            </a:p>
          </p:txBody>
        </p:sp>
        <p:sp>
          <p:nvSpPr>
            <p:cNvPr id="109" name="PK 타입"/>
            <p:cNvSpPr txBox="1"/>
            <p:nvPr/>
          </p:nvSpPr>
          <p:spPr>
            <a:xfrm>
              <a:off x="1287780" y="126492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10" name="PK NN"/>
            <p:cNvSpPr txBox="1"/>
            <p:nvPr/>
          </p:nvSpPr>
          <p:spPr>
            <a:xfrm>
              <a:off x="2461260" y="126492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11" name="컬럼 키"/>
            <p:cNvSpPr txBox="1"/>
            <p:nvPr/>
          </p:nvSpPr>
          <p:spPr>
            <a:xfrm>
              <a:off x="472440" y="1478280"/>
              <a:ext cx="259080" cy="609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FK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12" name="컬럼 이름"/>
            <p:cNvSpPr txBox="1"/>
            <p:nvPr/>
          </p:nvSpPr>
          <p:spPr>
            <a:xfrm>
              <a:off x="731520" y="1478280"/>
              <a:ext cx="876300" cy="609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작업 ID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기록 시각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수준 · 단계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메시지</a:t>
              </a:r>
            </a:p>
          </p:txBody>
        </p:sp>
        <p:sp>
          <p:nvSpPr>
            <p:cNvPr id="113" name="컬럼 타입"/>
            <p:cNvSpPr txBox="1"/>
            <p:nvPr/>
          </p:nvSpPr>
          <p:spPr>
            <a:xfrm>
              <a:off x="1287780" y="1478280"/>
              <a:ext cx="1143000" cy="609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14" name="컬럼 NN"/>
            <p:cNvSpPr txBox="1"/>
            <p:nvPr/>
          </p:nvSpPr>
          <p:spPr>
            <a:xfrm>
              <a:off x="2461260" y="1478280"/>
              <a:ext cx="228600" cy="609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</p:grpSp>
      <p:grpSp>
        <p:nvGrpSpPr>
          <p:cNvPr id="115" name="엔터티 워터마크"/>
          <p:cNvGrpSpPr/>
          <p:nvPr/>
        </p:nvGrpSpPr>
        <p:grpSpPr>
          <a:xfrm>
            <a:off x="3390900" y="975360"/>
            <a:ext cx="2400300" cy="1005840"/>
            <a:chOff x="3390900" y="975360"/>
            <a:chExt cx="2400300" cy="1005840"/>
          </a:xfrm>
        </p:grpSpPr>
        <p:sp>
          <p:nvSpPr>
            <p:cNvPr id="116" name="테두리"/>
            <p:cNvSpPr/>
            <p:nvPr/>
          </p:nvSpPr>
          <p:spPr>
            <a:xfrm>
              <a:off x="3390900" y="975360"/>
              <a:ext cx="2400300" cy="1005840"/>
            </a:xfrm>
            <a:prstGeom prst="roundRect">
              <a:avLst>
                <a:gd name="adj" fmla="val 7575"/>
              </a:avLst>
            </a:prstGeom>
            <a:solidFill>
              <a:srgbClr val="FFFFFF"/>
            </a:solidFill>
            <a:ln w="13716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머리"/>
            <p:cNvSpPr/>
            <p:nvPr/>
          </p:nvSpPr>
          <p:spPr>
            <a:xfrm>
              <a:off x="3398520" y="982980"/>
              <a:ext cx="238506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D5EF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18" name="머리 선"/>
            <p:cNvCxnSpPr/>
            <p:nvPr/>
          </p:nvCxnSpPr>
          <p:spPr>
            <a:xfrm>
              <a:off x="3390900" y="1219200"/>
              <a:ext cx="2400300" cy="0"/>
            </a:xfrm>
            <a:prstGeom prst="line">
              <a:avLst/>
            </a:prstGeom>
            <a:ln w="10668">
              <a:solidFill>
                <a:srgbClr val="1E6B4F"/>
              </a:solidFill>
            </a:ln>
          </p:spPr>
        </p:cxnSp>
        <p:sp>
          <p:nvSpPr>
            <p:cNvPr id="119" name="테이블 이름"/>
            <p:cNvSpPr txBox="1"/>
            <p:nvPr/>
          </p:nvSpPr>
          <p:spPr>
            <a:xfrm>
              <a:off x="3497580" y="975360"/>
              <a:ext cx="120015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워터마크</a:t>
              </a:r>
            </a:p>
          </p:txBody>
        </p:sp>
        <p:sp>
          <p:nvSpPr>
            <p:cNvPr id="120" name="한글 이름"/>
            <p:cNvSpPr txBox="1"/>
            <p:nvPr/>
          </p:nvSpPr>
          <p:spPr>
            <a:xfrm>
              <a:off x="4591050" y="975360"/>
              <a:ext cx="109347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watermark</a:t>
              </a:r>
            </a:p>
          </p:txBody>
        </p:sp>
        <p:cxnSp>
          <p:nvCxnSpPr>
            <p:cNvPr id="121" name="PK 구분선"/>
            <p:cNvCxnSpPr/>
            <p:nvPr/>
          </p:nvCxnSpPr>
          <p:spPr>
            <a:xfrm>
              <a:off x="3467100" y="1447800"/>
              <a:ext cx="224790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122" name="PK 키"/>
            <p:cNvSpPr txBox="1"/>
            <p:nvPr/>
          </p:nvSpPr>
          <p:spPr>
            <a:xfrm>
              <a:off x="3482340" y="1264920"/>
              <a:ext cx="25908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123" name="PK 이름"/>
            <p:cNvSpPr txBox="1"/>
            <p:nvPr/>
          </p:nvSpPr>
          <p:spPr>
            <a:xfrm>
              <a:off x="3741420" y="1264920"/>
              <a:ext cx="8763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작업 ID (FK)</a:t>
              </a:r>
            </a:p>
          </p:txBody>
        </p:sp>
        <p:sp>
          <p:nvSpPr>
            <p:cNvPr id="124" name="PK 타입"/>
            <p:cNvSpPr txBox="1"/>
            <p:nvPr/>
          </p:nvSpPr>
          <p:spPr>
            <a:xfrm>
              <a:off x="4297680" y="126492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25" name="PK NN"/>
            <p:cNvSpPr txBox="1"/>
            <p:nvPr/>
          </p:nvSpPr>
          <p:spPr>
            <a:xfrm>
              <a:off x="5471160" y="126492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26" name="컬럼 이름"/>
            <p:cNvSpPr txBox="1"/>
            <p:nvPr/>
          </p:nvSpPr>
          <p:spPr>
            <a:xfrm>
              <a:off x="3741420" y="1478280"/>
              <a:ext cx="876300" cy="457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시작 LSN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반영 위치 (LSN)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지연 · 대기 건수</a:t>
              </a:r>
            </a:p>
          </p:txBody>
        </p:sp>
        <p:sp>
          <p:nvSpPr>
            <p:cNvPr id="127" name="컬럼 타입"/>
            <p:cNvSpPr txBox="1"/>
            <p:nvPr/>
          </p:nvSpPr>
          <p:spPr>
            <a:xfrm>
              <a:off x="4297680" y="1478280"/>
              <a:ext cx="1143000" cy="457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28" name="컬럼 NN"/>
            <p:cNvSpPr txBox="1"/>
            <p:nvPr/>
          </p:nvSpPr>
          <p:spPr>
            <a:xfrm>
              <a:off x="5471160" y="1478280"/>
              <a:ext cx="228600" cy="457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</p:grpSp>
      <p:grpSp>
        <p:nvGrpSpPr>
          <p:cNvPr id="129" name="엔터티 검증 실행"/>
          <p:cNvGrpSpPr/>
          <p:nvPr/>
        </p:nvGrpSpPr>
        <p:grpSpPr>
          <a:xfrm>
            <a:off x="6400800" y="975360"/>
            <a:ext cx="2400300" cy="1005840"/>
            <a:chOff x="6400800" y="975360"/>
            <a:chExt cx="2400300" cy="1005840"/>
          </a:xfrm>
        </p:grpSpPr>
        <p:sp>
          <p:nvSpPr>
            <p:cNvPr id="130" name="테두리"/>
            <p:cNvSpPr/>
            <p:nvPr/>
          </p:nvSpPr>
          <p:spPr>
            <a:xfrm>
              <a:off x="6400800" y="975360"/>
              <a:ext cx="2400300" cy="1005840"/>
            </a:xfrm>
            <a:prstGeom prst="roundRect">
              <a:avLst>
                <a:gd name="adj" fmla="val 7575"/>
              </a:avLst>
            </a:prstGeom>
            <a:solidFill>
              <a:srgbClr val="FFFFFF"/>
            </a:solidFill>
            <a:ln w="13716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" name="머리"/>
            <p:cNvSpPr/>
            <p:nvPr/>
          </p:nvSpPr>
          <p:spPr>
            <a:xfrm>
              <a:off x="6408420" y="982980"/>
              <a:ext cx="238506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D5EF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32" name="머리 선"/>
            <p:cNvCxnSpPr/>
            <p:nvPr/>
          </p:nvCxnSpPr>
          <p:spPr>
            <a:xfrm>
              <a:off x="6400800" y="1219200"/>
              <a:ext cx="2400300" cy="0"/>
            </a:xfrm>
            <a:prstGeom prst="line">
              <a:avLst/>
            </a:prstGeom>
            <a:ln w="10668">
              <a:solidFill>
                <a:srgbClr val="1E6B4F"/>
              </a:solidFill>
            </a:ln>
          </p:spPr>
        </p:cxnSp>
        <p:sp>
          <p:nvSpPr>
            <p:cNvPr id="133" name="테이블 이름"/>
            <p:cNvSpPr txBox="1"/>
            <p:nvPr/>
          </p:nvSpPr>
          <p:spPr>
            <a:xfrm>
              <a:off x="6507480" y="975360"/>
              <a:ext cx="120015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검증 실행</a:t>
              </a:r>
            </a:p>
          </p:txBody>
        </p:sp>
        <p:sp>
          <p:nvSpPr>
            <p:cNvPr id="134" name="한글 이름"/>
            <p:cNvSpPr txBox="1"/>
            <p:nvPr/>
          </p:nvSpPr>
          <p:spPr>
            <a:xfrm>
              <a:off x="7600950" y="975360"/>
              <a:ext cx="109347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verify_run</a:t>
              </a:r>
            </a:p>
          </p:txBody>
        </p:sp>
        <p:cxnSp>
          <p:nvCxnSpPr>
            <p:cNvPr id="135" name="PK 구분선"/>
            <p:cNvCxnSpPr/>
            <p:nvPr/>
          </p:nvCxnSpPr>
          <p:spPr>
            <a:xfrm>
              <a:off x="6477000" y="1447800"/>
              <a:ext cx="224790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136" name="PK 키"/>
            <p:cNvSpPr txBox="1"/>
            <p:nvPr/>
          </p:nvSpPr>
          <p:spPr>
            <a:xfrm>
              <a:off x="6492240" y="1264920"/>
              <a:ext cx="25908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137" name="PK 이름"/>
            <p:cNvSpPr txBox="1"/>
            <p:nvPr/>
          </p:nvSpPr>
          <p:spPr>
            <a:xfrm>
              <a:off x="6751320" y="1264920"/>
              <a:ext cx="8763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검증 ID</a:t>
              </a:r>
            </a:p>
          </p:txBody>
        </p:sp>
        <p:sp>
          <p:nvSpPr>
            <p:cNvPr id="138" name="PK 타입"/>
            <p:cNvSpPr txBox="1"/>
            <p:nvPr/>
          </p:nvSpPr>
          <p:spPr>
            <a:xfrm>
              <a:off x="7307580" y="126492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39" name="PK NN"/>
            <p:cNvSpPr txBox="1"/>
            <p:nvPr/>
          </p:nvSpPr>
          <p:spPr>
            <a:xfrm>
              <a:off x="8481060" y="126492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40" name="컬럼 키"/>
            <p:cNvSpPr txBox="1"/>
            <p:nvPr/>
          </p:nvSpPr>
          <p:spPr>
            <a:xfrm>
              <a:off x="6492240" y="1478280"/>
              <a:ext cx="259080" cy="457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FK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41" name="컬럼 이름"/>
            <p:cNvSpPr txBox="1"/>
            <p:nvPr/>
          </p:nvSpPr>
          <p:spPr>
            <a:xfrm>
              <a:off x="6751320" y="1478280"/>
              <a:ext cx="876300" cy="457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작업 ID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시작 · 끝 시각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검사 수 · 불일치 수</a:t>
              </a:r>
            </a:p>
          </p:txBody>
        </p:sp>
        <p:sp>
          <p:nvSpPr>
            <p:cNvPr id="142" name="컬럼 타입"/>
            <p:cNvSpPr txBox="1"/>
            <p:nvPr/>
          </p:nvSpPr>
          <p:spPr>
            <a:xfrm>
              <a:off x="7307580" y="1478280"/>
              <a:ext cx="1143000" cy="457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43" name="컬럼 NN"/>
            <p:cNvSpPr txBox="1"/>
            <p:nvPr/>
          </p:nvSpPr>
          <p:spPr>
            <a:xfrm>
              <a:off x="8481060" y="1478280"/>
              <a:ext cx="228600" cy="457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</p:grpSp>
      <p:grpSp>
        <p:nvGrpSpPr>
          <p:cNvPr id="144" name="엔터티 스키마 버전"/>
          <p:cNvGrpSpPr/>
          <p:nvPr/>
        </p:nvGrpSpPr>
        <p:grpSpPr>
          <a:xfrm>
            <a:off x="9410700" y="975360"/>
            <a:ext cx="2400300" cy="853440"/>
            <a:chOff x="9410700" y="975360"/>
            <a:chExt cx="2400300" cy="853440"/>
          </a:xfrm>
        </p:grpSpPr>
        <p:sp>
          <p:nvSpPr>
            <p:cNvPr id="145" name="테두리"/>
            <p:cNvSpPr/>
            <p:nvPr/>
          </p:nvSpPr>
          <p:spPr>
            <a:xfrm>
              <a:off x="9410700" y="975360"/>
              <a:ext cx="2400300" cy="853440"/>
            </a:xfrm>
            <a:prstGeom prst="roundRect">
              <a:avLst>
                <a:gd name="adj" fmla="val 8928"/>
              </a:avLst>
            </a:prstGeom>
            <a:solidFill>
              <a:srgbClr val="FFFFFF"/>
            </a:solidFill>
            <a:ln w="13716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6" name="머리"/>
            <p:cNvSpPr/>
            <p:nvPr/>
          </p:nvSpPr>
          <p:spPr>
            <a:xfrm>
              <a:off x="9418320" y="982980"/>
              <a:ext cx="238506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D5EF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47" name="머리 선"/>
            <p:cNvCxnSpPr/>
            <p:nvPr/>
          </p:nvCxnSpPr>
          <p:spPr>
            <a:xfrm>
              <a:off x="9410700" y="1219200"/>
              <a:ext cx="2400300" cy="0"/>
            </a:xfrm>
            <a:prstGeom prst="line">
              <a:avLst/>
            </a:prstGeom>
            <a:ln w="10668">
              <a:solidFill>
                <a:srgbClr val="1E6B4F"/>
              </a:solidFill>
            </a:ln>
          </p:spPr>
        </p:cxnSp>
        <p:sp>
          <p:nvSpPr>
            <p:cNvPr id="148" name="테이블 이름"/>
            <p:cNvSpPr txBox="1"/>
            <p:nvPr/>
          </p:nvSpPr>
          <p:spPr>
            <a:xfrm>
              <a:off x="9517380" y="975360"/>
              <a:ext cx="120015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스키마 버전</a:t>
              </a:r>
            </a:p>
          </p:txBody>
        </p:sp>
        <p:sp>
          <p:nvSpPr>
            <p:cNvPr id="149" name="한글 이름"/>
            <p:cNvSpPr txBox="1"/>
            <p:nvPr/>
          </p:nvSpPr>
          <p:spPr>
            <a:xfrm>
              <a:off x="10610850" y="975360"/>
              <a:ext cx="109347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schema_version</a:t>
              </a:r>
            </a:p>
          </p:txBody>
        </p:sp>
        <p:cxnSp>
          <p:nvCxnSpPr>
            <p:cNvPr id="150" name="PK 구분선"/>
            <p:cNvCxnSpPr/>
            <p:nvPr/>
          </p:nvCxnSpPr>
          <p:spPr>
            <a:xfrm>
              <a:off x="9486900" y="1447800"/>
              <a:ext cx="224790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151" name="PK 키"/>
            <p:cNvSpPr txBox="1"/>
            <p:nvPr/>
          </p:nvSpPr>
          <p:spPr>
            <a:xfrm>
              <a:off x="9502140" y="1264920"/>
              <a:ext cx="25908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152" name="PK 이름"/>
            <p:cNvSpPr txBox="1"/>
            <p:nvPr/>
          </p:nvSpPr>
          <p:spPr>
            <a:xfrm>
              <a:off x="9761220" y="1264920"/>
              <a:ext cx="8763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버전</a:t>
              </a:r>
            </a:p>
          </p:txBody>
        </p:sp>
        <p:sp>
          <p:nvSpPr>
            <p:cNvPr id="153" name="PK 타입"/>
            <p:cNvSpPr txBox="1"/>
            <p:nvPr/>
          </p:nvSpPr>
          <p:spPr>
            <a:xfrm>
              <a:off x="10317480" y="126492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54" name="PK NN"/>
            <p:cNvSpPr txBox="1"/>
            <p:nvPr/>
          </p:nvSpPr>
          <p:spPr>
            <a:xfrm>
              <a:off x="11490960" y="126492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55" name="컬럼 이름"/>
            <p:cNvSpPr txBox="1"/>
            <p:nvPr/>
          </p:nvSpPr>
          <p:spPr>
            <a:xfrm>
              <a:off x="9761220" y="1478280"/>
              <a:ext cx="876300" cy="3048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설명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적용 시각</a:t>
              </a:r>
            </a:p>
          </p:txBody>
        </p:sp>
        <p:sp>
          <p:nvSpPr>
            <p:cNvPr id="156" name="컬럼 타입"/>
            <p:cNvSpPr txBox="1"/>
            <p:nvPr/>
          </p:nvSpPr>
          <p:spPr>
            <a:xfrm>
              <a:off x="10317480" y="1478280"/>
              <a:ext cx="1143000" cy="3048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57" name="컬럼 NN"/>
            <p:cNvSpPr txBox="1"/>
            <p:nvPr/>
          </p:nvSpPr>
          <p:spPr>
            <a:xfrm>
              <a:off x="11490960" y="1478280"/>
              <a:ext cx="228600" cy="3048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</p:grpSp>
      <p:grpSp>
        <p:nvGrpSpPr>
          <p:cNvPr id="158" name="엔터티 변경 버퍼"/>
          <p:cNvGrpSpPr/>
          <p:nvPr/>
        </p:nvGrpSpPr>
        <p:grpSpPr>
          <a:xfrm>
            <a:off x="381000" y="2804160"/>
            <a:ext cx="2400300" cy="1310640"/>
            <a:chOff x="381000" y="2804160"/>
            <a:chExt cx="2400300" cy="1310640"/>
          </a:xfrm>
        </p:grpSpPr>
        <p:sp>
          <p:nvSpPr>
            <p:cNvPr id="159" name="테두리"/>
            <p:cNvSpPr/>
            <p:nvPr/>
          </p:nvSpPr>
          <p:spPr>
            <a:xfrm>
              <a:off x="381000" y="2804160"/>
              <a:ext cx="2400300" cy="1310640"/>
            </a:xfrm>
            <a:prstGeom prst="roundRect">
              <a:avLst>
                <a:gd name="adj" fmla="val 5813"/>
              </a:avLst>
            </a:prstGeom>
            <a:solidFill>
              <a:srgbClr val="FFFFFF"/>
            </a:solidFill>
            <a:ln w="13716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0" name="머리"/>
            <p:cNvSpPr/>
            <p:nvPr/>
          </p:nvSpPr>
          <p:spPr>
            <a:xfrm>
              <a:off x="388620" y="2811780"/>
              <a:ext cx="238506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D5EF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61" name="머리 선"/>
            <p:cNvCxnSpPr/>
            <p:nvPr/>
          </p:nvCxnSpPr>
          <p:spPr>
            <a:xfrm>
              <a:off x="381000" y="3048000"/>
              <a:ext cx="2400300" cy="0"/>
            </a:xfrm>
            <a:prstGeom prst="line">
              <a:avLst/>
            </a:prstGeom>
            <a:ln w="10668">
              <a:solidFill>
                <a:srgbClr val="1E6B4F"/>
              </a:solidFill>
            </a:ln>
          </p:spPr>
        </p:cxnSp>
        <p:sp>
          <p:nvSpPr>
            <p:cNvPr id="162" name="테이블 이름"/>
            <p:cNvSpPr txBox="1"/>
            <p:nvPr/>
          </p:nvSpPr>
          <p:spPr>
            <a:xfrm>
              <a:off x="487680" y="2804160"/>
              <a:ext cx="120015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변경 버퍼</a:t>
              </a:r>
            </a:p>
          </p:txBody>
        </p:sp>
        <p:sp>
          <p:nvSpPr>
            <p:cNvPr id="163" name="한글 이름"/>
            <p:cNvSpPr txBox="1"/>
            <p:nvPr/>
          </p:nvSpPr>
          <p:spPr>
            <a:xfrm>
              <a:off x="1581150" y="2804160"/>
              <a:ext cx="109347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change_log</a:t>
              </a:r>
            </a:p>
          </p:txBody>
        </p:sp>
        <p:cxnSp>
          <p:nvCxnSpPr>
            <p:cNvPr id="164" name="PK 구분선"/>
            <p:cNvCxnSpPr/>
            <p:nvPr/>
          </p:nvCxnSpPr>
          <p:spPr>
            <a:xfrm>
              <a:off x="457200" y="3276600"/>
              <a:ext cx="224790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165" name="PK 키"/>
            <p:cNvSpPr txBox="1"/>
            <p:nvPr/>
          </p:nvSpPr>
          <p:spPr>
            <a:xfrm>
              <a:off x="472440" y="3093720"/>
              <a:ext cx="25908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166" name="PK 이름"/>
            <p:cNvSpPr txBox="1"/>
            <p:nvPr/>
          </p:nvSpPr>
          <p:spPr>
            <a:xfrm>
              <a:off x="731520" y="3093720"/>
              <a:ext cx="8763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변경 ID</a:t>
              </a:r>
            </a:p>
          </p:txBody>
        </p:sp>
        <p:sp>
          <p:nvSpPr>
            <p:cNvPr id="167" name="PK 타입"/>
            <p:cNvSpPr txBox="1"/>
            <p:nvPr/>
          </p:nvSpPr>
          <p:spPr>
            <a:xfrm>
              <a:off x="1287780" y="309372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68" name="PK NN"/>
            <p:cNvSpPr txBox="1"/>
            <p:nvPr/>
          </p:nvSpPr>
          <p:spPr>
            <a:xfrm>
              <a:off x="2461260" y="309372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69" name="컬럼 키"/>
            <p:cNvSpPr txBox="1"/>
            <p:nvPr/>
          </p:nvSpPr>
          <p:spPr>
            <a:xfrm>
              <a:off x="472440" y="3307080"/>
              <a:ext cx="259080" cy="762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FK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UK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70" name="컬럼 이름"/>
            <p:cNvSpPr txBox="1"/>
            <p:nvPr/>
          </p:nvSpPr>
          <p:spPr>
            <a:xfrm>
              <a:off x="731520" y="3307080"/>
              <a:ext cx="876300" cy="762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작업 ID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변경 위치 (LSN)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변경 종류 (c · u · d)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원천 테이블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변경 값 (반영 뒤 삭제)</a:t>
              </a:r>
            </a:p>
          </p:txBody>
        </p:sp>
        <p:sp>
          <p:nvSpPr>
            <p:cNvPr id="171" name="컬럼 타입"/>
            <p:cNvSpPr txBox="1"/>
            <p:nvPr/>
          </p:nvSpPr>
          <p:spPr>
            <a:xfrm>
              <a:off x="1287780" y="3307080"/>
              <a:ext cx="1143000" cy="762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72" name="컬럼 NN"/>
            <p:cNvSpPr txBox="1"/>
            <p:nvPr/>
          </p:nvSpPr>
          <p:spPr>
            <a:xfrm>
              <a:off x="2461260" y="3307080"/>
              <a:ext cx="228600" cy="762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</p:grpSp>
      <p:grpSp>
        <p:nvGrpSpPr>
          <p:cNvPr id="173" name="엔터티 작업"/>
          <p:cNvGrpSpPr/>
          <p:nvPr/>
        </p:nvGrpSpPr>
        <p:grpSpPr>
          <a:xfrm>
            <a:off x="3390900" y="2804160"/>
            <a:ext cx="2400300" cy="1158240"/>
            <a:chOff x="3390900" y="2804160"/>
            <a:chExt cx="2400300" cy="1158240"/>
          </a:xfrm>
        </p:grpSpPr>
        <p:sp>
          <p:nvSpPr>
            <p:cNvPr id="174" name="테두리"/>
            <p:cNvSpPr/>
            <p:nvPr/>
          </p:nvSpPr>
          <p:spPr>
            <a:xfrm>
              <a:off x="3390900" y="2804160"/>
              <a:ext cx="2400300" cy="1158240"/>
            </a:xfrm>
            <a:prstGeom prst="roundRect">
              <a:avLst>
                <a:gd name="adj" fmla="val 6578"/>
              </a:avLst>
            </a:prstGeom>
            <a:solidFill>
              <a:srgbClr val="FFFFFF"/>
            </a:solidFill>
            <a:ln w="13716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5" name="머리"/>
            <p:cNvSpPr/>
            <p:nvPr/>
          </p:nvSpPr>
          <p:spPr>
            <a:xfrm>
              <a:off x="3398520" y="2811780"/>
              <a:ext cx="238506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D5EF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76" name="머리 선"/>
            <p:cNvCxnSpPr/>
            <p:nvPr/>
          </p:nvCxnSpPr>
          <p:spPr>
            <a:xfrm>
              <a:off x="3390900" y="3048000"/>
              <a:ext cx="2400300" cy="0"/>
            </a:xfrm>
            <a:prstGeom prst="line">
              <a:avLst/>
            </a:prstGeom>
            <a:ln w="10668">
              <a:solidFill>
                <a:srgbClr val="1E6B4F"/>
              </a:solidFill>
            </a:ln>
          </p:spPr>
        </p:cxnSp>
        <p:sp>
          <p:nvSpPr>
            <p:cNvPr id="177" name="테이블 이름"/>
            <p:cNvSpPr txBox="1"/>
            <p:nvPr/>
          </p:nvSpPr>
          <p:spPr>
            <a:xfrm>
              <a:off x="3497580" y="2804160"/>
              <a:ext cx="120015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작업</a:t>
              </a:r>
            </a:p>
          </p:txBody>
        </p:sp>
        <p:sp>
          <p:nvSpPr>
            <p:cNvPr id="178" name="한글 이름"/>
            <p:cNvSpPr txBox="1"/>
            <p:nvPr/>
          </p:nvSpPr>
          <p:spPr>
            <a:xfrm>
              <a:off x="4591050" y="2804160"/>
              <a:ext cx="109347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job</a:t>
              </a:r>
            </a:p>
          </p:txBody>
        </p:sp>
        <p:cxnSp>
          <p:nvCxnSpPr>
            <p:cNvPr id="179" name="PK 구분선"/>
            <p:cNvCxnSpPr/>
            <p:nvPr/>
          </p:nvCxnSpPr>
          <p:spPr>
            <a:xfrm>
              <a:off x="3467100" y="3276600"/>
              <a:ext cx="224790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180" name="PK 키"/>
            <p:cNvSpPr txBox="1"/>
            <p:nvPr/>
          </p:nvSpPr>
          <p:spPr>
            <a:xfrm>
              <a:off x="3482340" y="3093720"/>
              <a:ext cx="25908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181" name="PK 이름"/>
            <p:cNvSpPr txBox="1"/>
            <p:nvPr/>
          </p:nvSpPr>
          <p:spPr>
            <a:xfrm>
              <a:off x="3741420" y="3093720"/>
              <a:ext cx="8763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작업 ID</a:t>
              </a:r>
            </a:p>
          </p:txBody>
        </p:sp>
        <p:sp>
          <p:nvSpPr>
            <p:cNvPr id="182" name="PK 타입"/>
            <p:cNvSpPr txBox="1"/>
            <p:nvPr/>
          </p:nvSpPr>
          <p:spPr>
            <a:xfrm>
              <a:off x="4297680" y="309372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83" name="PK NN"/>
            <p:cNvSpPr txBox="1"/>
            <p:nvPr/>
          </p:nvSpPr>
          <p:spPr>
            <a:xfrm>
              <a:off x="5471160" y="309372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84" name="컬럼 키"/>
            <p:cNvSpPr txBox="1"/>
            <p:nvPr/>
          </p:nvSpPr>
          <p:spPr>
            <a:xfrm>
              <a:off x="3482340" y="3307080"/>
              <a:ext cx="259080" cy="609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UK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85" name="컬럼 이름"/>
            <p:cNvSpPr txBox="1"/>
            <p:nvPr/>
          </p:nvSpPr>
          <p:spPr>
            <a:xfrm>
              <a:off x="3741420" y="3307080"/>
              <a:ext cx="876300" cy="609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작업 이름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원천 서버 · DB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대상 DB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작업 상태</a:t>
              </a:r>
            </a:p>
          </p:txBody>
        </p:sp>
        <p:sp>
          <p:nvSpPr>
            <p:cNvPr id="186" name="컬럼 타입"/>
            <p:cNvSpPr txBox="1"/>
            <p:nvPr/>
          </p:nvSpPr>
          <p:spPr>
            <a:xfrm>
              <a:off x="4297680" y="3307080"/>
              <a:ext cx="1143000" cy="609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87" name="컬럼 NN"/>
            <p:cNvSpPr txBox="1"/>
            <p:nvPr/>
          </p:nvSpPr>
          <p:spPr>
            <a:xfrm>
              <a:off x="5471160" y="3307080"/>
              <a:ext cx="228600" cy="609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</p:grpSp>
      <p:grpSp>
        <p:nvGrpSpPr>
          <p:cNvPr id="188" name="엔터티 검사 결과"/>
          <p:cNvGrpSpPr/>
          <p:nvPr/>
        </p:nvGrpSpPr>
        <p:grpSpPr>
          <a:xfrm>
            <a:off x="6400800" y="2804160"/>
            <a:ext cx="2400300" cy="1310640"/>
            <a:chOff x="6400800" y="2804160"/>
            <a:chExt cx="2400300" cy="1310640"/>
          </a:xfrm>
        </p:grpSpPr>
        <p:sp>
          <p:nvSpPr>
            <p:cNvPr id="189" name="테두리"/>
            <p:cNvSpPr/>
            <p:nvPr/>
          </p:nvSpPr>
          <p:spPr>
            <a:xfrm>
              <a:off x="6400800" y="2804160"/>
              <a:ext cx="2400300" cy="1310640"/>
            </a:xfrm>
            <a:prstGeom prst="roundRect">
              <a:avLst>
                <a:gd name="adj" fmla="val 5813"/>
              </a:avLst>
            </a:prstGeom>
            <a:solidFill>
              <a:srgbClr val="FFFFFF"/>
            </a:solidFill>
            <a:ln w="13716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0" name="머리"/>
            <p:cNvSpPr/>
            <p:nvPr/>
          </p:nvSpPr>
          <p:spPr>
            <a:xfrm>
              <a:off x="6408420" y="2811780"/>
              <a:ext cx="238506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D5EF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91" name="머리 선"/>
            <p:cNvCxnSpPr/>
            <p:nvPr/>
          </p:nvCxnSpPr>
          <p:spPr>
            <a:xfrm>
              <a:off x="6400800" y="3048000"/>
              <a:ext cx="2400300" cy="0"/>
            </a:xfrm>
            <a:prstGeom prst="line">
              <a:avLst/>
            </a:prstGeom>
            <a:ln w="10668">
              <a:solidFill>
                <a:srgbClr val="1E6B4F"/>
              </a:solidFill>
            </a:ln>
          </p:spPr>
        </p:cxnSp>
        <p:sp>
          <p:nvSpPr>
            <p:cNvPr id="192" name="테이블 이름"/>
            <p:cNvSpPr txBox="1"/>
            <p:nvPr/>
          </p:nvSpPr>
          <p:spPr>
            <a:xfrm>
              <a:off x="6507480" y="2804160"/>
              <a:ext cx="120015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검사 결과</a:t>
              </a:r>
            </a:p>
          </p:txBody>
        </p:sp>
        <p:sp>
          <p:nvSpPr>
            <p:cNvPr id="193" name="한글 이름"/>
            <p:cNvSpPr txBox="1"/>
            <p:nvPr/>
          </p:nvSpPr>
          <p:spPr>
            <a:xfrm>
              <a:off x="7600950" y="2804160"/>
              <a:ext cx="109347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verify_result</a:t>
              </a:r>
            </a:p>
          </p:txBody>
        </p:sp>
        <p:cxnSp>
          <p:nvCxnSpPr>
            <p:cNvPr id="194" name="PK 구분선"/>
            <p:cNvCxnSpPr/>
            <p:nvPr/>
          </p:nvCxnSpPr>
          <p:spPr>
            <a:xfrm>
              <a:off x="6477000" y="3276600"/>
              <a:ext cx="224790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195" name="PK 키"/>
            <p:cNvSpPr txBox="1"/>
            <p:nvPr/>
          </p:nvSpPr>
          <p:spPr>
            <a:xfrm>
              <a:off x="6492240" y="3093720"/>
              <a:ext cx="25908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196" name="PK 이름"/>
            <p:cNvSpPr txBox="1"/>
            <p:nvPr/>
          </p:nvSpPr>
          <p:spPr>
            <a:xfrm>
              <a:off x="6751320" y="3093720"/>
              <a:ext cx="8763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검사 ID</a:t>
              </a:r>
            </a:p>
          </p:txBody>
        </p:sp>
        <p:sp>
          <p:nvSpPr>
            <p:cNvPr id="197" name="PK 타입"/>
            <p:cNvSpPr txBox="1"/>
            <p:nvPr/>
          </p:nvSpPr>
          <p:spPr>
            <a:xfrm>
              <a:off x="7307580" y="309372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98" name="PK NN"/>
            <p:cNvSpPr txBox="1"/>
            <p:nvPr/>
          </p:nvSpPr>
          <p:spPr>
            <a:xfrm>
              <a:off x="8481060" y="309372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99" name="컬럼 키"/>
            <p:cNvSpPr txBox="1"/>
            <p:nvPr/>
          </p:nvSpPr>
          <p:spPr>
            <a:xfrm>
              <a:off x="6492240" y="3307080"/>
              <a:ext cx="259080" cy="762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FK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FK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200" name="컬럼 이름"/>
            <p:cNvSpPr txBox="1"/>
            <p:nvPr/>
          </p:nvSpPr>
          <p:spPr>
            <a:xfrm>
              <a:off x="6751320" y="3307080"/>
              <a:ext cx="876300" cy="762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검증 ID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작업 테이블 ID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검사 종류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원천 값 · 대상 값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일치 여부</a:t>
              </a:r>
            </a:p>
          </p:txBody>
        </p:sp>
        <p:sp>
          <p:nvSpPr>
            <p:cNvPr id="201" name="컬럼 타입"/>
            <p:cNvSpPr txBox="1"/>
            <p:nvPr/>
          </p:nvSpPr>
          <p:spPr>
            <a:xfrm>
              <a:off x="7307580" y="3307080"/>
              <a:ext cx="1143000" cy="762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202" name="컬럼 NN"/>
            <p:cNvSpPr txBox="1"/>
            <p:nvPr/>
          </p:nvSpPr>
          <p:spPr>
            <a:xfrm>
              <a:off x="8481060" y="3307080"/>
              <a:ext cx="228600" cy="762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</p:grpSp>
      <p:grpSp>
        <p:nvGrpSpPr>
          <p:cNvPr id="203" name="엔터티 불일치 행"/>
          <p:cNvGrpSpPr/>
          <p:nvPr/>
        </p:nvGrpSpPr>
        <p:grpSpPr>
          <a:xfrm>
            <a:off x="9410700" y="2804160"/>
            <a:ext cx="2400300" cy="1158240"/>
            <a:chOff x="9410700" y="2804160"/>
            <a:chExt cx="2400300" cy="1158240"/>
          </a:xfrm>
        </p:grpSpPr>
        <p:sp>
          <p:nvSpPr>
            <p:cNvPr id="204" name="테두리"/>
            <p:cNvSpPr/>
            <p:nvPr/>
          </p:nvSpPr>
          <p:spPr>
            <a:xfrm>
              <a:off x="9410700" y="2804160"/>
              <a:ext cx="2400300" cy="1158240"/>
            </a:xfrm>
            <a:prstGeom prst="roundRect">
              <a:avLst>
                <a:gd name="adj" fmla="val 6578"/>
              </a:avLst>
            </a:prstGeom>
            <a:solidFill>
              <a:srgbClr val="FFFFFF"/>
            </a:solidFill>
            <a:ln w="13716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5" name="머리"/>
            <p:cNvSpPr/>
            <p:nvPr/>
          </p:nvSpPr>
          <p:spPr>
            <a:xfrm>
              <a:off x="9418320" y="2811780"/>
              <a:ext cx="238506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D5EF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06" name="머리 선"/>
            <p:cNvCxnSpPr/>
            <p:nvPr/>
          </p:nvCxnSpPr>
          <p:spPr>
            <a:xfrm>
              <a:off x="9410700" y="3048000"/>
              <a:ext cx="2400300" cy="0"/>
            </a:xfrm>
            <a:prstGeom prst="line">
              <a:avLst/>
            </a:prstGeom>
            <a:ln w="10668">
              <a:solidFill>
                <a:srgbClr val="1E6B4F"/>
              </a:solidFill>
            </a:ln>
          </p:spPr>
        </p:cxnSp>
        <p:sp>
          <p:nvSpPr>
            <p:cNvPr id="207" name="테이블 이름"/>
            <p:cNvSpPr txBox="1"/>
            <p:nvPr/>
          </p:nvSpPr>
          <p:spPr>
            <a:xfrm>
              <a:off x="9517380" y="2804160"/>
              <a:ext cx="120015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불일치 행</a:t>
              </a:r>
            </a:p>
          </p:txBody>
        </p:sp>
        <p:sp>
          <p:nvSpPr>
            <p:cNvPr id="208" name="한글 이름"/>
            <p:cNvSpPr txBox="1"/>
            <p:nvPr/>
          </p:nvSpPr>
          <p:spPr>
            <a:xfrm>
              <a:off x="10610850" y="2804160"/>
              <a:ext cx="109347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verify_row_diff</a:t>
              </a:r>
            </a:p>
          </p:txBody>
        </p:sp>
        <p:cxnSp>
          <p:nvCxnSpPr>
            <p:cNvPr id="209" name="PK 구분선"/>
            <p:cNvCxnSpPr/>
            <p:nvPr/>
          </p:nvCxnSpPr>
          <p:spPr>
            <a:xfrm>
              <a:off x="9486900" y="3276600"/>
              <a:ext cx="224790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210" name="PK 키"/>
            <p:cNvSpPr txBox="1"/>
            <p:nvPr/>
          </p:nvSpPr>
          <p:spPr>
            <a:xfrm>
              <a:off x="9502140" y="3093720"/>
              <a:ext cx="25908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211" name="PK 이름"/>
            <p:cNvSpPr txBox="1"/>
            <p:nvPr/>
          </p:nvSpPr>
          <p:spPr>
            <a:xfrm>
              <a:off x="9761220" y="3093720"/>
              <a:ext cx="8763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차이 ID</a:t>
              </a:r>
            </a:p>
          </p:txBody>
        </p:sp>
        <p:sp>
          <p:nvSpPr>
            <p:cNvPr id="212" name="PK 타입"/>
            <p:cNvSpPr txBox="1"/>
            <p:nvPr/>
          </p:nvSpPr>
          <p:spPr>
            <a:xfrm>
              <a:off x="10317480" y="309372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213" name="PK NN"/>
            <p:cNvSpPr txBox="1"/>
            <p:nvPr/>
          </p:nvSpPr>
          <p:spPr>
            <a:xfrm>
              <a:off x="11490960" y="309372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214" name="컬럼 키"/>
            <p:cNvSpPr txBox="1"/>
            <p:nvPr/>
          </p:nvSpPr>
          <p:spPr>
            <a:xfrm>
              <a:off x="9502140" y="3307080"/>
              <a:ext cx="259080" cy="609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FK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FK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215" name="컬럼 이름"/>
            <p:cNvSpPr txBox="1"/>
            <p:nvPr/>
          </p:nvSpPr>
          <p:spPr>
            <a:xfrm>
              <a:off x="9761220" y="3307080"/>
              <a:ext cx="876300" cy="609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검증 ID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작업 테이블 ID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PK 값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차이 구분 (missing 등)</a:t>
              </a:r>
            </a:p>
          </p:txBody>
        </p:sp>
        <p:sp>
          <p:nvSpPr>
            <p:cNvPr id="216" name="컬럼 타입"/>
            <p:cNvSpPr txBox="1"/>
            <p:nvPr/>
          </p:nvSpPr>
          <p:spPr>
            <a:xfrm>
              <a:off x="10317480" y="3307080"/>
              <a:ext cx="1143000" cy="609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217" name="컬럼 NN"/>
            <p:cNvSpPr txBox="1"/>
            <p:nvPr/>
          </p:nvSpPr>
          <p:spPr>
            <a:xfrm>
              <a:off x="11490960" y="3307080"/>
              <a:ext cx="228600" cy="609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</p:grpSp>
      <p:grpSp>
        <p:nvGrpSpPr>
          <p:cNvPr id="218" name="엔터티 전환 실행"/>
          <p:cNvGrpSpPr/>
          <p:nvPr/>
        </p:nvGrpSpPr>
        <p:grpSpPr>
          <a:xfrm>
            <a:off x="381000" y="4632960"/>
            <a:ext cx="2400300" cy="1158240"/>
            <a:chOff x="381000" y="4632960"/>
            <a:chExt cx="2400300" cy="1158240"/>
          </a:xfrm>
        </p:grpSpPr>
        <p:sp>
          <p:nvSpPr>
            <p:cNvPr id="219" name="테두리"/>
            <p:cNvSpPr/>
            <p:nvPr/>
          </p:nvSpPr>
          <p:spPr>
            <a:xfrm>
              <a:off x="381000" y="4632960"/>
              <a:ext cx="2400300" cy="1158240"/>
            </a:xfrm>
            <a:prstGeom prst="roundRect">
              <a:avLst>
                <a:gd name="adj" fmla="val 6578"/>
              </a:avLst>
            </a:prstGeom>
            <a:solidFill>
              <a:srgbClr val="FFFFFF"/>
            </a:solidFill>
            <a:ln w="13716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0" name="머리"/>
            <p:cNvSpPr/>
            <p:nvPr/>
          </p:nvSpPr>
          <p:spPr>
            <a:xfrm>
              <a:off x="388620" y="4640580"/>
              <a:ext cx="238506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D5EF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21" name="머리 선"/>
            <p:cNvCxnSpPr/>
            <p:nvPr/>
          </p:nvCxnSpPr>
          <p:spPr>
            <a:xfrm>
              <a:off x="381000" y="4876800"/>
              <a:ext cx="2400300" cy="0"/>
            </a:xfrm>
            <a:prstGeom prst="line">
              <a:avLst/>
            </a:prstGeom>
            <a:ln w="10668">
              <a:solidFill>
                <a:srgbClr val="1E6B4F"/>
              </a:solidFill>
            </a:ln>
          </p:spPr>
        </p:cxnSp>
        <p:sp>
          <p:nvSpPr>
            <p:cNvPr id="222" name="테이블 이름"/>
            <p:cNvSpPr txBox="1"/>
            <p:nvPr/>
          </p:nvSpPr>
          <p:spPr>
            <a:xfrm>
              <a:off x="487680" y="4632960"/>
              <a:ext cx="120015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전환 실행</a:t>
              </a:r>
            </a:p>
          </p:txBody>
        </p:sp>
        <p:sp>
          <p:nvSpPr>
            <p:cNvPr id="223" name="한글 이름"/>
            <p:cNvSpPr txBox="1"/>
            <p:nvPr/>
          </p:nvSpPr>
          <p:spPr>
            <a:xfrm>
              <a:off x="1581150" y="4632960"/>
              <a:ext cx="109347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cutover_run</a:t>
              </a:r>
            </a:p>
          </p:txBody>
        </p:sp>
        <p:cxnSp>
          <p:nvCxnSpPr>
            <p:cNvPr id="224" name="PK 구분선"/>
            <p:cNvCxnSpPr/>
            <p:nvPr/>
          </p:nvCxnSpPr>
          <p:spPr>
            <a:xfrm>
              <a:off x="457200" y="5105400"/>
              <a:ext cx="224790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225" name="PK 키"/>
            <p:cNvSpPr txBox="1"/>
            <p:nvPr/>
          </p:nvSpPr>
          <p:spPr>
            <a:xfrm>
              <a:off x="472440" y="4922520"/>
              <a:ext cx="25908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226" name="PK 이름"/>
            <p:cNvSpPr txBox="1"/>
            <p:nvPr/>
          </p:nvSpPr>
          <p:spPr>
            <a:xfrm>
              <a:off x="731520" y="4922520"/>
              <a:ext cx="8763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전환 ID</a:t>
              </a:r>
            </a:p>
          </p:txBody>
        </p:sp>
        <p:sp>
          <p:nvSpPr>
            <p:cNvPr id="227" name="PK 타입"/>
            <p:cNvSpPr txBox="1"/>
            <p:nvPr/>
          </p:nvSpPr>
          <p:spPr>
            <a:xfrm>
              <a:off x="1287780" y="492252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228" name="PK NN"/>
            <p:cNvSpPr txBox="1"/>
            <p:nvPr/>
          </p:nvSpPr>
          <p:spPr>
            <a:xfrm>
              <a:off x="2461260" y="492252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229" name="컬럼 키"/>
            <p:cNvSpPr txBox="1"/>
            <p:nvPr/>
          </p:nvSpPr>
          <p:spPr>
            <a:xfrm>
              <a:off x="472440" y="5135880"/>
              <a:ext cx="259080" cy="609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FK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230" name="컬럼 이름"/>
            <p:cNvSpPr txBox="1"/>
            <p:nvPr/>
          </p:nvSpPr>
          <p:spPr>
            <a:xfrm>
              <a:off x="731520" y="5135880"/>
              <a:ext cx="876300" cy="609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작업 ID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시작 · 끝 시각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전환 상태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소요 시간</a:t>
              </a:r>
            </a:p>
          </p:txBody>
        </p:sp>
        <p:sp>
          <p:nvSpPr>
            <p:cNvPr id="231" name="컬럼 타입"/>
            <p:cNvSpPr txBox="1"/>
            <p:nvPr/>
          </p:nvSpPr>
          <p:spPr>
            <a:xfrm>
              <a:off x="1287780" y="5135880"/>
              <a:ext cx="1143000" cy="609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232" name="컬럼 NN"/>
            <p:cNvSpPr txBox="1"/>
            <p:nvPr/>
          </p:nvSpPr>
          <p:spPr>
            <a:xfrm>
              <a:off x="2461260" y="5135880"/>
              <a:ext cx="228600" cy="609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</p:grpSp>
      <p:grpSp>
        <p:nvGrpSpPr>
          <p:cNvPr id="233" name="엔터티 전환 단계"/>
          <p:cNvGrpSpPr/>
          <p:nvPr/>
        </p:nvGrpSpPr>
        <p:grpSpPr>
          <a:xfrm>
            <a:off x="3390900" y="4632960"/>
            <a:ext cx="2400300" cy="1158240"/>
            <a:chOff x="3390900" y="4632960"/>
            <a:chExt cx="2400300" cy="1158240"/>
          </a:xfrm>
        </p:grpSpPr>
        <p:sp>
          <p:nvSpPr>
            <p:cNvPr id="234" name="테두리"/>
            <p:cNvSpPr/>
            <p:nvPr/>
          </p:nvSpPr>
          <p:spPr>
            <a:xfrm>
              <a:off x="3390900" y="4632960"/>
              <a:ext cx="2400300" cy="1158240"/>
            </a:xfrm>
            <a:prstGeom prst="roundRect">
              <a:avLst>
                <a:gd name="adj" fmla="val 6578"/>
              </a:avLst>
            </a:prstGeom>
            <a:solidFill>
              <a:srgbClr val="FFFFFF"/>
            </a:solidFill>
            <a:ln w="13716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5" name="머리"/>
            <p:cNvSpPr/>
            <p:nvPr/>
          </p:nvSpPr>
          <p:spPr>
            <a:xfrm>
              <a:off x="3398520" y="4640580"/>
              <a:ext cx="238506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D5EF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36" name="머리 선"/>
            <p:cNvCxnSpPr/>
            <p:nvPr/>
          </p:nvCxnSpPr>
          <p:spPr>
            <a:xfrm>
              <a:off x="3390900" y="4876800"/>
              <a:ext cx="2400300" cy="0"/>
            </a:xfrm>
            <a:prstGeom prst="line">
              <a:avLst/>
            </a:prstGeom>
            <a:ln w="10668">
              <a:solidFill>
                <a:srgbClr val="1E6B4F"/>
              </a:solidFill>
            </a:ln>
          </p:spPr>
        </p:cxnSp>
        <p:sp>
          <p:nvSpPr>
            <p:cNvPr id="237" name="테이블 이름"/>
            <p:cNvSpPr txBox="1"/>
            <p:nvPr/>
          </p:nvSpPr>
          <p:spPr>
            <a:xfrm>
              <a:off x="3497580" y="4632960"/>
              <a:ext cx="120015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전환 단계</a:t>
              </a:r>
            </a:p>
          </p:txBody>
        </p:sp>
        <p:sp>
          <p:nvSpPr>
            <p:cNvPr id="238" name="한글 이름"/>
            <p:cNvSpPr txBox="1"/>
            <p:nvPr/>
          </p:nvSpPr>
          <p:spPr>
            <a:xfrm>
              <a:off x="4591050" y="4632960"/>
              <a:ext cx="109347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cutover_step</a:t>
              </a:r>
            </a:p>
          </p:txBody>
        </p:sp>
        <p:cxnSp>
          <p:nvCxnSpPr>
            <p:cNvPr id="239" name="PK 구분선"/>
            <p:cNvCxnSpPr/>
            <p:nvPr/>
          </p:nvCxnSpPr>
          <p:spPr>
            <a:xfrm>
              <a:off x="3467100" y="5257800"/>
              <a:ext cx="224790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240" name="PK 키"/>
            <p:cNvSpPr txBox="1"/>
            <p:nvPr/>
          </p:nvSpPr>
          <p:spPr>
            <a:xfrm>
              <a:off x="3482340" y="4922520"/>
              <a:ext cx="259080" cy="3048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241" name="PK 이름"/>
            <p:cNvSpPr txBox="1"/>
            <p:nvPr/>
          </p:nvSpPr>
          <p:spPr>
            <a:xfrm>
              <a:off x="3741420" y="4922520"/>
              <a:ext cx="876300" cy="3048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전환 ID (FK)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단계 번호</a:t>
              </a:r>
            </a:p>
          </p:txBody>
        </p:sp>
        <p:sp>
          <p:nvSpPr>
            <p:cNvPr id="242" name="PK 타입"/>
            <p:cNvSpPr txBox="1"/>
            <p:nvPr/>
          </p:nvSpPr>
          <p:spPr>
            <a:xfrm>
              <a:off x="4297680" y="4922520"/>
              <a:ext cx="1143000" cy="3048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243" name="PK NN"/>
            <p:cNvSpPr txBox="1"/>
            <p:nvPr/>
          </p:nvSpPr>
          <p:spPr>
            <a:xfrm>
              <a:off x="5471160" y="4922520"/>
              <a:ext cx="228600" cy="3048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244" name="컬럼 이름"/>
            <p:cNvSpPr txBox="1"/>
            <p:nvPr/>
          </p:nvSpPr>
          <p:spPr>
            <a:xfrm>
              <a:off x="3741420" y="5288280"/>
              <a:ext cx="876300" cy="457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단계 이름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단계 상태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소요 시간</a:t>
              </a:r>
            </a:p>
          </p:txBody>
        </p:sp>
        <p:sp>
          <p:nvSpPr>
            <p:cNvPr id="245" name="컬럼 타입"/>
            <p:cNvSpPr txBox="1"/>
            <p:nvPr/>
          </p:nvSpPr>
          <p:spPr>
            <a:xfrm>
              <a:off x="4297680" y="5288280"/>
              <a:ext cx="1143000" cy="457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246" name="컬럼 NN"/>
            <p:cNvSpPr txBox="1"/>
            <p:nvPr/>
          </p:nvSpPr>
          <p:spPr>
            <a:xfrm>
              <a:off x="5471160" y="5288280"/>
              <a:ext cx="228600" cy="457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</p:grpSp>
      <p:grpSp>
        <p:nvGrpSpPr>
          <p:cNvPr id="247" name="엔터티 작업 테이블"/>
          <p:cNvGrpSpPr/>
          <p:nvPr/>
        </p:nvGrpSpPr>
        <p:grpSpPr>
          <a:xfrm>
            <a:off x="6400800" y="4632960"/>
            <a:ext cx="2400300" cy="1310640"/>
            <a:chOff x="6400800" y="4632960"/>
            <a:chExt cx="2400300" cy="1310640"/>
          </a:xfrm>
        </p:grpSpPr>
        <p:sp>
          <p:nvSpPr>
            <p:cNvPr id="248" name="테두리"/>
            <p:cNvSpPr/>
            <p:nvPr/>
          </p:nvSpPr>
          <p:spPr>
            <a:xfrm>
              <a:off x="6400800" y="4632960"/>
              <a:ext cx="2400300" cy="1310640"/>
            </a:xfrm>
            <a:prstGeom prst="roundRect">
              <a:avLst>
                <a:gd name="adj" fmla="val 5813"/>
              </a:avLst>
            </a:prstGeom>
            <a:solidFill>
              <a:srgbClr val="FFFFFF"/>
            </a:solidFill>
            <a:ln w="13716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9" name="머리"/>
            <p:cNvSpPr/>
            <p:nvPr/>
          </p:nvSpPr>
          <p:spPr>
            <a:xfrm>
              <a:off x="6408420" y="4640580"/>
              <a:ext cx="238506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D5EF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50" name="머리 선"/>
            <p:cNvCxnSpPr/>
            <p:nvPr/>
          </p:nvCxnSpPr>
          <p:spPr>
            <a:xfrm>
              <a:off x="6400800" y="4876800"/>
              <a:ext cx="2400300" cy="0"/>
            </a:xfrm>
            <a:prstGeom prst="line">
              <a:avLst/>
            </a:prstGeom>
            <a:ln w="10668">
              <a:solidFill>
                <a:srgbClr val="1E6B4F"/>
              </a:solidFill>
            </a:ln>
          </p:spPr>
        </p:cxnSp>
        <p:sp>
          <p:nvSpPr>
            <p:cNvPr id="251" name="테이블 이름"/>
            <p:cNvSpPr txBox="1"/>
            <p:nvPr/>
          </p:nvSpPr>
          <p:spPr>
            <a:xfrm>
              <a:off x="6507480" y="4632960"/>
              <a:ext cx="120015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작업 테이블</a:t>
              </a:r>
            </a:p>
          </p:txBody>
        </p:sp>
        <p:sp>
          <p:nvSpPr>
            <p:cNvPr id="252" name="한글 이름"/>
            <p:cNvSpPr txBox="1"/>
            <p:nvPr/>
          </p:nvSpPr>
          <p:spPr>
            <a:xfrm>
              <a:off x="7600950" y="4632960"/>
              <a:ext cx="109347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job_table</a:t>
              </a:r>
            </a:p>
          </p:txBody>
        </p:sp>
        <p:cxnSp>
          <p:nvCxnSpPr>
            <p:cNvPr id="253" name="PK 구분선"/>
            <p:cNvCxnSpPr/>
            <p:nvPr/>
          </p:nvCxnSpPr>
          <p:spPr>
            <a:xfrm>
              <a:off x="6477000" y="5105400"/>
              <a:ext cx="224790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254" name="PK 키"/>
            <p:cNvSpPr txBox="1"/>
            <p:nvPr/>
          </p:nvSpPr>
          <p:spPr>
            <a:xfrm>
              <a:off x="6492240" y="4922520"/>
              <a:ext cx="25908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255" name="PK 이름"/>
            <p:cNvSpPr txBox="1"/>
            <p:nvPr/>
          </p:nvSpPr>
          <p:spPr>
            <a:xfrm>
              <a:off x="6751320" y="4922520"/>
              <a:ext cx="8763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작업 테이블 ID</a:t>
              </a:r>
            </a:p>
          </p:txBody>
        </p:sp>
        <p:sp>
          <p:nvSpPr>
            <p:cNvPr id="256" name="PK 타입"/>
            <p:cNvSpPr txBox="1"/>
            <p:nvPr/>
          </p:nvSpPr>
          <p:spPr>
            <a:xfrm>
              <a:off x="7307580" y="492252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257" name="PK NN"/>
            <p:cNvSpPr txBox="1"/>
            <p:nvPr/>
          </p:nvSpPr>
          <p:spPr>
            <a:xfrm>
              <a:off x="8481060" y="492252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258" name="컬럼 키"/>
            <p:cNvSpPr txBox="1"/>
            <p:nvPr/>
          </p:nvSpPr>
          <p:spPr>
            <a:xfrm>
              <a:off x="6492240" y="5135880"/>
              <a:ext cx="259080" cy="762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FK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UK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UK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259" name="컬럼 이름"/>
            <p:cNvSpPr txBox="1"/>
            <p:nvPr/>
          </p:nvSpPr>
          <p:spPr>
            <a:xfrm>
              <a:off x="6751320" y="5135880"/>
              <a:ext cx="876300" cy="762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작업 ID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원천 스키마 · 테이블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대상 스키마 · 테이블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테이블 상태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마지막 반영 위치</a:t>
              </a:r>
            </a:p>
          </p:txBody>
        </p:sp>
        <p:sp>
          <p:nvSpPr>
            <p:cNvPr id="260" name="컬럼 타입"/>
            <p:cNvSpPr txBox="1"/>
            <p:nvPr/>
          </p:nvSpPr>
          <p:spPr>
            <a:xfrm>
              <a:off x="7307580" y="5135880"/>
              <a:ext cx="1143000" cy="762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261" name="컬럼 NN"/>
            <p:cNvSpPr txBox="1"/>
            <p:nvPr/>
          </p:nvSpPr>
          <p:spPr>
            <a:xfrm>
              <a:off x="8481060" y="5135880"/>
              <a:ext cx="228600" cy="762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</p:grpSp>
      <p:grpSp>
        <p:nvGrpSpPr>
          <p:cNvPr id="262" name="엔터티 적재 구간"/>
          <p:cNvGrpSpPr/>
          <p:nvPr/>
        </p:nvGrpSpPr>
        <p:grpSpPr>
          <a:xfrm>
            <a:off x="9410700" y="4632960"/>
            <a:ext cx="2400300" cy="1158240"/>
            <a:chOff x="9410700" y="4632960"/>
            <a:chExt cx="2400300" cy="1158240"/>
          </a:xfrm>
        </p:grpSpPr>
        <p:sp>
          <p:nvSpPr>
            <p:cNvPr id="263" name="테두리"/>
            <p:cNvSpPr/>
            <p:nvPr/>
          </p:nvSpPr>
          <p:spPr>
            <a:xfrm>
              <a:off x="9410700" y="4632960"/>
              <a:ext cx="2400300" cy="1158240"/>
            </a:xfrm>
            <a:prstGeom prst="roundRect">
              <a:avLst>
                <a:gd name="adj" fmla="val 6578"/>
              </a:avLst>
            </a:prstGeom>
            <a:solidFill>
              <a:srgbClr val="FFFFFF"/>
            </a:solidFill>
            <a:ln w="13716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4" name="머리"/>
            <p:cNvSpPr/>
            <p:nvPr/>
          </p:nvSpPr>
          <p:spPr>
            <a:xfrm>
              <a:off x="9418320" y="4640580"/>
              <a:ext cx="238506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D5EF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65" name="머리 선"/>
            <p:cNvCxnSpPr/>
            <p:nvPr/>
          </p:nvCxnSpPr>
          <p:spPr>
            <a:xfrm>
              <a:off x="9410700" y="4876800"/>
              <a:ext cx="2400300" cy="0"/>
            </a:xfrm>
            <a:prstGeom prst="line">
              <a:avLst/>
            </a:prstGeom>
            <a:ln w="10668">
              <a:solidFill>
                <a:srgbClr val="1E6B4F"/>
              </a:solidFill>
            </a:ln>
          </p:spPr>
        </p:cxnSp>
        <p:sp>
          <p:nvSpPr>
            <p:cNvPr id="266" name="테이블 이름"/>
            <p:cNvSpPr txBox="1"/>
            <p:nvPr/>
          </p:nvSpPr>
          <p:spPr>
            <a:xfrm>
              <a:off x="9517380" y="4632960"/>
              <a:ext cx="120015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적재 구간</a:t>
              </a:r>
            </a:p>
          </p:txBody>
        </p:sp>
        <p:sp>
          <p:nvSpPr>
            <p:cNvPr id="267" name="한글 이름"/>
            <p:cNvSpPr txBox="1"/>
            <p:nvPr/>
          </p:nvSpPr>
          <p:spPr>
            <a:xfrm>
              <a:off x="10610850" y="4632960"/>
              <a:ext cx="109347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load_chunk</a:t>
              </a:r>
            </a:p>
          </p:txBody>
        </p:sp>
        <p:cxnSp>
          <p:nvCxnSpPr>
            <p:cNvPr id="268" name="PK 구분선"/>
            <p:cNvCxnSpPr/>
            <p:nvPr/>
          </p:nvCxnSpPr>
          <p:spPr>
            <a:xfrm>
              <a:off x="9486900" y="5105400"/>
              <a:ext cx="224790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269" name="PK 키"/>
            <p:cNvSpPr txBox="1"/>
            <p:nvPr/>
          </p:nvSpPr>
          <p:spPr>
            <a:xfrm>
              <a:off x="9502140" y="4922520"/>
              <a:ext cx="25908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270" name="PK 이름"/>
            <p:cNvSpPr txBox="1"/>
            <p:nvPr/>
          </p:nvSpPr>
          <p:spPr>
            <a:xfrm>
              <a:off x="9761220" y="4922520"/>
              <a:ext cx="8763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구간 ID</a:t>
              </a:r>
            </a:p>
          </p:txBody>
        </p:sp>
        <p:sp>
          <p:nvSpPr>
            <p:cNvPr id="271" name="PK 타입"/>
            <p:cNvSpPr txBox="1"/>
            <p:nvPr/>
          </p:nvSpPr>
          <p:spPr>
            <a:xfrm>
              <a:off x="10317480" y="492252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272" name="PK NN"/>
            <p:cNvSpPr txBox="1"/>
            <p:nvPr/>
          </p:nvSpPr>
          <p:spPr>
            <a:xfrm>
              <a:off x="11490960" y="492252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273" name="컬럼 키"/>
            <p:cNvSpPr txBox="1"/>
            <p:nvPr/>
          </p:nvSpPr>
          <p:spPr>
            <a:xfrm>
              <a:off x="9502140" y="5135880"/>
              <a:ext cx="259080" cy="609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FK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UK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274" name="컬럼 이름"/>
            <p:cNvSpPr txBox="1"/>
            <p:nvPr/>
          </p:nvSpPr>
          <p:spPr>
            <a:xfrm>
              <a:off x="9761220" y="5135880"/>
              <a:ext cx="876300" cy="609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작업 테이블 ID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구간 번호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구간 하한 · 상한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구간 상태</a:t>
              </a:r>
            </a:p>
          </p:txBody>
        </p:sp>
        <p:sp>
          <p:nvSpPr>
            <p:cNvPr id="275" name="컬럼 타입"/>
            <p:cNvSpPr txBox="1"/>
            <p:nvPr/>
          </p:nvSpPr>
          <p:spPr>
            <a:xfrm>
              <a:off x="10317480" y="5135880"/>
              <a:ext cx="1143000" cy="609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276" name="컬럼 NN"/>
            <p:cNvSpPr txBox="1"/>
            <p:nvPr/>
          </p:nvSpPr>
          <p:spPr>
            <a:xfrm>
              <a:off x="11490960" y="5135880"/>
              <a:ext cx="228600" cy="609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</p:grpSp>
      <p:sp>
        <p:nvSpPr>
          <p:cNvPr id="277" name="범례"/>
          <p:cNvSpPr/>
          <p:nvPr/>
        </p:nvSpPr>
        <p:spPr>
          <a:xfrm>
            <a:off x="381000" y="6309360"/>
            <a:ext cx="6803898" cy="39624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0668">
            <a:solidFill>
              <a:srgbClr val="9DD3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범례 제목"/>
          <p:cNvSpPr txBox="1"/>
          <p:nvPr/>
        </p:nvSpPr>
        <p:spPr>
          <a:xfrm>
            <a:off x="518160" y="6309360"/>
            <a:ext cx="3810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범례</a:t>
            </a:r>
          </a:p>
        </p:txBody>
      </p:sp>
      <p:cxnSp>
        <p:nvCxnSpPr>
          <p:cNvPr id="279" name="범례 정확히 1"/>
          <p:cNvCxnSpPr/>
          <p:nvPr/>
        </p:nvCxnSpPr>
        <p:spPr>
          <a:xfrm>
            <a:off x="914400" y="6507480"/>
            <a:ext cx="350520" cy="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cxnSp>
        <p:nvCxnSpPr>
          <p:cNvPr id="280" name="관계 기호"/>
          <p:cNvCxnSpPr/>
          <p:nvPr/>
        </p:nvCxnSpPr>
        <p:spPr>
          <a:xfrm flipV="1">
            <a:off x="1188720" y="6446520"/>
            <a:ext cx="0" cy="12192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cxnSp>
        <p:nvCxnSpPr>
          <p:cNvPr id="281" name="관계 기호"/>
          <p:cNvCxnSpPr/>
          <p:nvPr/>
        </p:nvCxnSpPr>
        <p:spPr>
          <a:xfrm flipV="1">
            <a:off x="1135380" y="6446520"/>
            <a:ext cx="0" cy="12192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sp>
        <p:nvSpPr>
          <p:cNvPr id="282" name="범례 글 정확히 1"/>
          <p:cNvSpPr txBox="1"/>
          <p:nvPr/>
        </p:nvSpPr>
        <p:spPr>
          <a:xfrm>
            <a:off x="1341120" y="6309360"/>
            <a:ext cx="683514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정확히 1</a:t>
            </a:r>
          </a:p>
        </p:txBody>
      </p:sp>
      <p:cxnSp>
        <p:nvCxnSpPr>
          <p:cNvPr id="283" name="범례 0 또는 1"/>
          <p:cNvCxnSpPr/>
          <p:nvPr/>
        </p:nvCxnSpPr>
        <p:spPr>
          <a:xfrm>
            <a:off x="2100834" y="6507480"/>
            <a:ext cx="350520" cy="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cxnSp>
        <p:nvCxnSpPr>
          <p:cNvPr id="284" name="관계 기호"/>
          <p:cNvCxnSpPr/>
          <p:nvPr/>
        </p:nvCxnSpPr>
        <p:spPr>
          <a:xfrm flipV="1">
            <a:off x="2375154" y="6446520"/>
            <a:ext cx="0" cy="12192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sp>
        <p:nvSpPr>
          <p:cNvPr id="285" name="관계 기호 0"/>
          <p:cNvSpPr/>
          <p:nvPr/>
        </p:nvSpPr>
        <p:spPr>
          <a:xfrm>
            <a:off x="2222754" y="6461760"/>
            <a:ext cx="91440" cy="914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6B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범례 글 0 또는 1"/>
          <p:cNvSpPr txBox="1"/>
          <p:nvPr/>
        </p:nvSpPr>
        <p:spPr>
          <a:xfrm>
            <a:off x="2527554" y="6309360"/>
            <a:ext cx="696468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0 또는 1</a:t>
            </a:r>
          </a:p>
        </p:txBody>
      </p:sp>
      <p:cxnSp>
        <p:nvCxnSpPr>
          <p:cNvPr id="287" name="범례 0 이상 (N)"/>
          <p:cNvCxnSpPr/>
          <p:nvPr/>
        </p:nvCxnSpPr>
        <p:spPr>
          <a:xfrm>
            <a:off x="3300222" y="6507480"/>
            <a:ext cx="350520" cy="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cxnSp>
        <p:nvCxnSpPr>
          <p:cNvPr id="288" name="관계 기호"/>
          <p:cNvCxnSpPr/>
          <p:nvPr/>
        </p:nvCxnSpPr>
        <p:spPr>
          <a:xfrm>
            <a:off x="3528822" y="6507480"/>
            <a:ext cx="121920" cy="6858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cxnSp>
        <p:nvCxnSpPr>
          <p:cNvPr id="289" name="관계 기호"/>
          <p:cNvCxnSpPr/>
          <p:nvPr/>
        </p:nvCxnSpPr>
        <p:spPr>
          <a:xfrm>
            <a:off x="3528822" y="6507480"/>
            <a:ext cx="121920" cy="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cxnSp>
        <p:nvCxnSpPr>
          <p:cNvPr id="290" name="관계 기호"/>
          <p:cNvCxnSpPr/>
          <p:nvPr/>
        </p:nvCxnSpPr>
        <p:spPr>
          <a:xfrm flipV="1">
            <a:off x="3528822" y="6438900"/>
            <a:ext cx="121920" cy="6858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sp>
        <p:nvSpPr>
          <p:cNvPr id="291" name="관계 기호 0"/>
          <p:cNvSpPr/>
          <p:nvPr/>
        </p:nvSpPr>
        <p:spPr>
          <a:xfrm>
            <a:off x="3391662" y="6461760"/>
            <a:ext cx="91440" cy="914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6B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범례 글 0 이상 (N)"/>
          <p:cNvSpPr txBox="1"/>
          <p:nvPr/>
        </p:nvSpPr>
        <p:spPr>
          <a:xfrm>
            <a:off x="3726942" y="6309360"/>
            <a:ext cx="838962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0 이상 (N)</a:t>
            </a:r>
          </a:p>
        </p:txBody>
      </p:sp>
      <p:cxnSp>
        <p:nvCxnSpPr>
          <p:cNvPr id="293" name="범례 식별 관계"/>
          <p:cNvCxnSpPr/>
          <p:nvPr/>
        </p:nvCxnSpPr>
        <p:spPr>
          <a:xfrm>
            <a:off x="4642104" y="6507480"/>
            <a:ext cx="350520" cy="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sp>
        <p:nvSpPr>
          <p:cNvPr id="294" name="범례 글 식별 관계"/>
          <p:cNvSpPr txBox="1"/>
          <p:nvPr/>
        </p:nvSpPr>
        <p:spPr>
          <a:xfrm>
            <a:off x="5068824" y="6309360"/>
            <a:ext cx="741807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식별 관계</a:t>
            </a:r>
          </a:p>
        </p:txBody>
      </p:sp>
      <p:cxnSp>
        <p:nvCxnSpPr>
          <p:cNvPr id="295" name="범례 비식별 관계"/>
          <p:cNvCxnSpPr/>
          <p:nvPr/>
        </p:nvCxnSpPr>
        <p:spPr>
          <a:xfrm>
            <a:off x="5886831" y="6507480"/>
            <a:ext cx="350520" cy="0"/>
          </a:xfrm>
          <a:prstGeom prst="line">
            <a:avLst/>
          </a:prstGeom>
          <a:ln w="15240">
            <a:solidFill>
              <a:srgbClr val="1E6B4F"/>
            </a:solidFill>
            <a:prstDash val="dash"/>
          </a:ln>
        </p:spPr>
      </p:cxnSp>
      <p:sp>
        <p:nvSpPr>
          <p:cNvPr id="296" name="범례 글 비식별 관계"/>
          <p:cNvSpPr txBox="1"/>
          <p:nvPr/>
        </p:nvSpPr>
        <p:spPr>
          <a:xfrm>
            <a:off x="6313551" y="6309360"/>
            <a:ext cx="871347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비식별 관계</a:t>
            </a:r>
          </a:p>
        </p:txBody>
      </p:sp>
      <p:sp>
        <p:nvSpPr>
          <p:cNvPr id="297" name="설명"/>
          <p:cNvSpPr txBox="1"/>
          <p:nvPr/>
        </p:nvSpPr>
        <p:spPr>
          <a:xfrm>
            <a:off x="7594092" y="6347460"/>
            <a:ext cx="4216908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작업 1건 = 원천 DB 1 → 대상 DB 1 · 스키마 버전은 관계 없음</a:t>
            </a:r>
          </a:p>
        </p:txBody>
      </p:sp>
      <p:sp>
        <p:nvSpPr>
          <p:cNvPr id="298" name="설명"/>
          <p:cNvSpPr txBox="1"/>
          <p:nvPr/>
        </p:nvSpPr>
        <p:spPr>
          <a:xfrm>
            <a:off x="8675751" y="6537960"/>
            <a:ext cx="3135249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행 값은 변경 버퍼에만, 반영하면 바로 지운다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막대"/>
          <p:cNvSpPr/>
          <p:nvPr/>
        </p:nvSpPr>
        <p:spPr>
          <a:xfrm>
            <a:off x="381000" y="274320"/>
            <a:ext cx="53340" cy="548640"/>
          </a:xfrm>
          <a:prstGeom prst="roundRect">
            <a:avLst>
              <a:gd name="adj" fmla="val 50000"/>
            </a:avLst>
          </a:pr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제목"/>
          <p:cNvSpPr txBox="1"/>
          <p:nvPr/>
        </p:nvSpPr>
        <p:spPr>
          <a:xfrm>
            <a:off x="533400" y="228600"/>
            <a:ext cx="8001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6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KDMS 관리 테이블 물리 ERD (2/3) 작업·적재·동기화</a:t>
            </a:r>
          </a:p>
        </p:txBody>
      </p:sp>
      <p:sp>
        <p:nvSpPr>
          <p:cNvPr id="4" name="부제"/>
          <p:cNvSpPr txBox="1"/>
          <p:nvPr/>
        </p:nvSpPr>
        <p:spPr>
          <a:xfrm>
            <a:off x="533400" y="64008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80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대상 PostgreSQL 의 kdms 스키마 · 관리 스키마 v3 · IE 표기 · 컬럼 정의는 docs/database.md</a:t>
            </a:r>
          </a:p>
        </p:txBody>
      </p:sp>
      <p:sp>
        <p:nvSpPr>
          <p:cNvPr id="5" name="문서 정보"/>
          <p:cNvSpPr txBox="1"/>
          <p:nvPr/>
        </p:nvSpPr>
        <p:spPr>
          <a:xfrm>
            <a:off x="8382000" y="411480"/>
            <a:ext cx="3429000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KDMS-D05 · v0.3 · 2026-10-09 · 2/3</a:t>
            </a:r>
          </a:p>
        </p:txBody>
      </p:sp>
      <p:grpSp>
        <p:nvGrpSpPr>
          <p:cNvPr id="6" name="관계 job → watermark"/>
          <p:cNvGrpSpPr/>
          <p:nvPr/>
        </p:nvGrpSpPr>
        <p:grpSpPr>
          <a:xfrm>
            <a:off x="3779520" y="1447800"/>
            <a:ext cx="617220" cy="121920"/>
            <a:chOff x="3779520" y="1447800"/>
            <a:chExt cx="617220" cy="121920"/>
          </a:xfrm>
        </p:grpSpPr>
        <p:sp>
          <p:nvSpPr>
            <p:cNvPr id="7" name="관계선"/>
            <p:cNvSpPr/>
            <p:nvPr/>
          </p:nvSpPr>
          <p:spPr>
            <a:xfrm>
              <a:off x="3779520" y="1508760"/>
              <a:ext cx="617220" cy="0"/>
            </a:xfrm>
            <a:custGeom>
              <a:avLst/>
              <a:gdLst/>
              <a:ahLst/>
              <a:cxnLst/>
              <a:rect l="l" t="t" r="r" b="b"/>
              <a:pathLst>
                <a:path w="617220" h="0">
                  <a:moveTo>
                    <a:pt x="61722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관계 기호"/>
            <p:cNvCxnSpPr/>
            <p:nvPr/>
          </p:nvCxnSpPr>
          <p:spPr>
            <a:xfrm flipV="1">
              <a:off x="4320540" y="144780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9" name="관계 기호"/>
            <p:cNvCxnSpPr/>
            <p:nvPr/>
          </p:nvCxnSpPr>
          <p:spPr>
            <a:xfrm flipV="1">
              <a:off x="4267200" y="144780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10" name="관계 기호"/>
            <p:cNvCxnSpPr/>
            <p:nvPr/>
          </p:nvCxnSpPr>
          <p:spPr>
            <a:xfrm>
              <a:off x="3855720" y="144780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11" name="관계 기호 0"/>
            <p:cNvSpPr/>
            <p:nvPr/>
          </p:nvSpPr>
          <p:spPr>
            <a:xfrm>
              <a:off x="3916680" y="146304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" name="관계 job → job_table"/>
          <p:cNvGrpSpPr/>
          <p:nvPr/>
        </p:nvGrpSpPr>
        <p:grpSpPr>
          <a:xfrm>
            <a:off x="7795260" y="1440180"/>
            <a:ext cx="617220" cy="137160"/>
            <a:chOff x="7795260" y="1440180"/>
            <a:chExt cx="617220" cy="137160"/>
          </a:xfrm>
        </p:grpSpPr>
        <p:sp>
          <p:nvSpPr>
            <p:cNvPr id="13" name="관계선"/>
            <p:cNvSpPr/>
            <p:nvPr/>
          </p:nvSpPr>
          <p:spPr>
            <a:xfrm>
              <a:off x="7795260" y="1508760"/>
              <a:ext cx="617220" cy="0"/>
            </a:xfrm>
            <a:custGeom>
              <a:avLst/>
              <a:gdLst/>
              <a:ahLst/>
              <a:cxnLst/>
              <a:rect l="l" t="t" r="r" b="b"/>
              <a:pathLst>
                <a:path w="617220" h="0">
                  <a:moveTo>
                    <a:pt x="0" y="0"/>
                  </a:moveTo>
                  <a:lnTo>
                    <a:pt x="617220" y="0"/>
                  </a:lnTo>
                </a:path>
              </a:pathLst>
            </a:custGeom>
            <a:noFill/>
            <a:ln w="15240">
              <a:solidFill>
                <a:srgbClr val="1E6B4F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관계 기호"/>
            <p:cNvCxnSpPr/>
            <p:nvPr/>
          </p:nvCxnSpPr>
          <p:spPr>
            <a:xfrm>
              <a:off x="7871460" y="144780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15" name="관계 기호"/>
            <p:cNvCxnSpPr/>
            <p:nvPr/>
          </p:nvCxnSpPr>
          <p:spPr>
            <a:xfrm>
              <a:off x="7924800" y="144780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16" name="관계 기호"/>
            <p:cNvCxnSpPr/>
            <p:nvPr/>
          </p:nvCxnSpPr>
          <p:spPr>
            <a:xfrm>
              <a:off x="8290560" y="150876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17" name="관계 기호"/>
            <p:cNvCxnSpPr/>
            <p:nvPr/>
          </p:nvCxnSpPr>
          <p:spPr>
            <a:xfrm>
              <a:off x="8290560" y="150876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18" name="관계 기호"/>
            <p:cNvCxnSpPr/>
            <p:nvPr/>
          </p:nvCxnSpPr>
          <p:spPr>
            <a:xfrm flipV="1">
              <a:off x="8290560" y="144018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19" name="관계 기호 0"/>
            <p:cNvSpPr/>
            <p:nvPr/>
          </p:nvSpPr>
          <p:spPr>
            <a:xfrm>
              <a:off x="8153400" y="146304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관계 job → change_log"/>
          <p:cNvGrpSpPr/>
          <p:nvPr/>
        </p:nvGrpSpPr>
        <p:grpSpPr>
          <a:xfrm>
            <a:off x="3779520" y="2529840"/>
            <a:ext cx="617220" cy="2613660"/>
            <a:chOff x="3779520" y="2529840"/>
            <a:chExt cx="617220" cy="2613660"/>
          </a:xfrm>
        </p:grpSpPr>
        <p:sp>
          <p:nvSpPr>
            <p:cNvPr id="21" name="관계선"/>
            <p:cNvSpPr/>
            <p:nvPr/>
          </p:nvSpPr>
          <p:spPr>
            <a:xfrm>
              <a:off x="3779520" y="2590800"/>
              <a:ext cx="617220" cy="2484120"/>
            </a:xfrm>
            <a:custGeom>
              <a:avLst/>
              <a:gdLst/>
              <a:ahLst/>
              <a:cxnLst/>
              <a:rect l="l" t="t" r="r" b="b"/>
              <a:pathLst>
                <a:path w="617220" h="2484120">
                  <a:moveTo>
                    <a:pt x="617220" y="0"/>
                  </a:moveTo>
                  <a:lnTo>
                    <a:pt x="304800" y="0"/>
                  </a:lnTo>
                  <a:lnTo>
                    <a:pt x="304800" y="2484120"/>
                  </a:lnTo>
                  <a:lnTo>
                    <a:pt x="0" y="2484120"/>
                  </a:lnTo>
                </a:path>
              </a:pathLst>
            </a:custGeom>
            <a:noFill/>
            <a:ln w="15240">
              <a:solidFill>
                <a:srgbClr val="1E6B4F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2" name="관계 기호"/>
            <p:cNvCxnSpPr/>
            <p:nvPr/>
          </p:nvCxnSpPr>
          <p:spPr>
            <a:xfrm flipV="1">
              <a:off x="4320540" y="252984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23" name="관계 기호"/>
            <p:cNvCxnSpPr/>
            <p:nvPr/>
          </p:nvCxnSpPr>
          <p:spPr>
            <a:xfrm flipV="1">
              <a:off x="4267200" y="252984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24" name="관계 기호"/>
            <p:cNvCxnSpPr/>
            <p:nvPr/>
          </p:nvCxnSpPr>
          <p:spPr>
            <a:xfrm flipH="1" flipV="1">
              <a:off x="3779520" y="500634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25" name="관계 기호"/>
            <p:cNvCxnSpPr/>
            <p:nvPr/>
          </p:nvCxnSpPr>
          <p:spPr>
            <a:xfrm flipH="1">
              <a:off x="3779520" y="507492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26" name="관계 기호"/>
            <p:cNvCxnSpPr/>
            <p:nvPr/>
          </p:nvCxnSpPr>
          <p:spPr>
            <a:xfrm flipH="1">
              <a:off x="3779520" y="507492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27" name="관계 기호 0"/>
            <p:cNvSpPr/>
            <p:nvPr/>
          </p:nvSpPr>
          <p:spPr>
            <a:xfrm>
              <a:off x="3947160" y="502920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" name="관계 job_table → load_chunk"/>
          <p:cNvGrpSpPr/>
          <p:nvPr/>
        </p:nvGrpSpPr>
        <p:grpSpPr>
          <a:xfrm>
            <a:off x="7795260" y="3817620"/>
            <a:ext cx="617220" cy="137160"/>
            <a:chOff x="7795260" y="3817620"/>
            <a:chExt cx="617220" cy="137160"/>
          </a:xfrm>
        </p:grpSpPr>
        <p:sp>
          <p:nvSpPr>
            <p:cNvPr id="29" name="관계선"/>
            <p:cNvSpPr/>
            <p:nvPr/>
          </p:nvSpPr>
          <p:spPr>
            <a:xfrm>
              <a:off x="7795260" y="3886200"/>
              <a:ext cx="617220" cy="0"/>
            </a:xfrm>
            <a:custGeom>
              <a:avLst/>
              <a:gdLst/>
              <a:ahLst/>
              <a:cxnLst/>
              <a:rect l="l" t="t" r="r" b="b"/>
              <a:pathLst>
                <a:path w="617220" h="0">
                  <a:moveTo>
                    <a:pt x="61722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E6B4F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0" name="관계 기호"/>
            <p:cNvCxnSpPr/>
            <p:nvPr/>
          </p:nvCxnSpPr>
          <p:spPr>
            <a:xfrm flipV="1">
              <a:off x="8336280" y="382524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31" name="관계 기호"/>
            <p:cNvCxnSpPr/>
            <p:nvPr/>
          </p:nvCxnSpPr>
          <p:spPr>
            <a:xfrm flipV="1">
              <a:off x="8282940" y="382524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32" name="관계 기호"/>
            <p:cNvCxnSpPr/>
            <p:nvPr/>
          </p:nvCxnSpPr>
          <p:spPr>
            <a:xfrm flipH="1" flipV="1">
              <a:off x="7795260" y="381762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33" name="관계 기호"/>
            <p:cNvCxnSpPr/>
            <p:nvPr/>
          </p:nvCxnSpPr>
          <p:spPr>
            <a:xfrm flipH="1">
              <a:off x="7795260" y="388620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34" name="관계 기호"/>
            <p:cNvCxnSpPr/>
            <p:nvPr/>
          </p:nvCxnSpPr>
          <p:spPr>
            <a:xfrm flipH="1">
              <a:off x="7795260" y="388620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35" name="관계 기호 0"/>
            <p:cNvSpPr/>
            <p:nvPr/>
          </p:nvSpPr>
          <p:spPr>
            <a:xfrm>
              <a:off x="7962900" y="384048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" name="엔터티 watermark"/>
          <p:cNvGrpSpPr/>
          <p:nvPr/>
        </p:nvGrpSpPr>
        <p:grpSpPr>
          <a:xfrm>
            <a:off x="381000" y="975360"/>
            <a:ext cx="3398520" cy="2834640"/>
            <a:chOff x="381000" y="975360"/>
            <a:chExt cx="3398520" cy="2834640"/>
          </a:xfrm>
        </p:grpSpPr>
        <p:sp>
          <p:nvSpPr>
            <p:cNvPr id="37" name="테두리"/>
            <p:cNvSpPr/>
            <p:nvPr/>
          </p:nvSpPr>
          <p:spPr>
            <a:xfrm>
              <a:off x="381000" y="975360"/>
              <a:ext cx="3398520" cy="2834640"/>
            </a:xfrm>
            <a:prstGeom prst="roundRect">
              <a:avLst>
                <a:gd name="adj" fmla="val 2688"/>
              </a:avLst>
            </a:prstGeom>
            <a:solidFill>
              <a:srgbClr val="FFFFFF"/>
            </a:solidFill>
            <a:ln w="13716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머리"/>
            <p:cNvSpPr/>
            <p:nvPr/>
          </p:nvSpPr>
          <p:spPr>
            <a:xfrm>
              <a:off x="388620" y="982980"/>
              <a:ext cx="338328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D5EF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9" name="머리 선"/>
            <p:cNvCxnSpPr/>
            <p:nvPr/>
          </p:nvCxnSpPr>
          <p:spPr>
            <a:xfrm>
              <a:off x="381000" y="1219200"/>
              <a:ext cx="3398520" cy="0"/>
            </a:xfrm>
            <a:prstGeom prst="line">
              <a:avLst/>
            </a:prstGeom>
            <a:ln w="10668">
              <a:solidFill>
                <a:srgbClr val="1E6B4F"/>
              </a:solidFill>
            </a:ln>
          </p:spPr>
        </p:cxnSp>
        <p:sp>
          <p:nvSpPr>
            <p:cNvPr id="40" name="테이블 이름"/>
            <p:cNvSpPr txBox="1"/>
            <p:nvPr/>
          </p:nvSpPr>
          <p:spPr>
            <a:xfrm>
              <a:off x="487680" y="975360"/>
              <a:ext cx="169926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watermark</a:t>
              </a:r>
            </a:p>
          </p:txBody>
        </p:sp>
        <p:sp>
          <p:nvSpPr>
            <p:cNvPr id="41" name="한글 이름"/>
            <p:cNvSpPr txBox="1"/>
            <p:nvPr/>
          </p:nvSpPr>
          <p:spPr>
            <a:xfrm>
              <a:off x="2080260" y="975360"/>
              <a:ext cx="159258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워터마크·반영 위치</a:t>
              </a:r>
            </a:p>
          </p:txBody>
        </p:sp>
        <p:cxnSp>
          <p:nvCxnSpPr>
            <p:cNvPr id="42" name="PK 구분선"/>
            <p:cNvCxnSpPr/>
            <p:nvPr/>
          </p:nvCxnSpPr>
          <p:spPr>
            <a:xfrm>
              <a:off x="457200" y="1447800"/>
              <a:ext cx="324612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43" name="PK 키"/>
            <p:cNvSpPr txBox="1"/>
            <p:nvPr/>
          </p:nvSpPr>
          <p:spPr>
            <a:xfrm>
              <a:off x="472440" y="1264920"/>
              <a:ext cx="25908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44" name="PK 이름"/>
            <p:cNvSpPr txBox="1"/>
            <p:nvPr/>
          </p:nvSpPr>
          <p:spPr>
            <a:xfrm>
              <a:off x="731520" y="1264920"/>
              <a:ext cx="187452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job_id (FK)</a:t>
              </a:r>
            </a:p>
          </p:txBody>
        </p:sp>
        <p:sp>
          <p:nvSpPr>
            <p:cNvPr id="45" name="PK 타입"/>
            <p:cNvSpPr txBox="1"/>
            <p:nvPr/>
          </p:nvSpPr>
          <p:spPr>
            <a:xfrm>
              <a:off x="2286000" y="126492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</p:txBody>
        </p:sp>
        <p:sp>
          <p:nvSpPr>
            <p:cNvPr id="46" name="PK NN"/>
            <p:cNvSpPr txBox="1"/>
            <p:nvPr/>
          </p:nvSpPr>
          <p:spPr>
            <a:xfrm>
              <a:off x="3459480" y="126492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</p:txBody>
        </p:sp>
        <p:sp>
          <p:nvSpPr>
            <p:cNvPr id="47" name="컬럼 이름"/>
            <p:cNvSpPr txBox="1"/>
            <p:nvPr/>
          </p:nvSpPr>
          <p:spPr>
            <a:xfrm>
              <a:off x="731520" y="1478280"/>
              <a:ext cx="1874520" cy="2286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start_lsn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start_recorded_at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applied_commit_lsn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applied_change_lsn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applied_event_serial_no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applied_src_commit_at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applied_at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stream_lsn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src_max_lsn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src_max_lsn_at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pending_changes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lag_seconds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sync_status_at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changes_captured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changes_applied</a:t>
              </a:r>
            </a:p>
          </p:txBody>
        </p:sp>
        <p:sp>
          <p:nvSpPr>
            <p:cNvPr id="48" name="컬럼 타입"/>
            <p:cNvSpPr txBox="1"/>
            <p:nvPr/>
          </p:nvSpPr>
          <p:spPr>
            <a:xfrm>
              <a:off x="2286000" y="1478280"/>
              <a:ext cx="1143000" cy="2286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varchar(24)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timestamptz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varchar(24)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varchar(24)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timestamptz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timestamptz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varchar(24)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varchar(24)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timestamp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numeric(12,3)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timestamptz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</p:txBody>
        </p:sp>
        <p:sp>
          <p:nvSpPr>
            <p:cNvPr id="49" name="컬럼 NN"/>
            <p:cNvSpPr txBox="1"/>
            <p:nvPr/>
          </p:nvSpPr>
          <p:spPr>
            <a:xfrm>
              <a:off x="3459480" y="1478280"/>
              <a:ext cx="228600" cy="2286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</p:txBody>
        </p:sp>
      </p:grpSp>
      <p:grpSp>
        <p:nvGrpSpPr>
          <p:cNvPr id="50" name="엔터티 change_log"/>
          <p:cNvGrpSpPr/>
          <p:nvPr/>
        </p:nvGrpSpPr>
        <p:grpSpPr>
          <a:xfrm>
            <a:off x="381000" y="4038600"/>
            <a:ext cx="3398520" cy="2072640"/>
            <a:chOff x="381000" y="4038600"/>
            <a:chExt cx="3398520" cy="2072640"/>
          </a:xfrm>
        </p:grpSpPr>
        <p:sp>
          <p:nvSpPr>
            <p:cNvPr id="51" name="테두리"/>
            <p:cNvSpPr/>
            <p:nvPr/>
          </p:nvSpPr>
          <p:spPr>
            <a:xfrm>
              <a:off x="381000" y="4038600"/>
              <a:ext cx="3398520" cy="2072640"/>
            </a:xfrm>
            <a:prstGeom prst="roundRect">
              <a:avLst>
                <a:gd name="adj" fmla="val 3676"/>
              </a:avLst>
            </a:prstGeom>
            <a:solidFill>
              <a:srgbClr val="FFFFFF"/>
            </a:solidFill>
            <a:ln w="13716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머리"/>
            <p:cNvSpPr/>
            <p:nvPr/>
          </p:nvSpPr>
          <p:spPr>
            <a:xfrm>
              <a:off x="388620" y="4046220"/>
              <a:ext cx="338328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D5EF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3" name="머리 선"/>
            <p:cNvCxnSpPr/>
            <p:nvPr/>
          </p:nvCxnSpPr>
          <p:spPr>
            <a:xfrm>
              <a:off x="381000" y="4282440"/>
              <a:ext cx="3398520" cy="0"/>
            </a:xfrm>
            <a:prstGeom prst="line">
              <a:avLst/>
            </a:prstGeom>
            <a:ln w="10668">
              <a:solidFill>
                <a:srgbClr val="1E6B4F"/>
              </a:solidFill>
            </a:ln>
          </p:spPr>
        </p:cxnSp>
        <p:sp>
          <p:nvSpPr>
            <p:cNvPr id="54" name="테이블 이름"/>
            <p:cNvSpPr txBox="1"/>
            <p:nvPr/>
          </p:nvSpPr>
          <p:spPr>
            <a:xfrm>
              <a:off x="487680" y="4038600"/>
              <a:ext cx="169926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change_log</a:t>
              </a:r>
            </a:p>
          </p:txBody>
        </p:sp>
        <p:sp>
          <p:nvSpPr>
            <p:cNvPr id="55" name="한글 이름"/>
            <p:cNvSpPr txBox="1"/>
            <p:nvPr/>
          </p:nvSpPr>
          <p:spPr>
            <a:xfrm>
              <a:off x="2080260" y="4038600"/>
              <a:ext cx="159258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반영 전 변경</a:t>
              </a:r>
            </a:p>
          </p:txBody>
        </p:sp>
        <p:cxnSp>
          <p:nvCxnSpPr>
            <p:cNvPr id="56" name="PK 구분선"/>
            <p:cNvCxnSpPr/>
            <p:nvPr/>
          </p:nvCxnSpPr>
          <p:spPr>
            <a:xfrm>
              <a:off x="457200" y="4511040"/>
              <a:ext cx="324612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57" name="PK 키"/>
            <p:cNvSpPr txBox="1"/>
            <p:nvPr/>
          </p:nvSpPr>
          <p:spPr>
            <a:xfrm>
              <a:off x="472440" y="4328160"/>
              <a:ext cx="25908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58" name="PK 이름"/>
            <p:cNvSpPr txBox="1"/>
            <p:nvPr/>
          </p:nvSpPr>
          <p:spPr>
            <a:xfrm>
              <a:off x="731520" y="4328160"/>
              <a:ext cx="187452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change_id</a:t>
              </a:r>
            </a:p>
          </p:txBody>
        </p:sp>
        <p:sp>
          <p:nvSpPr>
            <p:cNvPr id="59" name="PK 타입"/>
            <p:cNvSpPr txBox="1"/>
            <p:nvPr/>
          </p:nvSpPr>
          <p:spPr>
            <a:xfrm>
              <a:off x="2286000" y="432816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</p:txBody>
        </p:sp>
        <p:sp>
          <p:nvSpPr>
            <p:cNvPr id="60" name="PK NN"/>
            <p:cNvSpPr txBox="1"/>
            <p:nvPr/>
          </p:nvSpPr>
          <p:spPr>
            <a:xfrm>
              <a:off x="3459480" y="432816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</p:txBody>
        </p:sp>
        <p:sp>
          <p:nvSpPr>
            <p:cNvPr id="61" name="컬럼 키"/>
            <p:cNvSpPr txBox="1"/>
            <p:nvPr/>
          </p:nvSpPr>
          <p:spPr>
            <a:xfrm>
              <a:off x="472440" y="4541520"/>
              <a:ext cx="259080" cy="1524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FK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UK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UK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UK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62" name="컬럼 이름"/>
            <p:cNvSpPr txBox="1"/>
            <p:nvPr/>
          </p:nvSpPr>
          <p:spPr>
            <a:xfrm>
              <a:off x="731520" y="4541520"/>
              <a:ext cx="1874520" cy="1524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job_id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commit_lsn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change_lsn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event_serial_no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op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src_schema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src_table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payload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src_commit_at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received_at</a:t>
              </a:r>
            </a:p>
          </p:txBody>
        </p:sp>
        <p:sp>
          <p:nvSpPr>
            <p:cNvPr id="63" name="컬럼 타입"/>
            <p:cNvSpPr txBox="1"/>
            <p:nvPr/>
          </p:nvSpPr>
          <p:spPr>
            <a:xfrm>
              <a:off x="2286000" y="4541520"/>
              <a:ext cx="1143000" cy="1524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varchar(24)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varchar(24)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char(1)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varchar(128)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varchar(128)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jsonb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timestamptz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timestamptz</a:t>
              </a:r>
            </a:p>
          </p:txBody>
        </p:sp>
        <p:sp>
          <p:nvSpPr>
            <p:cNvPr id="64" name="컬럼 NN"/>
            <p:cNvSpPr txBox="1"/>
            <p:nvPr/>
          </p:nvSpPr>
          <p:spPr>
            <a:xfrm>
              <a:off x="3459480" y="4541520"/>
              <a:ext cx="228600" cy="1524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</p:txBody>
        </p:sp>
      </p:grpSp>
      <p:grpSp>
        <p:nvGrpSpPr>
          <p:cNvPr id="65" name="엔터티 job"/>
          <p:cNvGrpSpPr/>
          <p:nvPr/>
        </p:nvGrpSpPr>
        <p:grpSpPr>
          <a:xfrm>
            <a:off x="4396740" y="975360"/>
            <a:ext cx="3398520" cy="1920240"/>
            <a:chOff x="4396740" y="975360"/>
            <a:chExt cx="3398520" cy="1920240"/>
          </a:xfrm>
        </p:grpSpPr>
        <p:sp>
          <p:nvSpPr>
            <p:cNvPr id="66" name="테두리"/>
            <p:cNvSpPr/>
            <p:nvPr/>
          </p:nvSpPr>
          <p:spPr>
            <a:xfrm>
              <a:off x="4396740" y="975360"/>
              <a:ext cx="3398520" cy="1920240"/>
            </a:xfrm>
            <a:prstGeom prst="roundRect">
              <a:avLst>
                <a:gd name="adj" fmla="val 3968"/>
              </a:avLst>
            </a:prstGeom>
            <a:solidFill>
              <a:srgbClr val="FFFFFF"/>
            </a:solidFill>
            <a:ln w="13716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머리"/>
            <p:cNvSpPr/>
            <p:nvPr/>
          </p:nvSpPr>
          <p:spPr>
            <a:xfrm>
              <a:off x="4404360" y="982980"/>
              <a:ext cx="338328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D5EF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8" name="머리 선"/>
            <p:cNvCxnSpPr/>
            <p:nvPr/>
          </p:nvCxnSpPr>
          <p:spPr>
            <a:xfrm>
              <a:off x="4396740" y="1219200"/>
              <a:ext cx="3398520" cy="0"/>
            </a:xfrm>
            <a:prstGeom prst="line">
              <a:avLst/>
            </a:prstGeom>
            <a:ln w="10668">
              <a:solidFill>
                <a:srgbClr val="1E6B4F"/>
              </a:solidFill>
            </a:ln>
          </p:spPr>
        </p:cxnSp>
        <p:sp>
          <p:nvSpPr>
            <p:cNvPr id="69" name="테이블 이름"/>
            <p:cNvSpPr txBox="1"/>
            <p:nvPr/>
          </p:nvSpPr>
          <p:spPr>
            <a:xfrm>
              <a:off x="4503420" y="975360"/>
              <a:ext cx="169926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job</a:t>
              </a:r>
            </a:p>
          </p:txBody>
        </p:sp>
        <p:sp>
          <p:nvSpPr>
            <p:cNvPr id="70" name="한글 이름"/>
            <p:cNvSpPr txBox="1"/>
            <p:nvPr/>
          </p:nvSpPr>
          <p:spPr>
            <a:xfrm>
              <a:off x="6096000" y="975360"/>
              <a:ext cx="159258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작업</a:t>
              </a:r>
            </a:p>
          </p:txBody>
        </p:sp>
        <p:cxnSp>
          <p:nvCxnSpPr>
            <p:cNvPr id="71" name="PK 구분선"/>
            <p:cNvCxnSpPr/>
            <p:nvPr/>
          </p:nvCxnSpPr>
          <p:spPr>
            <a:xfrm>
              <a:off x="4472940" y="1447800"/>
              <a:ext cx="324612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72" name="PK 키"/>
            <p:cNvSpPr txBox="1"/>
            <p:nvPr/>
          </p:nvSpPr>
          <p:spPr>
            <a:xfrm>
              <a:off x="4488180" y="1264920"/>
              <a:ext cx="25908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73" name="PK 이름"/>
            <p:cNvSpPr txBox="1"/>
            <p:nvPr/>
          </p:nvSpPr>
          <p:spPr>
            <a:xfrm>
              <a:off x="4747260" y="1264920"/>
              <a:ext cx="187452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job_id</a:t>
              </a:r>
            </a:p>
          </p:txBody>
        </p:sp>
        <p:sp>
          <p:nvSpPr>
            <p:cNvPr id="74" name="PK 타입"/>
            <p:cNvSpPr txBox="1"/>
            <p:nvPr/>
          </p:nvSpPr>
          <p:spPr>
            <a:xfrm>
              <a:off x="6301740" y="126492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</p:txBody>
        </p:sp>
        <p:sp>
          <p:nvSpPr>
            <p:cNvPr id="75" name="PK NN"/>
            <p:cNvSpPr txBox="1"/>
            <p:nvPr/>
          </p:nvSpPr>
          <p:spPr>
            <a:xfrm>
              <a:off x="7475220" y="126492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</p:txBody>
        </p:sp>
        <p:sp>
          <p:nvSpPr>
            <p:cNvPr id="76" name="컬럼 키"/>
            <p:cNvSpPr txBox="1"/>
            <p:nvPr/>
          </p:nvSpPr>
          <p:spPr>
            <a:xfrm>
              <a:off x="4488180" y="1478280"/>
              <a:ext cx="259080" cy="1371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UK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77" name="컬럼 이름"/>
            <p:cNvSpPr txBox="1"/>
            <p:nvPr/>
          </p:nvSpPr>
          <p:spPr>
            <a:xfrm>
              <a:off x="4747260" y="1478280"/>
              <a:ext cx="1874520" cy="1371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job_name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src_server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src_database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tgt_database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status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config_sha256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created_at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updated_at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last_error</a:t>
              </a:r>
            </a:p>
          </p:txBody>
        </p:sp>
        <p:sp>
          <p:nvSpPr>
            <p:cNvPr id="78" name="컬럼 타입"/>
            <p:cNvSpPr txBox="1"/>
            <p:nvPr/>
          </p:nvSpPr>
          <p:spPr>
            <a:xfrm>
              <a:off x="6301740" y="1478280"/>
              <a:ext cx="1143000" cy="1371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varchar(100)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varchar(200)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varchar(128)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varchar(63)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varchar(20)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char(64)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timestamptz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timestamptz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text</a:t>
              </a:r>
            </a:p>
          </p:txBody>
        </p:sp>
        <p:sp>
          <p:nvSpPr>
            <p:cNvPr id="79" name="컬럼 NN"/>
            <p:cNvSpPr txBox="1"/>
            <p:nvPr/>
          </p:nvSpPr>
          <p:spPr>
            <a:xfrm>
              <a:off x="7475220" y="1478280"/>
              <a:ext cx="228600" cy="1371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</p:grpSp>
      <p:grpSp>
        <p:nvGrpSpPr>
          <p:cNvPr id="80" name="엔터티 load_chunk"/>
          <p:cNvGrpSpPr/>
          <p:nvPr/>
        </p:nvGrpSpPr>
        <p:grpSpPr>
          <a:xfrm>
            <a:off x="4396740" y="3429000"/>
            <a:ext cx="3398520" cy="2225040"/>
            <a:chOff x="4396740" y="3429000"/>
            <a:chExt cx="3398520" cy="2225040"/>
          </a:xfrm>
        </p:grpSpPr>
        <p:sp>
          <p:nvSpPr>
            <p:cNvPr id="81" name="테두리"/>
            <p:cNvSpPr/>
            <p:nvPr/>
          </p:nvSpPr>
          <p:spPr>
            <a:xfrm>
              <a:off x="4396740" y="3429000"/>
              <a:ext cx="3398520" cy="2225040"/>
            </a:xfrm>
            <a:prstGeom prst="roundRect">
              <a:avLst>
                <a:gd name="adj" fmla="val 3424"/>
              </a:avLst>
            </a:prstGeom>
            <a:solidFill>
              <a:srgbClr val="FFFFFF"/>
            </a:solidFill>
            <a:ln w="13716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머리"/>
            <p:cNvSpPr/>
            <p:nvPr/>
          </p:nvSpPr>
          <p:spPr>
            <a:xfrm>
              <a:off x="4404360" y="3436620"/>
              <a:ext cx="338328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D5EF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83" name="머리 선"/>
            <p:cNvCxnSpPr/>
            <p:nvPr/>
          </p:nvCxnSpPr>
          <p:spPr>
            <a:xfrm>
              <a:off x="4396740" y="3672840"/>
              <a:ext cx="3398520" cy="0"/>
            </a:xfrm>
            <a:prstGeom prst="line">
              <a:avLst/>
            </a:prstGeom>
            <a:ln w="10668">
              <a:solidFill>
                <a:srgbClr val="1E6B4F"/>
              </a:solidFill>
            </a:ln>
          </p:spPr>
        </p:cxnSp>
        <p:sp>
          <p:nvSpPr>
            <p:cNvPr id="84" name="테이블 이름"/>
            <p:cNvSpPr txBox="1"/>
            <p:nvPr/>
          </p:nvSpPr>
          <p:spPr>
            <a:xfrm>
              <a:off x="4503420" y="3429000"/>
              <a:ext cx="169926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load_chunk</a:t>
              </a:r>
            </a:p>
          </p:txBody>
        </p:sp>
        <p:sp>
          <p:nvSpPr>
            <p:cNvPr id="85" name="한글 이름"/>
            <p:cNvSpPr txBox="1"/>
            <p:nvPr/>
          </p:nvSpPr>
          <p:spPr>
            <a:xfrm>
              <a:off x="6096000" y="3429000"/>
              <a:ext cx="159258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적재 구간</a:t>
              </a:r>
            </a:p>
          </p:txBody>
        </p:sp>
        <p:cxnSp>
          <p:nvCxnSpPr>
            <p:cNvPr id="86" name="PK 구분선"/>
            <p:cNvCxnSpPr/>
            <p:nvPr/>
          </p:nvCxnSpPr>
          <p:spPr>
            <a:xfrm>
              <a:off x="4472940" y="3901440"/>
              <a:ext cx="324612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87" name="PK 키"/>
            <p:cNvSpPr txBox="1"/>
            <p:nvPr/>
          </p:nvSpPr>
          <p:spPr>
            <a:xfrm>
              <a:off x="4488180" y="3718560"/>
              <a:ext cx="25908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88" name="PK 이름"/>
            <p:cNvSpPr txBox="1"/>
            <p:nvPr/>
          </p:nvSpPr>
          <p:spPr>
            <a:xfrm>
              <a:off x="4747260" y="3718560"/>
              <a:ext cx="187452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chunk_id</a:t>
              </a:r>
            </a:p>
          </p:txBody>
        </p:sp>
        <p:sp>
          <p:nvSpPr>
            <p:cNvPr id="89" name="PK 타입"/>
            <p:cNvSpPr txBox="1"/>
            <p:nvPr/>
          </p:nvSpPr>
          <p:spPr>
            <a:xfrm>
              <a:off x="6301740" y="371856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</p:txBody>
        </p:sp>
        <p:sp>
          <p:nvSpPr>
            <p:cNvPr id="90" name="PK NN"/>
            <p:cNvSpPr txBox="1"/>
            <p:nvPr/>
          </p:nvSpPr>
          <p:spPr>
            <a:xfrm>
              <a:off x="7475220" y="371856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</p:txBody>
        </p:sp>
        <p:sp>
          <p:nvSpPr>
            <p:cNvPr id="91" name="컬럼 키"/>
            <p:cNvSpPr txBox="1"/>
            <p:nvPr/>
          </p:nvSpPr>
          <p:spPr>
            <a:xfrm>
              <a:off x="4488180" y="3931920"/>
              <a:ext cx="259080" cy="1676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FK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UK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92" name="컬럼 이름"/>
            <p:cNvSpPr txBox="1"/>
            <p:nvPr/>
          </p:nvSpPr>
          <p:spPr>
            <a:xfrm>
              <a:off x="4747260" y="3931920"/>
              <a:ext cx="1874520" cy="1676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job_table_id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chunk_no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lower_bound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upper_bound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status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row_count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elapsed_ms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attempts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started_at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finished_at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last_error</a:t>
              </a:r>
            </a:p>
          </p:txBody>
        </p:sp>
        <p:sp>
          <p:nvSpPr>
            <p:cNvPr id="93" name="컬럼 타입"/>
            <p:cNvSpPr txBox="1"/>
            <p:nvPr/>
          </p:nvSpPr>
          <p:spPr>
            <a:xfrm>
              <a:off x="6301740" y="3931920"/>
              <a:ext cx="1143000" cy="1676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integer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jsonb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jsonb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varchar(10)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integer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timestamptz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timestamptz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text</a:t>
              </a:r>
            </a:p>
          </p:txBody>
        </p:sp>
        <p:sp>
          <p:nvSpPr>
            <p:cNvPr id="94" name="컬럼 NN"/>
            <p:cNvSpPr txBox="1"/>
            <p:nvPr/>
          </p:nvSpPr>
          <p:spPr>
            <a:xfrm>
              <a:off x="7475220" y="3931920"/>
              <a:ext cx="228600" cy="1676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</p:grpSp>
      <p:grpSp>
        <p:nvGrpSpPr>
          <p:cNvPr id="95" name="엔터티 job_table"/>
          <p:cNvGrpSpPr/>
          <p:nvPr/>
        </p:nvGrpSpPr>
        <p:grpSpPr>
          <a:xfrm>
            <a:off x="8412480" y="975360"/>
            <a:ext cx="3398520" cy="2987040"/>
            <a:chOff x="8412480" y="975360"/>
            <a:chExt cx="3398520" cy="2987040"/>
          </a:xfrm>
        </p:grpSpPr>
        <p:sp>
          <p:nvSpPr>
            <p:cNvPr id="96" name="테두리"/>
            <p:cNvSpPr/>
            <p:nvPr/>
          </p:nvSpPr>
          <p:spPr>
            <a:xfrm>
              <a:off x="8412480" y="975360"/>
              <a:ext cx="3398520" cy="2987040"/>
            </a:xfrm>
            <a:prstGeom prst="roundRect">
              <a:avLst>
                <a:gd name="adj" fmla="val 2551"/>
              </a:avLst>
            </a:prstGeom>
            <a:solidFill>
              <a:srgbClr val="FFFFFF"/>
            </a:solidFill>
            <a:ln w="13716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머리"/>
            <p:cNvSpPr/>
            <p:nvPr/>
          </p:nvSpPr>
          <p:spPr>
            <a:xfrm>
              <a:off x="8420100" y="982980"/>
              <a:ext cx="338328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D5EF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98" name="머리 선"/>
            <p:cNvCxnSpPr/>
            <p:nvPr/>
          </p:nvCxnSpPr>
          <p:spPr>
            <a:xfrm>
              <a:off x="8412480" y="1219200"/>
              <a:ext cx="3398520" cy="0"/>
            </a:xfrm>
            <a:prstGeom prst="line">
              <a:avLst/>
            </a:prstGeom>
            <a:ln w="10668">
              <a:solidFill>
                <a:srgbClr val="1E6B4F"/>
              </a:solidFill>
            </a:ln>
          </p:spPr>
        </p:cxnSp>
        <p:sp>
          <p:nvSpPr>
            <p:cNvPr id="99" name="테이블 이름"/>
            <p:cNvSpPr txBox="1"/>
            <p:nvPr/>
          </p:nvSpPr>
          <p:spPr>
            <a:xfrm>
              <a:off x="8519160" y="975360"/>
              <a:ext cx="169926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job_table</a:t>
              </a:r>
            </a:p>
          </p:txBody>
        </p:sp>
        <p:sp>
          <p:nvSpPr>
            <p:cNvPr id="100" name="한글 이름"/>
            <p:cNvSpPr txBox="1"/>
            <p:nvPr/>
          </p:nvSpPr>
          <p:spPr>
            <a:xfrm>
              <a:off x="10111740" y="975360"/>
              <a:ext cx="159258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작업 테이블</a:t>
              </a:r>
            </a:p>
          </p:txBody>
        </p:sp>
        <p:cxnSp>
          <p:nvCxnSpPr>
            <p:cNvPr id="101" name="PK 구분선"/>
            <p:cNvCxnSpPr/>
            <p:nvPr/>
          </p:nvCxnSpPr>
          <p:spPr>
            <a:xfrm>
              <a:off x="8488680" y="1447800"/>
              <a:ext cx="324612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102" name="PK 키"/>
            <p:cNvSpPr txBox="1"/>
            <p:nvPr/>
          </p:nvSpPr>
          <p:spPr>
            <a:xfrm>
              <a:off x="8503920" y="1264920"/>
              <a:ext cx="25908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103" name="PK 이름"/>
            <p:cNvSpPr txBox="1"/>
            <p:nvPr/>
          </p:nvSpPr>
          <p:spPr>
            <a:xfrm>
              <a:off x="8763000" y="1264920"/>
              <a:ext cx="187452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job_table_id</a:t>
              </a:r>
            </a:p>
          </p:txBody>
        </p:sp>
        <p:sp>
          <p:nvSpPr>
            <p:cNvPr id="104" name="PK 타입"/>
            <p:cNvSpPr txBox="1"/>
            <p:nvPr/>
          </p:nvSpPr>
          <p:spPr>
            <a:xfrm>
              <a:off x="10317480" y="126492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</p:txBody>
        </p:sp>
        <p:sp>
          <p:nvSpPr>
            <p:cNvPr id="105" name="PK NN"/>
            <p:cNvSpPr txBox="1"/>
            <p:nvPr/>
          </p:nvSpPr>
          <p:spPr>
            <a:xfrm>
              <a:off x="11490960" y="126492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</p:txBody>
        </p:sp>
        <p:sp>
          <p:nvSpPr>
            <p:cNvPr id="106" name="컬럼 키"/>
            <p:cNvSpPr txBox="1"/>
            <p:nvPr/>
          </p:nvSpPr>
          <p:spPr>
            <a:xfrm>
              <a:off x="8503920" y="1478280"/>
              <a:ext cx="259080" cy="2438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FK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U1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U1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U2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U2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07" name="컬럼 이름"/>
            <p:cNvSpPr txBox="1"/>
            <p:nvPr/>
          </p:nvSpPr>
          <p:spPr>
            <a:xfrm>
              <a:off x="8763000" y="1478280"/>
              <a:ext cx="1874520" cy="2438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job_id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src_schema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src_table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tgt_schema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tgt_table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has_pk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status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rows_estimate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rows_loaded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load_started_at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load_finished_at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last_error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applied_commit_lsn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applied_change_lsn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applied_event_serial_no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changes_applied</a:t>
              </a:r>
            </a:p>
          </p:txBody>
        </p:sp>
        <p:sp>
          <p:nvSpPr>
            <p:cNvPr id="108" name="컬럼 타입"/>
            <p:cNvSpPr txBox="1"/>
            <p:nvPr/>
          </p:nvSpPr>
          <p:spPr>
            <a:xfrm>
              <a:off x="10317480" y="1478280"/>
              <a:ext cx="1143000" cy="2438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varchar(128)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varchar(128)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varchar(63)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varchar(63)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boolean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varchar(20)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timestamptz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timestamptz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text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varchar(24)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varchar(24)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</p:txBody>
        </p:sp>
        <p:sp>
          <p:nvSpPr>
            <p:cNvPr id="109" name="컬럼 NN"/>
            <p:cNvSpPr txBox="1"/>
            <p:nvPr/>
          </p:nvSpPr>
          <p:spPr>
            <a:xfrm>
              <a:off x="11490960" y="1478280"/>
              <a:ext cx="228600" cy="2438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</p:txBody>
        </p:sp>
      </p:grpSp>
      <p:sp>
        <p:nvSpPr>
          <p:cNvPr id="110" name="블록 Debezium 표 2개 (FK 없음)"/>
          <p:cNvSpPr/>
          <p:nvPr/>
        </p:nvSpPr>
        <p:spPr>
          <a:xfrm>
            <a:off x="8412480" y="4267200"/>
            <a:ext cx="3398520" cy="883920"/>
          </a:xfrm>
          <a:prstGeom prst="roundRect">
            <a:avLst>
              <a:gd name="adj" fmla="val 10344"/>
            </a:avLst>
          </a:prstGeom>
          <a:solidFill>
            <a:srgbClr val="D5EFE2"/>
          </a:solidFill>
          <a:ln w="16764">
            <a:solidFill>
              <a:srgbClr val="1E6B4F"/>
            </a:solidFill>
          </a:ln>
        </p:spPr>
        <p:txBody>
          <a:bodyPr rtlCol="0" anchor="t" lIns="45720" tIns="6096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Debezium 표 2개 (FK 없음)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debezium_offset_&lt;job_id&gt;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debezium_schema_history_&lt;job_id&gt;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Debezium 이 만든다 · database.md §2.13</a:t>
            </a:r>
          </a:p>
        </p:txBody>
      </p:sp>
      <p:sp>
        <p:nvSpPr>
          <p:cNvPr id="111" name="범례"/>
          <p:cNvSpPr/>
          <p:nvPr/>
        </p:nvSpPr>
        <p:spPr>
          <a:xfrm>
            <a:off x="381000" y="6309360"/>
            <a:ext cx="6803898" cy="39624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0668">
            <a:solidFill>
              <a:srgbClr val="9DD3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범례 제목"/>
          <p:cNvSpPr txBox="1"/>
          <p:nvPr/>
        </p:nvSpPr>
        <p:spPr>
          <a:xfrm>
            <a:off x="518160" y="6309360"/>
            <a:ext cx="3810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범례</a:t>
            </a:r>
          </a:p>
        </p:txBody>
      </p:sp>
      <p:cxnSp>
        <p:nvCxnSpPr>
          <p:cNvPr id="113" name="범례 정확히 1"/>
          <p:cNvCxnSpPr/>
          <p:nvPr/>
        </p:nvCxnSpPr>
        <p:spPr>
          <a:xfrm>
            <a:off x="914400" y="6507480"/>
            <a:ext cx="350520" cy="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cxnSp>
        <p:nvCxnSpPr>
          <p:cNvPr id="114" name="관계 기호"/>
          <p:cNvCxnSpPr/>
          <p:nvPr/>
        </p:nvCxnSpPr>
        <p:spPr>
          <a:xfrm flipV="1">
            <a:off x="1188720" y="6446520"/>
            <a:ext cx="0" cy="12192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cxnSp>
        <p:nvCxnSpPr>
          <p:cNvPr id="115" name="관계 기호"/>
          <p:cNvCxnSpPr/>
          <p:nvPr/>
        </p:nvCxnSpPr>
        <p:spPr>
          <a:xfrm flipV="1">
            <a:off x="1135380" y="6446520"/>
            <a:ext cx="0" cy="12192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sp>
        <p:nvSpPr>
          <p:cNvPr id="116" name="범례 글 정확히 1"/>
          <p:cNvSpPr txBox="1"/>
          <p:nvPr/>
        </p:nvSpPr>
        <p:spPr>
          <a:xfrm>
            <a:off x="1341120" y="6309360"/>
            <a:ext cx="683514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정확히 1</a:t>
            </a:r>
          </a:p>
        </p:txBody>
      </p:sp>
      <p:cxnSp>
        <p:nvCxnSpPr>
          <p:cNvPr id="117" name="범례 0 또는 1"/>
          <p:cNvCxnSpPr/>
          <p:nvPr/>
        </p:nvCxnSpPr>
        <p:spPr>
          <a:xfrm>
            <a:off x="2100834" y="6507480"/>
            <a:ext cx="350520" cy="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cxnSp>
        <p:nvCxnSpPr>
          <p:cNvPr id="118" name="관계 기호"/>
          <p:cNvCxnSpPr/>
          <p:nvPr/>
        </p:nvCxnSpPr>
        <p:spPr>
          <a:xfrm flipV="1">
            <a:off x="2375154" y="6446520"/>
            <a:ext cx="0" cy="12192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sp>
        <p:nvSpPr>
          <p:cNvPr id="119" name="관계 기호 0"/>
          <p:cNvSpPr/>
          <p:nvPr/>
        </p:nvSpPr>
        <p:spPr>
          <a:xfrm>
            <a:off x="2222754" y="6461760"/>
            <a:ext cx="91440" cy="914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6B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범례 글 0 또는 1"/>
          <p:cNvSpPr txBox="1"/>
          <p:nvPr/>
        </p:nvSpPr>
        <p:spPr>
          <a:xfrm>
            <a:off x="2527554" y="6309360"/>
            <a:ext cx="696468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0 또는 1</a:t>
            </a:r>
          </a:p>
        </p:txBody>
      </p:sp>
      <p:cxnSp>
        <p:nvCxnSpPr>
          <p:cNvPr id="121" name="범례 0 이상 (N)"/>
          <p:cNvCxnSpPr/>
          <p:nvPr/>
        </p:nvCxnSpPr>
        <p:spPr>
          <a:xfrm>
            <a:off x="3300222" y="6507480"/>
            <a:ext cx="350520" cy="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cxnSp>
        <p:nvCxnSpPr>
          <p:cNvPr id="122" name="관계 기호"/>
          <p:cNvCxnSpPr/>
          <p:nvPr/>
        </p:nvCxnSpPr>
        <p:spPr>
          <a:xfrm>
            <a:off x="3528822" y="6507480"/>
            <a:ext cx="121920" cy="6858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cxnSp>
        <p:nvCxnSpPr>
          <p:cNvPr id="123" name="관계 기호"/>
          <p:cNvCxnSpPr/>
          <p:nvPr/>
        </p:nvCxnSpPr>
        <p:spPr>
          <a:xfrm>
            <a:off x="3528822" y="6507480"/>
            <a:ext cx="121920" cy="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cxnSp>
        <p:nvCxnSpPr>
          <p:cNvPr id="124" name="관계 기호"/>
          <p:cNvCxnSpPr/>
          <p:nvPr/>
        </p:nvCxnSpPr>
        <p:spPr>
          <a:xfrm flipV="1">
            <a:off x="3528822" y="6438900"/>
            <a:ext cx="121920" cy="6858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sp>
        <p:nvSpPr>
          <p:cNvPr id="125" name="관계 기호 0"/>
          <p:cNvSpPr/>
          <p:nvPr/>
        </p:nvSpPr>
        <p:spPr>
          <a:xfrm>
            <a:off x="3391662" y="6461760"/>
            <a:ext cx="91440" cy="914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6B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범례 글 0 이상 (N)"/>
          <p:cNvSpPr txBox="1"/>
          <p:nvPr/>
        </p:nvSpPr>
        <p:spPr>
          <a:xfrm>
            <a:off x="3726942" y="6309360"/>
            <a:ext cx="838962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0 이상 (N)</a:t>
            </a:r>
          </a:p>
        </p:txBody>
      </p:sp>
      <p:cxnSp>
        <p:nvCxnSpPr>
          <p:cNvPr id="127" name="범례 식별 관계"/>
          <p:cNvCxnSpPr/>
          <p:nvPr/>
        </p:nvCxnSpPr>
        <p:spPr>
          <a:xfrm>
            <a:off x="4642104" y="6507480"/>
            <a:ext cx="350520" cy="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sp>
        <p:nvSpPr>
          <p:cNvPr id="128" name="범례 글 식별 관계"/>
          <p:cNvSpPr txBox="1"/>
          <p:nvPr/>
        </p:nvSpPr>
        <p:spPr>
          <a:xfrm>
            <a:off x="5068824" y="6309360"/>
            <a:ext cx="741807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식별 관계</a:t>
            </a:r>
          </a:p>
        </p:txBody>
      </p:sp>
      <p:cxnSp>
        <p:nvCxnSpPr>
          <p:cNvPr id="129" name="범례 비식별 관계"/>
          <p:cNvCxnSpPr/>
          <p:nvPr/>
        </p:nvCxnSpPr>
        <p:spPr>
          <a:xfrm>
            <a:off x="5886831" y="6507480"/>
            <a:ext cx="350520" cy="0"/>
          </a:xfrm>
          <a:prstGeom prst="line">
            <a:avLst/>
          </a:prstGeom>
          <a:ln w="15240">
            <a:solidFill>
              <a:srgbClr val="1E6B4F"/>
            </a:solidFill>
            <a:prstDash val="dash"/>
          </a:ln>
        </p:spPr>
      </p:cxnSp>
      <p:sp>
        <p:nvSpPr>
          <p:cNvPr id="130" name="범례 글 비식별 관계"/>
          <p:cNvSpPr txBox="1"/>
          <p:nvPr/>
        </p:nvSpPr>
        <p:spPr>
          <a:xfrm>
            <a:off x="6313551" y="6309360"/>
            <a:ext cx="871347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비식별 관계</a:t>
            </a:r>
          </a:p>
        </p:txBody>
      </p:sp>
      <p:sp>
        <p:nvSpPr>
          <p:cNvPr id="131" name="설명"/>
          <p:cNvSpPr txBox="1"/>
          <p:nvPr/>
        </p:nvSpPr>
        <p:spPr>
          <a:xfrm>
            <a:off x="6985254" y="6347460"/>
            <a:ext cx="4825746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U1 · U2 = job_id 를 포함한 복합 UK · UK = FK 컬럼을 포함한 복합 UK</a:t>
            </a:r>
          </a:p>
        </p:txBody>
      </p:sp>
      <p:sp>
        <p:nvSpPr>
          <p:cNvPr id="132" name="설명"/>
          <p:cNvSpPr txBox="1"/>
          <p:nvPr/>
        </p:nvSpPr>
        <p:spPr>
          <a:xfrm>
            <a:off x="8410194" y="6537960"/>
            <a:ext cx="3400806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FK 는 모두 ON DELETE CASCADE · NN = NOT NULL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막대"/>
          <p:cNvSpPr/>
          <p:nvPr/>
        </p:nvSpPr>
        <p:spPr>
          <a:xfrm>
            <a:off x="381000" y="274320"/>
            <a:ext cx="53340" cy="548640"/>
          </a:xfrm>
          <a:prstGeom prst="roundRect">
            <a:avLst>
              <a:gd name="adj" fmla="val 50000"/>
            </a:avLst>
          </a:pr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제목"/>
          <p:cNvSpPr txBox="1"/>
          <p:nvPr/>
        </p:nvSpPr>
        <p:spPr>
          <a:xfrm>
            <a:off x="533400" y="228600"/>
            <a:ext cx="8001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6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KDMS 관리 테이블 물리 ERD (3/3) 검증·전환·기록</a:t>
            </a:r>
          </a:p>
        </p:txBody>
      </p:sp>
      <p:sp>
        <p:nvSpPr>
          <p:cNvPr id="4" name="부제"/>
          <p:cNvSpPr txBox="1"/>
          <p:nvPr/>
        </p:nvSpPr>
        <p:spPr>
          <a:xfrm>
            <a:off x="533400" y="64008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80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점선 테두리 = 2장 엔터티를 참조로 다시 그림(PK 만) · 컬럼 정의는 docs/database.md</a:t>
            </a:r>
          </a:p>
        </p:txBody>
      </p:sp>
      <p:sp>
        <p:nvSpPr>
          <p:cNvPr id="5" name="문서 정보"/>
          <p:cNvSpPr txBox="1"/>
          <p:nvPr/>
        </p:nvSpPr>
        <p:spPr>
          <a:xfrm>
            <a:off x="8382000" y="411480"/>
            <a:ext cx="3429000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KDMS-D05 · v0.3 · 2026-10-09 · 3/3</a:t>
            </a:r>
          </a:p>
        </p:txBody>
      </p:sp>
      <p:grpSp>
        <p:nvGrpSpPr>
          <p:cNvPr id="6" name="관계 job → verify_run"/>
          <p:cNvGrpSpPr/>
          <p:nvPr/>
        </p:nvGrpSpPr>
        <p:grpSpPr>
          <a:xfrm>
            <a:off x="3779520" y="1287780"/>
            <a:ext cx="617220" cy="137160"/>
            <a:chOff x="3779520" y="1287780"/>
            <a:chExt cx="617220" cy="137160"/>
          </a:xfrm>
        </p:grpSpPr>
        <p:sp>
          <p:nvSpPr>
            <p:cNvPr id="7" name="관계선"/>
            <p:cNvSpPr/>
            <p:nvPr/>
          </p:nvSpPr>
          <p:spPr>
            <a:xfrm>
              <a:off x="3779520" y="1356360"/>
              <a:ext cx="617220" cy="0"/>
            </a:xfrm>
            <a:custGeom>
              <a:avLst/>
              <a:gdLst/>
              <a:ahLst/>
              <a:cxnLst/>
              <a:rect l="l" t="t" r="r" b="b"/>
              <a:pathLst>
                <a:path w="617220" h="0">
                  <a:moveTo>
                    <a:pt x="61722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E6B4F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관계 기호"/>
            <p:cNvCxnSpPr/>
            <p:nvPr/>
          </p:nvCxnSpPr>
          <p:spPr>
            <a:xfrm flipV="1">
              <a:off x="4320540" y="129540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9" name="관계 기호"/>
            <p:cNvCxnSpPr/>
            <p:nvPr/>
          </p:nvCxnSpPr>
          <p:spPr>
            <a:xfrm flipV="1">
              <a:off x="4267200" y="129540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10" name="관계 기호"/>
            <p:cNvCxnSpPr/>
            <p:nvPr/>
          </p:nvCxnSpPr>
          <p:spPr>
            <a:xfrm flipH="1" flipV="1">
              <a:off x="3779520" y="128778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11" name="관계 기호"/>
            <p:cNvCxnSpPr/>
            <p:nvPr/>
          </p:nvCxnSpPr>
          <p:spPr>
            <a:xfrm flipH="1">
              <a:off x="3779520" y="135636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12" name="관계 기호"/>
            <p:cNvCxnSpPr/>
            <p:nvPr/>
          </p:nvCxnSpPr>
          <p:spPr>
            <a:xfrm flipH="1">
              <a:off x="3779520" y="135636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13" name="관계 기호 0"/>
            <p:cNvSpPr/>
            <p:nvPr/>
          </p:nvSpPr>
          <p:spPr>
            <a:xfrm>
              <a:off x="3947160" y="131064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관계 job → cutover_run"/>
          <p:cNvGrpSpPr/>
          <p:nvPr/>
        </p:nvGrpSpPr>
        <p:grpSpPr>
          <a:xfrm>
            <a:off x="7795260" y="1287780"/>
            <a:ext cx="617220" cy="137160"/>
            <a:chOff x="7795260" y="1287780"/>
            <a:chExt cx="617220" cy="137160"/>
          </a:xfrm>
        </p:grpSpPr>
        <p:sp>
          <p:nvSpPr>
            <p:cNvPr id="15" name="관계선"/>
            <p:cNvSpPr/>
            <p:nvPr/>
          </p:nvSpPr>
          <p:spPr>
            <a:xfrm>
              <a:off x="7795260" y="1356360"/>
              <a:ext cx="617220" cy="0"/>
            </a:xfrm>
            <a:custGeom>
              <a:avLst/>
              <a:gdLst/>
              <a:ahLst/>
              <a:cxnLst/>
              <a:rect l="l" t="t" r="r" b="b"/>
              <a:pathLst>
                <a:path w="617220" h="0">
                  <a:moveTo>
                    <a:pt x="0" y="0"/>
                  </a:moveTo>
                  <a:lnTo>
                    <a:pt x="617220" y="0"/>
                  </a:lnTo>
                </a:path>
              </a:pathLst>
            </a:custGeom>
            <a:noFill/>
            <a:ln w="15240">
              <a:solidFill>
                <a:srgbClr val="1E6B4F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관계 기호"/>
            <p:cNvCxnSpPr/>
            <p:nvPr/>
          </p:nvCxnSpPr>
          <p:spPr>
            <a:xfrm>
              <a:off x="7871460" y="129540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17" name="관계 기호"/>
            <p:cNvCxnSpPr/>
            <p:nvPr/>
          </p:nvCxnSpPr>
          <p:spPr>
            <a:xfrm>
              <a:off x="7924800" y="129540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18" name="관계 기호"/>
            <p:cNvCxnSpPr/>
            <p:nvPr/>
          </p:nvCxnSpPr>
          <p:spPr>
            <a:xfrm>
              <a:off x="8290560" y="135636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19" name="관계 기호"/>
            <p:cNvCxnSpPr/>
            <p:nvPr/>
          </p:nvCxnSpPr>
          <p:spPr>
            <a:xfrm>
              <a:off x="8290560" y="135636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20" name="관계 기호"/>
            <p:cNvCxnSpPr/>
            <p:nvPr/>
          </p:nvCxnSpPr>
          <p:spPr>
            <a:xfrm flipV="1">
              <a:off x="8290560" y="128778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21" name="관계 기호 0"/>
            <p:cNvSpPr/>
            <p:nvPr/>
          </p:nvSpPr>
          <p:spPr>
            <a:xfrm>
              <a:off x="8153400" y="131064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" name="관계 job → event_log"/>
          <p:cNvGrpSpPr/>
          <p:nvPr/>
        </p:nvGrpSpPr>
        <p:grpSpPr>
          <a:xfrm>
            <a:off x="6027420" y="1676400"/>
            <a:ext cx="137160" cy="533400"/>
            <a:chOff x="6027420" y="1676400"/>
            <a:chExt cx="137160" cy="533400"/>
          </a:xfrm>
        </p:grpSpPr>
        <p:sp>
          <p:nvSpPr>
            <p:cNvPr id="23" name="관계선"/>
            <p:cNvSpPr/>
            <p:nvPr/>
          </p:nvSpPr>
          <p:spPr>
            <a:xfrm>
              <a:off x="6096000" y="1676400"/>
              <a:ext cx="0" cy="533400"/>
            </a:xfrm>
            <a:custGeom>
              <a:avLst/>
              <a:gdLst/>
              <a:ahLst/>
              <a:cxnLst/>
              <a:rect l="l" t="t" r="r" b="b"/>
              <a:pathLst>
                <a:path w="0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15240">
              <a:solidFill>
                <a:srgbClr val="1E6B4F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관계 기호"/>
            <p:cNvCxnSpPr/>
            <p:nvPr/>
          </p:nvCxnSpPr>
          <p:spPr>
            <a:xfrm flipH="1">
              <a:off x="6035040" y="175260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25" name="관계 기호 0"/>
            <p:cNvSpPr/>
            <p:nvPr/>
          </p:nvSpPr>
          <p:spPr>
            <a:xfrm>
              <a:off x="6050280" y="181356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관계 기호"/>
            <p:cNvCxnSpPr/>
            <p:nvPr/>
          </p:nvCxnSpPr>
          <p:spPr>
            <a:xfrm flipH="1">
              <a:off x="6027420" y="2087880"/>
              <a:ext cx="6858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27" name="관계 기호"/>
            <p:cNvCxnSpPr/>
            <p:nvPr/>
          </p:nvCxnSpPr>
          <p:spPr>
            <a:xfrm>
              <a:off x="6096000" y="208788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28" name="관계 기호"/>
            <p:cNvCxnSpPr/>
            <p:nvPr/>
          </p:nvCxnSpPr>
          <p:spPr>
            <a:xfrm>
              <a:off x="6096000" y="2087880"/>
              <a:ext cx="6858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29" name="관계 기호 0"/>
            <p:cNvSpPr/>
            <p:nvPr/>
          </p:nvSpPr>
          <p:spPr>
            <a:xfrm>
              <a:off x="6050280" y="195072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관계 verify_run → verify_result"/>
          <p:cNvGrpSpPr/>
          <p:nvPr/>
        </p:nvGrpSpPr>
        <p:grpSpPr>
          <a:xfrm>
            <a:off x="2011680" y="2286000"/>
            <a:ext cx="137160" cy="533400"/>
            <a:chOff x="2011680" y="2286000"/>
            <a:chExt cx="137160" cy="533400"/>
          </a:xfrm>
        </p:grpSpPr>
        <p:sp>
          <p:nvSpPr>
            <p:cNvPr id="31" name="관계선"/>
            <p:cNvSpPr/>
            <p:nvPr/>
          </p:nvSpPr>
          <p:spPr>
            <a:xfrm>
              <a:off x="2080260" y="2286000"/>
              <a:ext cx="0" cy="533400"/>
            </a:xfrm>
            <a:custGeom>
              <a:avLst/>
              <a:gdLst/>
              <a:ahLst/>
              <a:cxnLst/>
              <a:rect l="l" t="t" r="r" b="b"/>
              <a:pathLst>
                <a:path w="0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15240">
              <a:solidFill>
                <a:srgbClr val="1E6B4F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관계 기호"/>
            <p:cNvCxnSpPr/>
            <p:nvPr/>
          </p:nvCxnSpPr>
          <p:spPr>
            <a:xfrm flipH="1">
              <a:off x="2019300" y="236220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33" name="관계 기호"/>
            <p:cNvCxnSpPr/>
            <p:nvPr/>
          </p:nvCxnSpPr>
          <p:spPr>
            <a:xfrm flipH="1">
              <a:off x="2019300" y="241554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34" name="관계 기호"/>
            <p:cNvCxnSpPr/>
            <p:nvPr/>
          </p:nvCxnSpPr>
          <p:spPr>
            <a:xfrm flipH="1">
              <a:off x="2011680" y="2697480"/>
              <a:ext cx="6858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35" name="관계 기호"/>
            <p:cNvCxnSpPr/>
            <p:nvPr/>
          </p:nvCxnSpPr>
          <p:spPr>
            <a:xfrm>
              <a:off x="2080260" y="269748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36" name="관계 기호"/>
            <p:cNvCxnSpPr/>
            <p:nvPr/>
          </p:nvCxnSpPr>
          <p:spPr>
            <a:xfrm>
              <a:off x="2080260" y="2697480"/>
              <a:ext cx="6858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37" name="관계 기호 0"/>
            <p:cNvSpPr/>
            <p:nvPr/>
          </p:nvSpPr>
          <p:spPr>
            <a:xfrm>
              <a:off x="2034540" y="256032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" name="관계 job_table → verify_result"/>
          <p:cNvGrpSpPr/>
          <p:nvPr/>
        </p:nvGrpSpPr>
        <p:grpSpPr>
          <a:xfrm>
            <a:off x="2011680" y="4587240"/>
            <a:ext cx="137160" cy="533400"/>
            <a:chOff x="2011680" y="4587240"/>
            <a:chExt cx="137160" cy="533400"/>
          </a:xfrm>
        </p:grpSpPr>
        <p:sp>
          <p:nvSpPr>
            <p:cNvPr id="39" name="관계선"/>
            <p:cNvSpPr/>
            <p:nvPr/>
          </p:nvSpPr>
          <p:spPr>
            <a:xfrm>
              <a:off x="2080260" y="4587240"/>
              <a:ext cx="0" cy="533400"/>
            </a:xfrm>
            <a:custGeom>
              <a:avLst/>
              <a:gdLst/>
              <a:ahLst/>
              <a:cxnLst/>
              <a:rect l="l" t="t" r="r" b="b"/>
              <a:pathLst>
                <a:path w="0" h="533400">
                  <a:moveTo>
                    <a:pt x="0" y="53340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E6B4F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관계 기호"/>
            <p:cNvCxnSpPr/>
            <p:nvPr/>
          </p:nvCxnSpPr>
          <p:spPr>
            <a:xfrm>
              <a:off x="2019300" y="504444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41" name="관계 기호"/>
            <p:cNvCxnSpPr/>
            <p:nvPr/>
          </p:nvCxnSpPr>
          <p:spPr>
            <a:xfrm>
              <a:off x="2019300" y="499110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42" name="관계 기호"/>
            <p:cNvCxnSpPr/>
            <p:nvPr/>
          </p:nvCxnSpPr>
          <p:spPr>
            <a:xfrm flipV="1">
              <a:off x="2080260" y="4587240"/>
              <a:ext cx="6858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43" name="관계 기호"/>
            <p:cNvCxnSpPr/>
            <p:nvPr/>
          </p:nvCxnSpPr>
          <p:spPr>
            <a:xfrm flipV="1">
              <a:off x="2080260" y="458724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44" name="관계 기호"/>
            <p:cNvCxnSpPr/>
            <p:nvPr/>
          </p:nvCxnSpPr>
          <p:spPr>
            <a:xfrm flipH="1" flipV="1">
              <a:off x="2011680" y="4587240"/>
              <a:ext cx="6858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45" name="관계 기호 0"/>
            <p:cNvSpPr/>
            <p:nvPr/>
          </p:nvSpPr>
          <p:spPr>
            <a:xfrm>
              <a:off x="2034540" y="475488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" name="관계 verify_run → verify_row_diff"/>
          <p:cNvGrpSpPr/>
          <p:nvPr/>
        </p:nvGrpSpPr>
        <p:grpSpPr>
          <a:xfrm>
            <a:off x="3779520" y="1996440"/>
            <a:ext cx="617220" cy="2430780"/>
            <a:chOff x="3779520" y="1996440"/>
            <a:chExt cx="617220" cy="2430780"/>
          </a:xfrm>
        </p:grpSpPr>
        <p:sp>
          <p:nvSpPr>
            <p:cNvPr id="47" name="관계선"/>
            <p:cNvSpPr/>
            <p:nvPr/>
          </p:nvSpPr>
          <p:spPr>
            <a:xfrm>
              <a:off x="3779520" y="2057400"/>
              <a:ext cx="617220" cy="2301240"/>
            </a:xfrm>
            <a:custGeom>
              <a:avLst/>
              <a:gdLst/>
              <a:ahLst/>
              <a:cxnLst/>
              <a:rect l="l" t="t" r="r" b="b"/>
              <a:pathLst>
                <a:path w="617220" h="2301240">
                  <a:moveTo>
                    <a:pt x="0" y="0"/>
                  </a:moveTo>
                  <a:lnTo>
                    <a:pt x="182880" y="0"/>
                  </a:lnTo>
                  <a:lnTo>
                    <a:pt x="182880" y="2301240"/>
                  </a:lnTo>
                  <a:lnTo>
                    <a:pt x="617220" y="2301240"/>
                  </a:lnTo>
                </a:path>
              </a:pathLst>
            </a:custGeom>
            <a:noFill/>
            <a:ln w="15240">
              <a:solidFill>
                <a:srgbClr val="1E6B4F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8" name="관계 기호"/>
            <p:cNvCxnSpPr/>
            <p:nvPr/>
          </p:nvCxnSpPr>
          <p:spPr>
            <a:xfrm>
              <a:off x="3855720" y="199644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49" name="관계 기호"/>
            <p:cNvCxnSpPr/>
            <p:nvPr/>
          </p:nvCxnSpPr>
          <p:spPr>
            <a:xfrm>
              <a:off x="3909060" y="199644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50" name="관계 기호"/>
            <p:cNvCxnSpPr/>
            <p:nvPr/>
          </p:nvCxnSpPr>
          <p:spPr>
            <a:xfrm>
              <a:off x="4274820" y="435864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51" name="관계 기호"/>
            <p:cNvCxnSpPr/>
            <p:nvPr/>
          </p:nvCxnSpPr>
          <p:spPr>
            <a:xfrm>
              <a:off x="4274820" y="435864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52" name="관계 기호"/>
            <p:cNvCxnSpPr/>
            <p:nvPr/>
          </p:nvCxnSpPr>
          <p:spPr>
            <a:xfrm flipV="1">
              <a:off x="4274820" y="429006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53" name="관계 기호 0"/>
            <p:cNvSpPr/>
            <p:nvPr/>
          </p:nvSpPr>
          <p:spPr>
            <a:xfrm>
              <a:off x="4137660" y="431292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" name="관계 job_table → verify_row_diff"/>
          <p:cNvGrpSpPr/>
          <p:nvPr/>
        </p:nvGrpSpPr>
        <p:grpSpPr>
          <a:xfrm>
            <a:off x="3779520" y="4914900"/>
            <a:ext cx="617220" cy="617220"/>
            <a:chOff x="3779520" y="4914900"/>
            <a:chExt cx="617220" cy="617220"/>
          </a:xfrm>
        </p:grpSpPr>
        <p:sp>
          <p:nvSpPr>
            <p:cNvPr id="55" name="관계선"/>
            <p:cNvSpPr/>
            <p:nvPr/>
          </p:nvSpPr>
          <p:spPr>
            <a:xfrm>
              <a:off x="3779520" y="4983480"/>
              <a:ext cx="617220" cy="487680"/>
            </a:xfrm>
            <a:custGeom>
              <a:avLst/>
              <a:gdLst/>
              <a:ahLst/>
              <a:cxnLst/>
              <a:rect l="l" t="t" r="r" b="b"/>
              <a:pathLst>
                <a:path w="617220" h="487680">
                  <a:moveTo>
                    <a:pt x="0" y="487680"/>
                  </a:moveTo>
                  <a:lnTo>
                    <a:pt x="396240" y="487680"/>
                  </a:lnTo>
                  <a:lnTo>
                    <a:pt x="396240" y="0"/>
                  </a:lnTo>
                  <a:lnTo>
                    <a:pt x="617220" y="0"/>
                  </a:lnTo>
                </a:path>
              </a:pathLst>
            </a:custGeom>
            <a:noFill/>
            <a:ln w="15240">
              <a:solidFill>
                <a:srgbClr val="1E6B4F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6" name="관계 기호"/>
            <p:cNvCxnSpPr/>
            <p:nvPr/>
          </p:nvCxnSpPr>
          <p:spPr>
            <a:xfrm>
              <a:off x="3855720" y="541020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57" name="관계 기호"/>
            <p:cNvCxnSpPr/>
            <p:nvPr/>
          </p:nvCxnSpPr>
          <p:spPr>
            <a:xfrm>
              <a:off x="3909060" y="541020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58" name="관계 기호"/>
            <p:cNvCxnSpPr/>
            <p:nvPr/>
          </p:nvCxnSpPr>
          <p:spPr>
            <a:xfrm>
              <a:off x="4274820" y="498348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59" name="관계 기호"/>
            <p:cNvCxnSpPr/>
            <p:nvPr/>
          </p:nvCxnSpPr>
          <p:spPr>
            <a:xfrm>
              <a:off x="4274820" y="498348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60" name="관계 기호"/>
            <p:cNvCxnSpPr/>
            <p:nvPr/>
          </p:nvCxnSpPr>
          <p:spPr>
            <a:xfrm flipV="1">
              <a:off x="4274820" y="4914900"/>
              <a:ext cx="121920" cy="6858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61" name="관계 기호 0"/>
            <p:cNvSpPr/>
            <p:nvPr/>
          </p:nvSpPr>
          <p:spPr>
            <a:xfrm>
              <a:off x="4137660" y="493776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" name="관계 cutover_run → cutover_step"/>
          <p:cNvGrpSpPr/>
          <p:nvPr/>
        </p:nvGrpSpPr>
        <p:grpSpPr>
          <a:xfrm>
            <a:off x="10043160" y="2743200"/>
            <a:ext cx="137160" cy="533400"/>
            <a:chOff x="10043160" y="2743200"/>
            <a:chExt cx="137160" cy="533400"/>
          </a:xfrm>
        </p:grpSpPr>
        <p:sp>
          <p:nvSpPr>
            <p:cNvPr id="63" name="관계선"/>
            <p:cNvSpPr/>
            <p:nvPr/>
          </p:nvSpPr>
          <p:spPr>
            <a:xfrm>
              <a:off x="10111740" y="2743200"/>
              <a:ext cx="0" cy="533400"/>
            </a:xfrm>
            <a:custGeom>
              <a:avLst/>
              <a:gdLst/>
              <a:ahLst/>
              <a:cxnLst/>
              <a:rect l="l" t="t" r="r" b="b"/>
              <a:pathLst>
                <a:path w="0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4" name="관계 기호"/>
            <p:cNvCxnSpPr/>
            <p:nvPr/>
          </p:nvCxnSpPr>
          <p:spPr>
            <a:xfrm flipH="1">
              <a:off x="10050780" y="281940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65" name="관계 기호"/>
            <p:cNvCxnSpPr/>
            <p:nvPr/>
          </p:nvCxnSpPr>
          <p:spPr>
            <a:xfrm flipH="1">
              <a:off x="10050780" y="2872740"/>
              <a:ext cx="121920" cy="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66" name="관계 기호"/>
            <p:cNvCxnSpPr/>
            <p:nvPr/>
          </p:nvCxnSpPr>
          <p:spPr>
            <a:xfrm flipH="1">
              <a:off x="10043160" y="3154680"/>
              <a:ext cx="6858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67" name="관계 기호"/>
            <p:cNvCxnSpPr/>
            <p:nvPr/>
          </p:nvCxnSpPr>
          <p:spPr>
            <a:xfrm>
              <a:off x="10111740" y="3154680"/>
              <a:ext cx="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cxnSp>
          <p:nvCxnSpPr>
            <p:cNvPr id="68" name="관계 기호"/>
            <p:cNvCxnSpPr/>
            <p:nvPr/>
          </p:nvCxnSpPr>
          <p:spPr>
            <a:xfrm>
              <a:off x="10111740" y="3154680"/>
              <a:ext cx="68580" cy="121920"/>
            </a:xfrm>
            <a:prstGeom prst="line">
              <a:avLst/>
            </a:prstGeom>
            <a:ln w="15240">
              <a:solidFill>
                <a:srgbClr val="1E6B4F"/>
              </a:solidFill>
            </a:ln>
          </p:spPr>
        </p:cxnSp>
        <p:sp>
          <p:nvSpPr>
            <p:cNvPr id="69" name="관계 기호 0"/>
            <p:cNvSpPr/>
            <p:nvPr/>
          </p:nvSpPr>
          <p:spPr>
            <a:xfrm>
              <a:off x="10066020" y="3017520"/>
              <a:ext cx="91440" cy="9144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" name="엔터티 verify_run"/>
          <p:cNvGrpSpPr/>
          <p:nvPr/>
        </p:nvGrpSpPr>
        <p:grpSpPr>
          <a:xfrm>
            <a:off x="381000" y="975360"/>
            <a:ext cx="3398520" cy="1310640"/>
            <a:chOff x="381000" y="975360"/>
            <a:chExt cx="3398520" cy="1310640"/>
          </a:xfrm>
        </p:grpSpPr>
        <p:sp>
          <p:nvSpPr>
            <p:cNvPr id="71" name="테두리"/>
            <p:cNvSpPr/>
            <p:nvPr/>
          </p:nvSpPr>
          <p:spPr>
            <a:xfrm>
              <a:off x="381000" y="975360"/>
              <a:ext cx="3398520" cy="1310640"/>
            </a:xfrm>
            <a:prstGeom prst="roundRect">
              <a:avLst>
                <a:gd name="adj" fmla="val 5813"/>
              </a:avLst>
            </a:prstGeom>
            <a:solidFill>
              <a:srgbClr val="FFFFFF"/>
            </a:solidFill>
            <a:ln w="13716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머리"/>
            <p:cNvSpPr/>
            <p:nvPr/>
          </p:nvSpPr>
          <p:spPr>
            <a:xfrm>
              <a:off x="388620" y="982980"/>
              <a:ext cx="338328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D5EF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3" name="머리 선"/>
            <p:cNvCxnSpPr/>
            <p:nvPr/>
          </p:nvCxnSpPr>
          <p:spPr>
            <a:xfrm>
              <a:off x="381000" y="1219200"/>
              <a:ext cx="3398520" cy="0"/>
            </a:xfrm>
            <a:prstGeom prst="line">
              <a:avLst/>
            </a:prstGeom>
            <a:ln w="10668">
              <a:solidFill>
                <a:srgbClr val="1E6B4F"/>
              </a:solidFill>
            </a:ln>
          </p:spPr>
        </p:cxnSp>
        <p:sp>
          <p:nvSpPr>
            <p:cNvPr id="74" name="테이블 이름"/>
            <p:cNvSpPr txBox="1"/>
            <p:nvPr/>
          </p:nvSpPr>
          <p:spPr>
            <a:xfrm>
              <a:off x="487680" y="975360"/>
              <a:ext cx="169926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verify_run</a:t>
              </a:r>
            </a:p>
          </p:txBody>
        </p:sp>
        <p:sp>
          <p:nvSpPr>
            <p:cNvPr id="75" name="한글 이름"/>
            <p:cNvSpPr txBox="1"/>
            <p:nvPr/>
          </p:nvSpPr>
          <p:spPr>
            <a:xfrm>
              <a:off x="2080260" y="975360"/>
              <a:ext cx="159258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검증 실행</a:t>
              </a:r>
            </a:p>
          </p:txBody>
        </p:sp>
        <p:cxnSp>
          <p:nvCxnSpPr>
            <p:cNvPr id="76" name="PK 구분선"/>
            <p:cNvCxnSpPr/>
            <p:nvPr/>
          </p:nvCxnSpPr>
          <p:spPr>
            <a:xfrm>
              <a:off x="457200" y="1447800"/>
              <a:ext cx="324612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77" name="PK 키"/>
            <p:cNvSpPr txBox="1"/>
            <p:nvPr/>
          </p:nvSpPr>
          <p:spPr>
            <a:xfrm>
              <a:off x="472440" y="1264920"/>
              <a:ext cx="25908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78" name="PK 이름"/>
            <p:cNvSpPr txBox="1"/>
            <p:nvPr/>
          </p:nvSpPr>
          <p:spPr>
            <a:xfrm>
              <a:off x="731520" y="1264920"/>
              <a:ext cx="187452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run_id</a:t>
              </a:r>
            </a:p>
          </p:txBody>
        </p:sp>
        <p:sp>
          <p:nvSpPr>
            <p:cNvPr id="79" name="PK 타입"/>
            <p:cNvSpPr txBox="1"/>
            <p:nvPr/>
          </p:nvSpPr>
          <p:spPr>
            <a:xfrm>
              <a:off x="2286000" y="126492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</p:txBody>
        </p:sp>
        <p:sp>
          <p:nvSpPr>
            <p:cNvPr id="80" name="PK NN"/>
            <p:cNvSpPr txBox="1"/>
            <p:nvPr/>
          </p:nvSpPr>
          <p:spPr>
            <a:xfrm>
              <a:off x="3459480" y="126492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</p:txBody>
        </p:sp>
        <p:sp>
          <p:nvSpPr>
            <p:cNvPr id="81" name="컬럼 키"/>
            <p:cNvSpPr txBox="1"/>
            <p:nvPr/>
          </p:nvSpPr>
          <p:spPr>
            <a:xfrm>
              <a:off x="472440" y="1478280"/>
              <a:ext cx="259080" cy="762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FK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82" name="컬럼 이름"/>
            <p:cNvSpPr txBox="1"/>
            <p:nvPr/>
          </p:nvSpPr>
          <p:spPr>
            <a:xfrm>
              <a:off x="731520" y="1478280"/>
              <a:ext cx="1874520" cy="762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job_id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started_at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finished_at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checks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mismatches</a:t>
              </a:r>
            </a:p>
          </p:txBody>
        </p:sp>
        <p:sp>
          <p:nvSpPr>
            <p:cNvPr id="83" name="컬럼 타입"/>
            <p:cNvSpPr txBox="1"/>
            <p:nvPr/>
          </p:nvSpPr>
          <p:spPr>
            <a:xfrm>
              <a:off x="2286000" y="1478280"/>
              <a:ext cx="1143000" cy="762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timestamptz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timestamptz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integer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integer</a:t>
              </a:r>
            </a:p>
          </p:txBody>
        </p:sp>
        <p:sp>
          <p:nvSpPr>
            <p:cNvPr id="84" name="컬럼 NN"/>
            <p:cNvSpPr txBox="1"/>
            <p:nvPr/>
          </p:nvSpPr>
          <p:spPr>
            <a:xfrm>
              <a:off x="3459480" y="1478280"/>
              <a:ext cx="228600" cy="762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</p:grpSp>
      <p:grpSp>
        <p:nvGrpSpPr>
          <p:cNvPr id="85" name="엔터티 verify_result"/>
          <p:cNvGrpSpPr/>
          <p:nvPr/>
        </p:nvGrpSpPr>
        <p:grpSpPr>
          <a:xfrm>
            <a:off x="381000" y="2819400"/>
            <a:ext cx="3398520" cy="1767840"/>
            <a:chOff x="381000" y="2819400"/>
            <a:chExt cx="3398520" cy="1767840"/>
          </a:xfrm>
        </p:grpSpPr>
        <p:sp>
          <p:nvSpPr>
            <p:cNvPr id="86" name="테두리"/>
            <p:cNvSpPr/>
            <p:nvPr/>
          </p:nvSpPr>
          <p:spPr>
            <a:xfrm>
              <a:off x="381000" y="2819400"/>
              <a:ext cx="3398520" cy="1767840"/>
            </a:xfrm>
            <a:prstGeom prst="roundRect">
              <a:avLst>
                <a:gd name="adj" fmla="val 4310"/>
              </a:avLst>
            </a:prstGeom>
            <a:solidFill>
              <a:srgbClr val="FFFFFF"/>
            </a:solidFill>
            <a:ln w="13716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머리"/>
            <p:cNvSpPr/>
            <p:nvPr/>
          </p:nvSpPr>
          <p:spPr>
            <a:xfrm>
              <a:off x="388620" y="2827020"/>
              <a:ext cx="338328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D5EF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88" name="머리 선"/>
            <p:cNvCxnSpPr/>
            <p:nvPr/>
          </p:nvCxnSpPr>
          <p:spPr>
            <a:xfrm>
              <a:off x="381000" y="3063240"/>
              <a:ext cx="3398520" cy="0"/>
            </a:xfrm>
            <a:prstGeom prst="line">
              <a:avLst/>
            </a:prstGeom>
            <a:ln w="10668">
              <a:solidFill>
                <a:srgbClr val="1E6B4F"/>
              </a:solidFill>
            </a:ln>
          </p:spPr>
        </p:cxnSp>
        <p:sp>
          <p:nvSpPr>
            <p:cNvPr id="89" name="테이블 이름"/>
            <p:cNvSpPr txBox="1"/>
            <p:nvPr/>
          </p:nvSpPr>
          <p:spPr>
            <a:xfrm>
              <a:off x="487680" y="2819400"/>
              <a:ext cx="169926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verify_result</a:t>
              </a:r>
            </a:p>
          </p:txBody>
        </p:sp>
        <p:sp>
          <p:nvSpPr>
            <p:cNvPr id="90" name="한글 이름"/>
            <p:cNvSpPr txBox="1"/>
            <p:nvPr/>
          </p:nvSpPr>
          <p:spPr>
            <a:xfrm>
              <a:off x="2080260" y="2819400"/>
              <a:ext cx="159258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검사 항목 결과</a:t>
              </a:r>
            </a:p>
          </p:txBody>
        </p:sp>
        <p:cxnSp>
          <p:nvCxnSpPr>
            <p:cNvPr id="91" name="PK 구분선"/>
            <p:cNvCxnSpPr/>
            <p:nvPr/>
          </p:nvCxnSpPr>
          <p:spPr>
            <a:xfrm>
              <a:off x="457200" y="3291840"/>
              <a:ext cx="324612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92" name="PK 키"/>
            <p:cNvSpPr txBox="1"/>
            <p:nvPr/>
          </p:nvSpPr>
          <p:spPr>
            <a:xfrm>
              <a:off x="472440" y="3108960"/>
              <a:ext cx="25908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93" name="PK 이름"/>
            <p:cNvSpPr txBox="1"/>
            <p:nvPr/>
          </p:nvSpPr>
          <p:spPr>
            <a:xfrm>
              <a:off x="731520" y="3108960"/>
              <a:ext cx="187452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verify_id</a:t>
              </a:r>
            </a:p>
          </p:txBody>
        </p:sp>
        <p:sp>
          <p:nvSpPr>
            <p:cNvPr id="94" name="PK 타입"/>
            <p:cNvSpPr txBox="1"/>
            <p:nvPr/>
          </p:nvSpPr>
          <p:spPr>
            <a:xfrm>
              <a:off x="2286000" y="310896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</p:txBody>
        </p:sp>
        <p:sp>
          <p:nvSpPr>
            <p:cNvPr id="95" name="PK NN"/>
            <p:cNvSpPr txBox="1"/>
            <p:nvPr/>
          </p:nvSpPr>
          <p:spPr>
            <a:xfrm>
              <a:off x="3459480" y="310896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</p:txBody>
        </p:sp>
        <p:sp>
          <p:nvSpPr>
            <p:cNvPr id="96" name="컬럼 키"/>
            <p:cNvSpPr txBox="1"/>
            <p:nvPr/>
          </p:nvSpPr>
          <p:spPr>
            <a:xfrm>
              <a:off x="472440" y="3322320"/>
              <a:ext cx="259080" cy="1219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FK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FK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97" name="컬럼 이름"/>
            <p:cNvSpPr txBox="1"/>
            <p:nvPr/>
          </p:nvSpPr>
          <p:spPr>
            <a:xfrm>
              <a:off x="731520" y="3322320"/>
              <a:ext cx="1874520" cy="1219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run_id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job_table_id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check_kind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check_target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src_value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tgt_value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matched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checked_at</a:t>
              </a:r>
            </a:p>
          </p:txBody>
        </p:sp>
        <p:sp>
          <p:nvSpPr>
            <p:cNvPr id="98" name="컬럼 타입"/>
            <p:cNvSpPr txBox="1"/>
            <p:nvPr/>
          </p:nvSpPr>
          <p:spPr>
            <a:xfrm>
              <a:off x="2286000" y="3322320"/>
              <a:ext cx="1143000" cy="1219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varchar(10)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varchar(128)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text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text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boolean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timestamptz</a:t>
              </a:r>
            </a:p>
          </p:txBody>
        </p:sp>
        <p:sp>
          <p:nvSpPr>
            <p:cNvPr id="99" name="컬럼 NN"/>
            <p:cNvSpPr txBox="1"/>
            <p:nvPr/>
          </p:nvSpPr>
          <p:spPr>
            <a:xfrm>
              <a:off x="3459480" y="3322320"/>
              <a:ext cx="228600" cy="1219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</p:txBody>
        </p:sp>
      </p:grpSp>
      <p:grpSp>
        <p:nvGrpSpPr>
          <p:cNvPr id="100" name="엔터티 job_table"/>
          <p:cNvGrpSpPr/>
          <p:nvPr/>
        </p:nvGrpSpPr>
        <p:grpSpPr>
          <a:xfrm>
            <a:off x="381000" y="5120640"/>
            <a:ext cx="3398520" cy="701040"/>
            <a:chOff x="381000" y="5120640"/>
            <a:chExt cx="3398520" cy="701040"/>
          </a:xfrm>
        </p:grpSpPr>
        <p:sp>
          <p:nvSpPr>
            <p:cNvPr id="101" name="테두리"/>
            <p:cNvSpPr/>
            <p:nvPr/>
          </p:nvSpPr>
          <p:spPr>
            <a:xfrm>
              <a:off x="381000" y="5120640"/>
              <a:ext cx="3398520" cy="701040"/>
            </a:xfrm>
            <a:prstGeom prst="roundRect">
              <a:avLst>
                <a:gd name="adj" fmla="val 10869"/>
              </a:avLst>
            </a:prstGeom>
            <a:solidFill>
              <a:srgbClr val="FFFFFF"/>
            </a:solidFill>
            <a:ln w="13716">
              <a:solidFill>
                <a:srgbClr val="9DD3B8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머리"/>
            <p:cNvSpPr/>
            <p:nvPr/>
          </p:nvSpPr>
          <p:spPr>
            <a:xfrm>
              <a:off x="388620" y="5128260"/>
              <a:ext cx="338328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EEF8F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3" name="머리 선"/>
            <p:cNvCxnSpPr/>
            <p:nvPr/>
          </p:nvCxnSpPr>
          <p:spPr>
            <a:xfrm>
              <a:off x="381000" y="5364480"/>
              <a:ext cx="339852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104" name="테이블 이름"/>
            <p:cNvSpPr txBox="1"/>
            <p:nvPr/>
          </p:nvSpPr>
          <p:spPr>
            <a:xfrm>
              <a:off x="487680" y="5120640"/>
              <a:ext cx="169926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job_table</a:t>
              </a:r>
            </a:p>
          </p:txBody>
        </p:sp>
        <p:sp>
          <p:nvSpPr>
            <p:cNvPr id="105" name="한글 이름"/>
            <p:cNvSpPr txBox="1"/>
            <p:nvPr/>
          </p:nvSpPr>
          <p:spPr>
            <a:xfrm>
              <a:off x="2080260" y="5120640"/>
              <a:ext cx="159258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작업 테이블</a:t>
              </a:r>
            </a:p>
          </p:txBody>
        </p:sp>
        <p:cxnSp>
          <p:nvCxnSpPr>
            <p:cNvPr id="106" name="PK 구분선"/>
            <p:cNvCxnSpPr/>
            <p:nvPr/>
          </p:nvCxnSpPr>
          <p:spPr>
            <a:xfrm>
              <a:off x="457200" y="5593080"/>
              <a:ext cx="324612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107" name="PK 키"/>
            <p:cNvSpPr txBox="1"/>
            <p:nvPr/>
          </p:nvSpPr>
          <p:spPr>
            <a:xfrm>
              <a:off x="472440" y="5410200"/>
              <a:ext cx="25908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108" name="PK 이름"/>
            <p:cNvSpPr txBox="1"/>
            <p:nvPr/>
          </p:nvSpPr>
          <p:spPr>
            <a:xfrm>
              <a:off x="731520" y="5410200"/>
              <a:ext cx="187452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job_table_id</a:t>
              </a:r>
            </a:p>
          </p:txBody>
        </p:sp>
        <p:sp>
          <p:nvSpPr>
            <p:cNvPr id="109" name="PK 타입"/>
            <p:cNvSpPr txBox="1"/>
            <p:nvPr/>
          </p:nvSpPr>
          <p:spPr>
            <a:xfrm>
              <a:off x="2286000" y="541020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</p:txBody>
        </p:sp>
        <p:sp>
          <p:nvSpPr>
            <p:cNvPr id="110" name="PK NN"/>
            <p:cNvSpPr txBox="1"/>
            <p:nvPr/>
          </p:nvSpPr>
          <p:spPr>
            <a:xfrm>
              <a:off x="3459480" y="541020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</p:txBody>
        </p:sp>
        <p:sp>
          <p:nvSpPr>
            <p:cNvPr id="111" name="컬럼 이름"/>
            <p:cNvSpPr txBox="1"/>
            <p:nvPr/>
          </p:nvSpPr>
          <p:spPr>
            <a:xfrm>
              <a:off x="731520" y="5623560"/>
              <a:ext cx="187452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나머지 컬럼은 2장</a:t>
              </a:r>
            </a:p>
          </p:txBody>
        </p:sp>
        <p:sp>
          <p:nvSpPr>
            <p:cNvPr id="112" name="컬럼 타입"/>
            <p:cNvSpPr txBox="1"/>
            <p:nvPr/>
          </p:nvSpPr>
          <p:spPr>
            <a:xfrm>
              <a:off x="2286000" y="562356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13" name="컬럼 NN"/>
            <p:cNvSpPr txBox="1"/>
            <p:nvPr/>
          </p:nvSpPr>
          <p:spPr>
            <a:xfrm>
              <a:off x="3459480" y="562356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</p:grpSp>
      <p:grpSp>
        <p:nvGrpSpPr>
          <p:cNvPr id="114" name="엔터티 job"/>
          <p:cNvGrpSpPr/>
          <p:nvPr/>
        </p:nvGrpSpPr>
        <p:grpSpPr>
          <a:xfrm>
            <a:off x="4396740" y="975360"/>
            <a:ext cx="3398520" cy="701040"/>
            <a:chOff x="4396740" y="975360"/>
            <a:chExt cx="3398520" cy="701040"/>
          </a:xfrm>
        </p:grpSpPr>
        <p:sp>
          <p:nvSpPr>
            <p:cNvPr id="115" name="테두리"/>
            <p:cNvSpPr/>
            <p:nvPr/>
          </p:nvSpPr>
          <p:spPr>
            <a:xfrm>
              <a:off x="4396740" y="975360"/>
              <a:ext cx="3398520" cy="701040"/>
            </a:xfrm>
            <a:prstGeom prst="roundRect">
              <a:avLst>
                <a:gd name="adj" fmla="val 10869"/>
              </a:avLst>
            </a:prstGeom>
            <a:solidFill>
              <a:srgbClr val="FFFFFF"/>
            </a:solidFill>
            <a:ln w="13716">
              <a:solidFill>
                <a:srgbClr val="9DD3B8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" name="머리"/>
            <p:cNvSpPr/>
            <p:nvPr/>
          </p:nvSpPr>
          <p:spPr>
            <a:xfrm>
              <a:off x="4404360" y="982980"/>
              <a:ext cx="338328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EEF8F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17" name="머리 선"/>
            <p:cNvCxnSpPr/>
            <p:nvPr/>
          </p:nvCxnSpPr>
          <p:spPr>
            <a:xfrm>
              <a:off x="4396740" y="1219200"/>
              <a:ext cx="339852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118" name="테이블 이름"/>
            <p:cNvSpPr txBox="1"/>
            <p:nvPr/>
          </p:nvSpPr>
          <p:spPr>
            <a:xfrm>
              <a:off x="4503420" y="975360"/>
              <a:ext cx="169926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job</a:t>
              </a:r>
            </a:p>
          </p:txBody>
        </p:sp>
        <p:sp>
          <p:nvSpPr>
            <p:cNvPr id="119" name="한글 이름"/>
            <p:cNvSpPr txBox="1"/>
            <p:nvPr/>
          </p:nvSpPr>
          <p:spPr>
            <a:xfrm>
              <a:off x="6096000" y="975360"/>
              <a:ext cx="159258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작업</a:t>
              </a:r>
            </a:p>
          </p:txBody>
        </p:sp>
        <p:cxnSp>
          <p:nvCxnSpPr>
            <p:cNvPr id="120" name="PK 구분선"/>
            <p:cNvCxnSpPr/>
            <p:nvPr/>
          </p:nvCxnSpPr>
          <p:spPr>
            <a:xfrm>
              <a:off x="4472940" y="1447800"/>
              <a:ext cx="324612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121" name="PK 키"/>
            <p:cNvSpPr txBox="1"/>
            <p:nvPr/>
          </p:nvSpPr>
          <p:spPr>
            <a:xfrm>
              <a:off x="4488180" y="1264920"/>
              <a:ext cx="25908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122" name="PK 이름"/>
            <p:cNvSpPr txBox="1"/>
            <p:nvPr/>
          </p:nvSpPr>
          <p:spPr>
            <a:xfrm>
              <a:off x="4747260" y="1264920"/>
              <a:ext cx="187452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job_id</a:t>
              </a:r>
            </a:p>
          </p:txBody>
        </p:sp>
        <p:sp>
          <p:nvSpPr>
            <p:cNvPr id="123" name="PK 타입"/>
            <p:cNvSpPr txBox="1"/>
            <p:nvPr/>
          </p:nvSpPr>
          <p:spPr>
            <a:xfrm>
              <a:off x="6301740" y="126492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</p:txBody>
        </p:sp>
        <p:sp>
          <p:nvSpPr>
            <p:cNvPr id="124" name="PK NN"/>
            <p:cNvSpPr txBox="1"/>
            <p:nvPr/>
          </p:nvSpPr>
          <p:spPr>
            <a:xfrm>
              <a:off x="7475220" y="126492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</p:txBody>
        </p:sp>
        <p:sp>
          <p:nvSpPr>
            <p:cNvPr id="125" name="컬럼 이름"/>
            <p:cNvSpPr txBox="1"/>
            <p:nvPr/>
          </p:nvSpPr>
          <p:spPr>
            <a:xfrm>
              <a:off x="4747260" y="1478280"/>
              <a:ext cx="187452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나머지 컬럼은 2장</a:t>
              </a:r>
            </a:p>
          </p:txBody>
        </p:sp>
        <p:sp>
          <p:nvSpPr>
            <p:cNvPr id="126" name="컬럼 타입"/>
            <p:cNvSpPr txBox="1"/>
            <p:nvPr/>
          </p:nvSpPr>
          <p:spPr>
            <a:xfrm>
              <a:off x="6301740" y="147828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27" name="컬럼 NN"/>
            <p:cNvSpPr txBox="1"/>
            <p:nvPr/>
          </p:nvSpPr>
          <p:spPr>
            <a:xfrm>
              <a:off x="7475220" y="147828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</p:grpSp>
      <p:grpSp>
        <p:nvGrpSpPr>
          <p:cNvPr id="128" name="엔터티 event_log"/>
          <p:cNvGrpSpPr/>
          <p:nvPr/>
        </p:nvGrpSpPr>
        <p:grpSpPr>
          <a:xfrm>
            <a:off x="4396740" y="2209800"/>
            <a:ext cx="3398520" cy="1310640"/>
            <a:chOff x="4396740" y="2209800"/>
            <a:chExt cx="3398520" cy="1310640"/>
          </a:xfrm>
        </p:grpSpPr>
        <p:sp>
          <p:nvSpPr>
            <p:cNvPr id="129" name="테두리"/>
            <p:cNvSpPr/>
            <p:nvPr/>
          </p:nvSpPr>
          <p:spPr>
            <a:xfrm>
              <a:off x="4396740" y="2209800"/>
              <a:ext cx="3398520" cy="1310640"/>
            </a:xfrm>
            <a:prstGeom prst="roundRect">
              <a:avLst>
                <a:gd name="adj" fmla="val 5813"/>
              </a:avLst>
            </a:prstGeom>
            <a:solidFill>
              <a:srgbClr val="FFFFFF"/>
            </a:solidFill>
            <a:ln w="13716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" name="머리"/>
            <p:cNvSpPr/>
            <p:nvPr/>
          </p:nvSpPr>
          <p:spPr>
            <a:xfrm>
              <a:off x="4404360" y="2217420"/>
              <a:ext cx="338328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D5EF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31" name="머리 선"/>
            <p:cNvCxnSpPr/>
            <p:nvPr/>
          </p:nvCxnSpPr>
          <p:spPr>
            <a:xfrm>
              <a:off x="4396740" y="2453640"/>
              <a:ext cx="3398520" cy="0"/>
            </a:xfrm>
            <a:prstGeom prst="line">
              <a:avLst/>
            </a:prstGeom>
            <a:ln w="10668">
              <a:solidFill>
                <a:srgbClr val="1E6B4F"/>
              </a:solidFill>
            </a:ln>
          </p:spPr>
        </p:cxnSp>
        <p:sp>
          <p:nvSpPr>
            <p:cNvPr id="132" name="테이블 이름"/>
            <p:cNvSpPr txBox="1"/>
            <p:nvPr/>
          </p:nvSpPr>
          <p:spPr>
            <a:xfrm>
              <a:off x="4503420" y="2209800"/>
              <a:ext cx="169926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event_log</a:t>
              </a:r>
            </a:p>
          </p:txBody>
        </p:sp>
        <p:sp>
          <p:nvSpPr>
            <p:cNvPr id="133" name="한글 이름"/>
            <p:cNvSpPr txBox="1"/>
            <p:nvPr/>
          </p:nvSpPr>
          <p:spPr>
            <a:xfrm>
              <a:off x="6096000" y="2209800"/>
              <a:ext cx="159258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단계 기록</a:t>
              </a:r>
            </a:p>
          </p:txBody>
        </p:sp>
        <p:cxnSp>
          <p:nvCxnSpPr>
            <p:cNvPr id="134" name="PK 구분선"/>
            <p:cNvCxnSpPr/>
            <p:nvPr/>
          </p:nvCxnSpPr>
          <p:spPr>
            <a:xfrm>
              <a:off x="4472940" y="2682240"/>
              <a:ext cx="324612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135" name="PK 키"/>
            <p:cNvSpPr txBox="1"/>
            <p:nvPr/>
          </p:nvSpPr>
          <p:spPr>
            <a:xfrm>
              <a:off x="4488180" y="2499360"/>
              <a:ext cx="25908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136" name="PK 이름"/>
            <p:cNvSpPr txBox="1"/>
            <p:nvPr/>
          </p:nvSpPr>
          <p:spPr>
            <a:xfrm>
              <a:off x="4747260" y="2499360"/>
              <a:ext cx="187452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event_id</a:t>
              </a:r>
            </a:p>
          </p:txBody>
        </p:sp>
        <p:sp>
          <p:nvSpPr>
            <p:cNvPr id="137" name="PK 타입"/>
            <p:cNvSpPr txBox="1"/>
            <p:nvPr/>
          </p:nvSpPr>
          <p:spPr>
            <a:xfrm>
              <a:off x="6301740" y="249936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</p:txBody>
        </p:sp>
        <p:sp>
          <p:nvSpPr>
            <p:cNvPr id="138" name="PK NN"/>
            <p:cNvSpPr txBox="1"/>
            <p:nvPr/>
          </p:nvSpPr>
          <p:spPr>
            <a:xfrm>
              <a:off x="7475220" y="249936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</p:txBody>
        </p:sp>
        <p:sp>
          <p:nvSpPr>
            <p:cNvPr id="139" name="컬럼 키"/>
            <p:cNvSpPr txBox="1"/>
            <p:nvPr/>
          </p:nvSpPr>
          <p:spPr>
            <a:xfrm>
              <a:off x="4488180" y="2712720"/>
              <a:ext cx="259080" cy="762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FK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40" name="컬럼 이름"/>
            <p:cNvSpPr txBox="1"/>
            <p:nvPr/>
          </p:nvSpPr>
          <p:spPr>
            <a:xfrm>
              <a:off x="4747260" y="2712720"/>
              <a:ext cx="1874520" cy="762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job_id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logged_at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level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stage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message</a:t>
              </a:r>
            </a:p>
          </p:txBody>
        </p:sp>
        <p:sp>
          <p:nvSpPr>
            <p:cNvPr id="141" name="컬럼 타입"/>
            <p:cNvSpPr txBox="1"/>
            <p:nvPr/>
          </p:nvSpPr>
          <p:spPr>
            <a:xfrm>
              <a:off x="6301740" y="2712720"/>
              <a:ext cx="1143000" cy="762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timestamptz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varchar(5)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varchar(20)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text</a:t>
              </a:r>
            </a:p>
          </p:txBody>
        </p:sp>
        <p:sp>
          <p:nvSpPr>
            <p:cNvPr id="142" name="컬럼 NN"/>
            <p:cNvSpPr txBox="1"/>
            <p:nvPr/>
          </p:nvSpPr>
          <p:spPr>
            <a:xfrm>
              <a:off x="7475220" y="2712720"/>
              <a:ext cx="228600" cy="762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</p:txBody>
        </p:sp>
      </p:grpSp>
      <p:grpSp>
        <p:nvGrpSpPr>
          <p:cNvPr id="143" name="엔터티 verify_row_diff"/>
          <p:cNvGrpSpPr/>
          <p:nvPr/>
        </p:nvGrpSpPr>
        <p:grpSpPr>
          <a:xfrm>
            <a:off x="4396740" y="4053840"/>
            <a:ext cx="3398520" cy="1158240"/>
            <a:chOff x="4396740" y="4053840"/>
            <a:chExt cx="3398520" cy="1158240"/>
          </a:xfrm>
        </p:grpSpPr>
        <p:sp>
          <p:nvSpPr>
            <p:cNvPr id="144" name="테두리"/>
            <p:cNvSpPr/>
            <p:nvPr/>
          </p:nvSpPr>
          <p:spPr>
            <a:xfrm>
              <a:off x="4396740" y="4053840"/>
              <a:ext cx="3398520" cy="1158240"/>
            </a:xfrm>
            <a:prstGeom prst="roundRect">
              <a:avLst>
                <a:gd name="adj" fmla="val 6578"/>
              </a:avLst>
            </a:prstGeom>
            <a:solidFill>
              <a:srgbClr val="FFFFFF"/>
            </a:solidFill>
            <a:ln w="13716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5" name="머리"/>
            <p:cNvSpPr/>
            <p:nvPr/>
          </p:nvSpPr>
          <p:spPr>
            <a:xfrm>
              <a:off x="4404360" y="4061460"/>
              <a:ext cx="338328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D5EF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46" name="머리 선"/>
            <p:cNvCxnSpPr/>
            <p:nvPr/>
          </p:nvCxnSpPr>
          <p:spPr>
            <a:xfrm>
              <a:off x="4396740" y="4297680"/>
              <a:ext cx="3398520" cy="0"/>
            </a:xfrm>
            <a:prstGeom prst="line">
              <a:avLst/>
            </a:prstGeom>
            <a:ln w="10668">
              <a:solidFill>
                <a:srgbClr val="1E6B4F"/>
              </a:solidFill>
            </a:ln>
          </p:spPr>
        </p:cxnSp>
        <p:sp>
          <p:nvSpPr>
            <p:cNvPr id="147" name="테이블 이름"/>
            <p:cNvSpPr txBox="1"/>
            <p:nvPr/>
          </p:nvSpPr>
          <p:spPr>
            <a:xfrm>
              <a:off x="4503420" y="4053840"/>
              <a:ext cx="169926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verify_row_diff</a:t>
              </a:r>
            </a:p>
          </p:txBody>
        </p:sp>
        <p:sp>
          <p:nvSpPr>
            <p:cNvPr id="148" name="한글 이름"/>
            <p:cNvSpPr txBox="1"/>
            <p:nvPr/>
          </p:nvSpPr>
          <p:spPr>
            <a:xfrm>
              <a:off x="6096000" y="4053840"/>
              <a:ext cx="159258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불일치 행</a:t>
              </a:r>
            </a:p>
          </p:txBody>
        </p:sp>
        <p:cxnSp>
          <p:nvCxnSpPr>
            <p:cNvPr id="149" name="PK 구분선"/>
            <p:cNvCxnSpPr/>
            <p:nvPr/>
          </p:nvCxnSpPr>
          <p:spPr>
            <a:xfrm>
              <a:off x="4472940" y="4526280"/>
              <a:ext cx="324612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150" name="PK 키"/>
            <p:cNvSpPr txBox="1"/>
            <p:nvPr/>
          </p:nvSpPr>
          <p:spPr>
            <a:xfrm>
              <a:off x="4488180" y="4343400"/>
              <a:ext cx="25908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151" name="PK 이름"/>
            <p:cNvSpPr txBox="1"/>
            <p:nvPr/>
          </p:nvSpPr>
          <p:spPr>
            <a:xfrm>
              <a:off x="4747260" y="4343400"/>
              <a:ext cx="187452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diff_id</a:t>
              </a:r>
            </a:p>
          </p:txBody>
        </p:sp>
        <p:sp>
          <p:nvSpPr>
            <p:cNvPr id="152" name="PK 타입"/>
            <p:cNvSpPr txBox="1"/>
            <p:nvPr/>
          </p:nvSpPr>
          <p:spPr>
            <a:xfrm>
              <a:off x="6301740" y="434340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</p:txBody>
        </p:sp>
        <p:sp>
          <p:nvSpPr>
            <p:cNvPr id="153" name="PK NN"/>
            <p:cNvSpPr txBox="1"/>
            <p:nvPr/>
          </p:nvSpPr>
          <p:spPr>
            <a:xfrm>
              <a:off x="7475220" y="434340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</p:txBody>
        </p:sp>
        <p:sp>
          <p:nvSpPr>
            <p:cNvPr id="154" name="컬럼 키"/>
            <p:cNvSpPr txBox="1"/>
            <p:nvPr/>
          </p:nvSpPr>
          <p:spPr>
            <a:xfrm>
              <a:off x="4488180" y="4556760"/>
              <a:ext cx="259080" cy="609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FK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FK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55" name="컬럼 이름"/>
            <p:cNvSpPr txBox="1"/>
            <p:nvPr/>
          </p:nvSpPr>
          <p:spPr>
            <a:xfrm>
              <a:off x="4747260" y="4556760"/>
              <a:ext cx="1874520" cy="609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run_id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job_table_id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side</a:t>
              </a:r>
            </a:p>
          </p:txBody>
        </p:sp>
        <p:sp>
          <p:nvSpPr>
            <p:cNvPr id="156" name="컬럼 타입"/>
            <p:cNvSpPr txBox="1"/>
            <p:nvPr/>
          </p:nvSpPr>
          <p:spPr>
            <a:xfrm>
              <a:off x="6301740" y="4556760"/>
              <a:ext cx="1143000" cy="609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jsonb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varchar(8)</a:t>
              </a:r>
            </a:p>
          </p:txBody>
        </p:sp>
        <p:sp>
          <p:nvSpPr>
            <p:cNvPr id="157" name="컬럼 NN"/>
            <p:cNvSpPr txBox="1"/>
            <p:nvPr/>
          </p:nvSpPr>
          <p:spPr>
            <a:xfrm>
              <a:off x="7475220" y="4556760"/>
              <a:ext cx="228600" cy="609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</p:txBody>
        </p:sp>
      </p:grpSp>
      <p:grpSp>
        <p:nvGrpSpPr>
          <p:cNvPr id="158" name="엔터티 cutover_run"/>
          <p:cNvGrpSpPr/>
          <p:nvPr/>
        </p:nvGrpSpPr>
        <p:grpSpPr>
          <a:xfrm>
            <a:off x="8412480" y="975360"/>
            <a:ext cx="3398520" cy="1767840"/>
            <a:chOff x="8412480" y="975360"/>
            <a:chExt cx="3398520" cy="1767840"/>
          </a:xfrm>
        </p:grpSpPr>
        <p:sp>
          <p:nvSpPr>
            <p:cNvPr id="159" name="테두리"/>
            <p:cNvSpPr/>
            <p:nvPr/>
          </p:nvSpPr>
          <p:spPr>
            <a:xfrm>
              <a:off x="8412480" y="975360"/>
              <a:ext cx="3398520" cy="1767840"/>
            </a:xfrm>
            <a:prstGeom prst="roundRect">
              <a:avLst>
                <a:gd name="adj" fmla="val 4310"/>
              </a:avLst>
            </a:prstGeom>
            <a:solidFill>
              <a:srgbClr val="FFFFFF"/>
            </a:solidFill>
            <a:ln w="13716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0" name="머리"/>
            <p:cNvSpPr/>
            <p:nvPr/>
          </p:nvSpPr>
          <p:spPr>
            <a:xfrm>
              <a:off x="8420100" y="982980"/>
              <a:ext cx="338328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D5EF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61" name="머리 선"/>
            <p:cNvCxnSpPr/>
            <p:nvPr/>
          </p:nvCxnSpPr>
          <p:spPr>
            <a:xfrm>
              <a:off x="8412480" y="1219200"/>
              <a:ext cx="3398520" cy="0"/>
            </a:xfrm>
            <a:prstGeom prst="line">
              <a:avLst/>
            </a:prstGeom>
            <a:ln w="10668">
              <a:solidFill>
                <a:srgbClr val="1E6B4F"/>
              </a:solidFill>
            </a:ln>
          </p:spPr>
        </p:cxnSp>
        <p:sp>
          <p:nvSpPr>
            <p:cNvPr id="162" name="테이블 이름"/>
            <p:cNvSpPr txBox="1"/>
            <p:nvPr/>
          </p:nvSpPr>
          <p:spPr>
            <a:xfrm>
              <a:off x="8519160" y="975360"/>
              <a:ext cx="169926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cutover_run</a:t>
              </a:r>
            </a:p>
          </p:txBody>
        </p:sp>
        <p:sp>
          <p:nvSpPr>
            <p:cNvPr id="163" name="한글 이름"/>
            <p:cNvSpPr txBox="1"/>
            <p:nvPr/>
          </p:nvSpPr>
          <p:spPr>
            <a:xfrm>
              <a:off x="10111740" y="975360"/>
              <a:ext cx="159258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전환 실행</a:t>
              </a:r>
            </a:p>
          </p:txBody>
        </p:sp>
        <p:cxnSp>
          <p:nvCxnSpPr>
            <p:cNvPr id="164" name="PK 구분선"/>
            <p:cNvCxnSpPr/>
            <p:nvPr/>
          </p:nvCxnSpPr>
          <p:spPr>
            <a:xfrm>
              <a:off x="8488680" y="1447800"/>
              <a:ext cx="324612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165" name="PK 키"/>
            <p:cNvSpPr txBox="1"/>
            <p:nvPr/>
          </p:nvSpPr>
          <p:spPr>
            <a:xfrm>
              <a:off x="8503920" y="1264920"/>
              <a:ext cx="25908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166" name="PK 이름"/>
            <p:cNvSpPr txBox="1"/>
            <p:nvPr/>
          </p:nvSpPr>
          <p:spPr>
            <a:xfrm>
              <a:off x="8763000" y="1264920"/>
              <a:ext cx="187452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cutover_id</a:t>
              </a:r>
            </a:p>
          </p:txBody>
        </p:sp>
        <p:sp>
          <p:nvSpPr>
            <p:cNvPr id="167" name="PK 타입"/>
            <p:cNvSpPr txBox="1"/>
            <p:nvPr/>
          </p:nvSpPr>
          <p:spPr>
            <a:xfrm>
              <a:off x="10317480" y="126492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</p:txBody>
        </p:sp>
        <p:sp>
          <p:nvSpPr>
            <p:cNvPr id="168" name="PK NN"/>
            <p:cNvSpPr txBox="1"/>
            <p:nvPr/>
          </p:nvSpPr>
          <p:spPr>
            <a:xfrm>
              <a:off x="11490960" y="126492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</p:txBody>
        </p:sp>
        <p:sp>
          <p:nvSpPr>
            <p:cNvPr id="169" name="컬럼 키"/>
            <p:cNvSpPr txBox="1"/>
            <p:nvPr/>
          </p:nvSpPr>
          <p:spPr>
            <a:xfrm>
              <a:off x="8503920" y="1478280"/>
              <a:ext cx="259080" cy="1219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FK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  <p:sp>
          <p:nvSpPr>
            <p:cNvPr id="170" name="컬럼 이름"/>
            <p:cNvSpPr txBox="1"/>
            <p:nvPr/>
          </p:nvSpPr>
          <p:spPr>
            <a:xfrm>
              <a:off x="8763000" y="1478280"/>
              <a:ext cx="1874520" cy="1219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job_id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started_at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src_started_at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finished_at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status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elapsed_ms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verify_run_id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last_error</a:t>
              </a:r>
            </a:p>
          </p:txBody>
        </p:sp>
        <p:sp>
          <p:nvSpPr>
            <p:cNvPr id="171" name="컬럼 타입"/>
            <p:cNvSpPr txBox="1"/>
            <p:nvPr/>
          </p:nvSpPr>
          <p:spPr>
            <a:xfrm>
              <a:off x="10317480" y="1478280"/>
              <a:ext cx="1143000" cy="1219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timestamptz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timestamp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timestamptz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varchar(10)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text</a:t>
              </a:r>
            </a:p>
          </p:txBody>
        </p:sp>
        <p:sp>
          <p:nvSpPr>
            <p:cNvPr id="172" name="컬럼 NN"/>
            <p:cNvSpPr txBox="1"/>
            <p:nvPr/>
          </p:nvSpPr>
          <p:spPr>
            <a:xfrm>
              <a:off x="11490960" y="1478280"/>
              <a:ext cx="228600" cy="1219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</p:grpSp>
      <p:grpSp>
        <p:nvGrpSpPr>
          <p:cNvPr id="173" name="엔터티 cutover_step"/>
          <p:cNvGrpSpPr/>
          <p:nvPr/>
        </p:nvGrpSpPr>
        <p:grpSpPr>
          <a:xfrm>
            <a:off x="8412480" y="3276600"/>
            <a:ext cx="3398520" cy="1615440"/>
            <a:chOff x="8412480" y="3276600"/>
            <a:chExt cx="3398520" cy="1615440"/>
          </a:xfrm>
        </p:grpSpPr>
        <p:sp>
          <p:nvSpPr>
            <p:cNvPr id="174" name="테두리"/>
            <p:cNvSpPr/>
            <p:nvPr/>
          </p:nvSpPr>
          <p:spPr>
            <a:xfrm>
              <a:off x="8412480" y="3276600"/>
              <a:ext cx="3398520" cy="1615440"/>
            </a:xfrm>
            <a:prstGeom prst="roundRect">
              <a:avLst>
                <a:gd name="adj" fmla="val 4716"/>
              </a:avLst>
            </a:prstGeom>
            <a:solidFill>
              <a:srgbClr val="FFFFFF"/>
            </a:solidFill>
            <a:ln w="13716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5" name="머리"/>
            <p:cNvSpPr/>
            <p:nvPr/>
          </p:nvSpPr>
          <p:spPr>
            <a:xfrm>
              <a:off x="8420100" y="3284220"/>
              <a:ext cx="338328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D5EF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76" name="머리 선"/>
            <p:cNvCxnSpPr/>
            <p:nvPr/>
          </p:nvCxnSpPr>
          <p:spPr>
            <a:xfrm>
              <a:off x="8412480" y="3520440"/>
              <a:ext cx="3398520" cy="0"/>
            </a:xfrm>
            <a:prstGeom prst="line">
              <a:avLst/>
            </a:prstGeom>
            <a:ln w="10668">
              <a:solidFill>
                <a:srgbClr val="1E6B4F"/>
              </a:solidFill>
            </a:ln>
          </p:spPr>
        </p:cxnSp>
        <p:sp>
          <p:nvSpPr>
            <p:cNvPr id="177" name="테이블 이름"/>
            <p:cNvSpPr txBox="1"/>
            <p:nvPr/>
          </p:nvSpPr>
          <p:spPr>
            <a:xfrm>
              <a:off x="8519160" y="3276600"/>
              <a:ext cx="169926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cutover_step</a:t>
              </a:r>
            </a:p>
          </p:txBody>
        </p:sp>
        <p:sp>
          <p:nvSpPr>
            <p:cNvPr id="178" name="한글 이름"/>
            <p:cNvSpPr txBox="1"/>
            <p:nvPr/>
          </p:nvSpPr>
          <p:spPr>
            <a:xfrm>
              <a:off x="10111740" y="3276600"/>
              <a:ext cx="159258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전환 단계</a:t>
              </a:r>
            </a:p>
          </p:txBody>
        </p:sp>
        <p:cxnSp>
          <p:nvCxnSpPr>
            <p:cNvPr id="179" name="PK 구분선"/>
            <p:cNvCxnSpPr/>
            <p:nvPr/>
          </p:nvCxnSpPr>
          <p:spPr>
            <a:xfrm>
              <a:off x="8488680" y="3901440"/>
              <a:ext cx="324612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180" name="PK 키"/>
            <p:cNvSpPr txBox="1"/>
            <p:nvPr/>
          </p:nvSpPr>
          <p:spPr>
            <a:xfrm>
              <a:off x="8503920" y="3566160"/>
              <a:ext cx="259080" cy="3048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181" name="PK 이름"/>
            <p:cNvSpPr txBox="1"/>
            <p:nvPr/>
          </p:nvSpPr>
          <p:spPr>
            <a:xfrm>
              <a:off x="8763000" y="3566160"/>
              <a:ext cx="1874520" cy="3048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cutover_id (FK)</a:t>
              </a:r>
            </a:p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step_no</a:t>
              </a:r>
            </a:p>
          </p:txBody>
        </p:sp>
        <p:sp>
          <p:nvSpPr>
            <p:cNvPr id="182" name="PK 타입"/>
            <p:cNvSpPr txBox="1"/>
            <p:nvPr/>
          </p:nvSpPr>
          <p:spPr>
            <a:xfrm>
              <a:off x="10317480" y="3566160"/>
              <a:ext cx="1143000" cy="3048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integer</a:t>
              </a:r>
            </a:p>
          </p:txBody>
        </p:sp>
        <p:sp>
          <p:nvSpPr>
            <p:cNvPr id="183" name="PK NN"/>
            <p:cNvSpPr txBox="1"/>
            <p:nvPr/>
          </p:nvSpPr>
          <p:spPr>
            <a:xfrm>
              <a:off x="11490960" y="3566160"/>
              <a:ext cx="228600" cy="3048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</p:txBody>
        </p:sp>
        <p:sp>
          <p:nvSpPr>
            <p:cNvPr id="184" name="컬럼 이름"/>
            <p:cNvSpPr txBox="1"/>
            <p:nvPr/>
          </p:nvSpPr>
          <p:spPr>
            <a:xfrm>
              <a:off x="8763000" y="3931920"/>
              <a:ext cx="1874520" cy="914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step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status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started_at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finished_at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elapsed_ms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detail</a:t>
              </a:r>
            </a:p>
          </p:txBody>
        </p:sp>
        <p:sp>
          <p:nvSpPr>
            <p:cNvPr id="185" name="컬럼 타입"/>
            <p:cNvSpPr txBox="1"/>
            <p:nvPr/>
          </p:nvSpPr>
          <p:spPr>
            <a:xfrm>
              <a:off x="10317480" y="3931920"/>
              <a:ext cx="1143000" cy="914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varchar(20)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varchar(10)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timestamptz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timestamptz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bigint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text</a:t>
              </a:r>
            </a:p>
          </p:txBody>
        </p:sp>
        <p:sp>
          <p:nvSpPr>
            <p:cNvPr id="186" name="컬럼 NN"/>
            <p:cNvSpPr txBox="1"/>
            <p:nvPr/>
          </p:nvSpPr>
          <p:spPr>
            <a:xfrm>
              <a:off x="11490960" y="3931920"/>
              <a:ext cx="228600" cy="914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</p:txBody>
        </p:sp>
      </p:grpSp>
      <p:grpSp>
        <p:nvGrpSpPr>
          <p:cNvPr id="187" name="엔터티 schema_version"/>
          <p:cNvGrpSpPr/>
          <p:nvPr/>
        </p:nvGrpSpPr>
        <p:grpSpPr>
          <a:xfrm>
            <a:off x="8412480" y="5120640"/>
            <a:ext cx="3398520" cy="853440"/>
            <a:chOff x="8412480" y="5120640"/>
            <a:chExt cx="3398520" cy="853440"/>
          </a:xfrm>
        </p:grpSpPr>
        <p:sp>
          <p:nvSpPr>
            <p:cNvPr id="188" name="테두리"/>
            <p:cNvSpPr/>
            <p:nvPr/>
          </p:nvSpPr>
          <p:spPr>
            <a:xfrm>
              <a:off x="8412480" y="5120640"/>
              <a:ext cx="3398520" cy="853440"/>
            </a:xfrm>
            <a:prstGeom prst="roundRect">
              <a:avLst>
                <a:gd name="adj" fmla="val 8928"/>
              </a:avLst>
            </a:prstGeom>
            <a:solidFill>
              <a:srgbClr val="FFFFFF"/>
            </a:solidFill>
            <a:ln w="13716">
              <a:solidFill>
                <a:srgbClr val="1E6B4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9" name="머리"/>
            <p:cNvSpPr/>
            <p:nvPr/>
          </p:nvSpPr>
          <p:spPr>
            <a:xfrm>
              <a:off x="8420100" y="5128260"/>
              <a:ext cx="3383280" cy="236220"/>
            </a:xfrm>
            <a:prstGeom prst="round2SameRect">
              <a:avLst>
                <a:gd name="adj1" fmla="val 29032"/>
                <a:gd name="adj2" fmla="val 0"/>
              </a:avLst>
            </a:prstGeom>
            <a:solidFill>
              <a:srgbClr val="D5EFE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90" name="머리 선"/>
            <p:cNvCxnSpPr/>
            <p:nvPr/>
          </p:nvCxnSpPr>
          <p:spPr>
            <a:xfrm>
              <a:off x="8412480" y="5364480"/>
              <a:ext cx="3398520" cy="0"/>
            </a:xfrm>
            <a:prstGeom prst="line">
              <a:avLst/>
            </a:prstGeom>
            <a:ln w="10668">
              <a:solidFill>
                <a:srgbClr val="1E6B4F"/>
              </a:solidFill>
            </a:ln>
          </p:spPr>
        </p:cxnSp>
        <p:sp>
          <p:nvSpPr>
            <p:cNvPr id="191" name="테이블 이름"/>
            <p:cNvSpPr txBox="1"/>
            <p:nvPr/>
          </p:nvSpPr>
          <p:spPr>
            <a:xfrm>
              <a:off x="8519160" y="5120640"/>
              <a:ext cx="169926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0B3D2E"/>
                  </a:solidFill>
                  <a:latin typeface="Pretendard"/>
                  <a:ea typeface="Pretendard"/>
                  <a:cs typeface="Pretendard"/>
                </a:rPr>
                <a:t>schema_version</a:t>
              </a:r>
            </a:p>
          </p:txBody>
        </p:sp>
        <p:sp>
          <p:nvSpPr>
            <p:cNvPr id="192" name="한글 이름"/>
            <p:cNvSpPr txBox="1"/>
            <p:nvPr/>
          </p:nvSpPr>
          <p:spPr>
            <a:xfrm>
              <a:off x="10111740" y="5120640"/>
              <a:ext cx="1592580" cy="243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/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스키마 버전</a:t>
              </a:r>
            </a:p>
          </p:txBody>
        </p:sp>
        <p:cxnSp>
          <p:nvCxnSpPr>
            <p:cNvPr id="193" name="PK 구분선"/>
            <p:cNvCxnSpPr/>
            <p:nvPr/>
          </p:nvCxnSpPr>
          <p:spPr>
            <a:xfrm>
              <a:off x="8488680" y="5593080"/>
              <a:ext cx="3246120" cy="0"/>
            </a:xfrm>
            <a:prstGeom prst="line">
              <a:avLst/>
            </a:prstGeom>
            <a:ln w="10668">
              <a:solidFill>
                <a:srgbClr val="9DD3B8"/>
              </a:solidFill>
            </a:ln>
          </p:spPr>
        </p:cxnSp>
        <p:sp>
          <p:nvSpPr>
            <p:cNvPr id="194" name="PK 키"/>
            <p:cNvSpPr txBox="1"/>
            <p:nvPr/>
          </p:nvSpPr>
          <p:spPr>
            <a:xfrm>
              <a:off x="8503920" y="5410200"/>
              <a:ext cx="25908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E6B4F"/>
                  </a:solidFill>
                  <a:latin typeface="Pretendard"/>
                  <a:ea typeface="Pretendard"/>
                  <a:cs typeface="Pretendard"/>
                </a:rPr>
                <a:t>PK</a:t>
              </a:r>
            </a:p>
          </p:txBody>
        </p:sp>
        <p:sp>
          <p:nvSpPr>
            <p:cNvPr id="195" name="PK 이름"/>
            <p:cNvSpPr txBox="1"/>
            <p:nvPr/>
          </p:nvSpPr>
          <p:spPr>
            <a:xfrm>
              <a:off x="8763000" y="5410200"/>
              <a:ext cx="187452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1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version</a:t>
              </a:r>
            </a:p>
          </p:txBody>
        </p:sp>
        <p:sp>
          <p:nvSpPr>
            <p:cNvPr id="196" name="PK 타입"/>
            <p:cNvSpPr txBox="1"/>
            <p:nvPr/>
          </p:nvSpPr>
          <p:spPr>
            <a:xfrm>
              <a:off x="10317480" y="5410200"/>
              <a:ext cx="11430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integer</a:t>
              </a:r>
            </a:p>
          </p:txBody>
        </p:sp>
        <p:sp>
          <p:nvSpPr>
            <p:cNvPr id="197" name="PK NN"/>
            <p:cNvSpPr txBox="1"/>
            <p:nvPr/>
          </p:nvSpPr>
          <p:spPr>
            <a:xfrm>
              <a:off x="11490960" y="5410200"/>
              <a:ext cx="228600" cy="1524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</p:txBody>
        </p:sp>
        <p:sp>
          <p:nvSpPr>
            <p:cNvPr id="198" name="컬럼 이름"/>
            <p:cNvSpPr txBox="1"/>
            <p:nvPr/>
          </p:nvSpPr>
          <p:spPr>
            <a:xfrm>
              <a:off x="8763000" y="5623560"/>
              <a:ext cx="1874520" cy="3048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description</a:t>
              </a:r>
            </a:p>
            <a:p>
              <a:pPr algn="l">
                <a:lnSpc>
                  <a:spcPts val="1200"/>
                </a:lnSpc>
              </a:pPr>
              <a:r>
                <a:rPr sz="1019" b="0">
                  <a:solidFill>
                    <a:srgbClr val="16202C"/>
                  </a:solidFill>
                  <a:latin typeface="Pretendard"/>
                  <a:ea typeface="Pretendard"/>
                  <a:cs typeface="Pretendard"/>
                </a:rPr>
                <a:t>applied_at</a:t>
              </a:r>
            </a:p>
          </p:txBody>
        </p:sp>
        <p:sp>
          <p:nvSpPr>
            <p:cNvPr id="199" name="컬럼 타입"/>
            <p:cNvSpPr txBox="1"/>
            <p:nvPr/>
          </p:nvSpPr>
          <p:spPr>
            <a:xfrm>
              <a:off x="10317480" y="5623560"/>
              <a:ext cx="1143000" cy="3048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text</a:t>
              </a:r>
            </a:p>
            <a:p>
              <a:pPr algn="r">
                <a:lnSpc>
                  <a:spcPts val="1200"/>
                </a:lnSpc>
              </a:pPr>
              <a:r>
                <a:rPr sz="1019" b="0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timestamptz</a:t>
              </a:r>
            </a:p>
          </p:txBody>
        </p:sp>
        <p:sp>
          <p:nvSpPr>
            <p:cNvPr id="200" name="컬럼 NN"/>
            <p:cNvSpPr txBox="1"/>
            <p:nvPr/>
          </p:nvSpPr>
          <p:spPr>
            <a:xfrm>
              <a:off x="11490960" y="5623560"/>
              <a:ext cx="228600" cy="3048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  <a:p>
              <a:pPr algn="r">
                <a:lnSpc>
                  <a:spcPts val="1200"/>
                </a:lnSpc>
              </a:pPr>
              <a:r>
                <a:rPr sz="1019" b="1">
                  <a:solidFill>
                    <a:srgbClr val="3F4E61"/>
                  </a:solidFill>
                  <a:latin typeface="Pretendard"/>
                  <a:ea typeface="Pretendard"/>
                  <a:cs typeface="Pretendard"/>
                </a:rPr>
                <a:t>NN</a:t>
              </a:r>
            </a:p>
          </p:txBody>
        </p:sp>
      </p:grpSp>
      <p:sp>
        <p:nvSpPr>
          <p:cNvPr id="201" name="범례"/>
          <p:cNvSpPr/>
          <p:nvPr/>
        </p:nvSpPr>
        <p:spPr>
          <a:xfrm>
            <a:off x="381000" y="6309360"/>
            <a:ext cx="6803898" cy="39624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0668">
            <a:solidFill>
              <a:srgbClr val="9DD3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범례 제목"/>
          <p:cNvSpPr txBox="1"/>
          <p:nvPr/>
        </p:nvSpPr>
        <p:spPr>
          <a:xfrm>
            <a:off x="518160" y="6309360"/>
            <a:ext cx="3810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범례</a:t>
            </a:r>
          </a:p>
        </p:txBody>
      </p:sp>
      <p:cxnSp>
        <p:nvCxnSpPr>
          <p:cNvPr id="203" name="범례 정확히 1"/>
          <p:cNvCxnSpPr/>
          <p:nvPr/>
        </p:nvCxnSpPr>
        <p:spPr>
          <a:xfrm>
            <a:off x="914400" y="6507480"/>
            <a:ext cx="350520" cy="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cxnSp>
        <p:nvCxnSpPr>
          <p:cNvPr id="204" name="관계 기호"/>
          <p:cNvCxnSpPr/>
          <p:nvPr/>
        </p:nvCxnSpPr>
        <p:spPr>
          <a:xfrm flipV="1">
            <a:off x="1188720" y="6446520"/>
            <a:ext cx="0" cy="12192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cxnSp>
        <p:nvCxnSpPr>
          <p:cNvPr id="205" name="관계 기호"/>
          <p:cNvCxnSpPr/>
          <p:nvPr/>
        </p:nvCxnSpPr>
        <p:spPr>
          <a:xfrm flipV="1">
            <a:off x="1135380" y="6446520"/>
            <a:ext cx="0" cy="12192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sp>
        <p:nvSpPr>
          <p:cNvPr id="206" name="범례 글 정확히 1"/>
          <p:cNvSpPr txBox="1"/>
          <p:nvPr/>
        </p:nvSpPr>
        <p:spPr>
          <a:xfrm>
            <a:off x="1341120" y="6309360"/>
            <a:ext cx="683514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정확히 1</a:t>
            </a:r>
          </a:p>
        </p:txBody>
      </p:sp>
      <p:cxnSp>
        <p:nvCxnSpPr>
          <p:cNvPr id="207" name="범례 0 또는 1"/>
          <p:cNvCxnSpPr/>
          <p:nvPr/>
        </p:nvCxnSpPr>
        <p:spPr>
          <a:xfrm>
            <a:off x="2100834" y="6507480"/>
            <a:ext cx="350520" cy="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cxnSp>
        <p:nvCxnSpPr>
          <p:cNvPr id="208" name="관계 기호"/>
          <p:cNvCxnSpPr/>
          <p:nvPr/>
        </p:nvCxnSpPr>
        <p:spPr>
          <a:xfrm flipV="1">
            <a:off x="2375154" y="6446520"/>
            <a:ext cx="0" cy="12192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sp>
        <p:nvSpPr>
          <p:cNvPr id="209" name="관계 기호 0"/>
          <p:cNvSpPr/>
          <p:nvPr/>
        </p:nvSpPr>
        <p:spPr>
          <a:xfrm>
            <a:off x="2222754" y="6461760"/>
            <a:ext cx="91440" cy="914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6B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범례 글 0 또는 1"/>
          <p:cNvSpPr txBox="1"/>
          <p:nvPr/>
        </p:nvSpPr>
        <p:spPr>
          <a:xfrm>
            <a:off x="2527554" y="6309360"/>
            <a:ext cx="696468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0 또는 1</a:t>
            </a:r>
          </a:p>
        </p:txBody>
      </p:sp>
      <p:cxnSp>
        <p:nvCxnSpPr>
          <p:cNvPr id="211" name="범례 0 이상 (N)"/>
          <p:cNvCxnSpPr/>
          <p:nvPr/>
        </p:nvCxnSpPr>
        <p:spPr>
          <a:xfrm>
            <a:off x="3300222" y="6507480"/>
            <a:ext cx="350520" cy="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cxnSp>
        <p:nvCxnSpPr>
          <p:cNvPr id="212" name="관계 기호"/>
          <p:cNvCxnSpPr/>
          <p:nvPr/>
        </p:nvCxnSpPr>
        <p:spPr>
          <a:xfrm>
            <a:off x="3528822" y="6507480"/>
            <a:ext cx="121920" cy="6858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cxnSp>
        <p:nvCxnSpPr>
          <p:cNvPr id="213" name="관계 기호"/>
          <p:cNvCxnSpPr/>
          <p:nvPr/>
        </p:nvCxnSpPr>
        <p:spPr>
          <a:xfrm>
            <a:off x="3528822" y="6507480"/>
            <a:ext cx="121920" cy="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cxnSp>
        <p:nvCxnSpPr>
          <p:cNvPr id="214" name="관계 기호"/>
          <p:cNvCxnSpPr/>
          <p:nvPr/>
        </p:nvCxnSpPr>
        <p:spPr>
          <a:xfrm flipV="1">
            <a:off x="3528822" y="6438900"/>
            <a:ext cx="121920" cy="6858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sp>
        <p:nvSpPr>
          <p:cNvPr id="215" name="관계 기호 0"/>
          <p:cNvSpPr/>
          <p:nvPr/>
        </p:nvSpPr>
        <p:spPr>
          <a:xfrm>
            <a:off x="3391662" y="6461760"/>
            <a:ext cx="91440" cy="914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6B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범례 글 0 이상 (N)"/>
          <p:cNvSpPr txBox="1"/>
          <p:nvPr/>
        </p:nvSpPr>
        <p:spPr>
          <a:xfrm>
            <a:off x="3726942" y="6309360"/>
            <a:ext cx="838962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0 이상 (N)</a:t>
            </a:r>
          </a:p>
        </p:txBody>
      </p:sp>
      <p:cxnSp>
        <p:nvCxnSpPr>
          <p:cNvPr id="217" name="범례 식별 관계"/>
          <p:cNvCxnSpPr/>
          <p:nvPr/>
        </p:nvCxnSpPr>
        <p:spPr>
          <a:xfrm>
            <a:off x="4642104" y="6507480"/>
            <a:ext cx="350520" cy="0"/>
          </a:xfrm>
          <a:prstGeom prst="line">
            <a:avLst/>
          </a:prstGeom>
          <a:ln w="15240">
            <a:solidFill>
              <a:srgbClr val="1E6B4F"/>
            </a:solidFill>
          </a:ln>
        </p:spPr>
      </p:cxnSp>
      <p:sp>
        <p:nvSpPr>
          <p:cNvPr id="218" name="범례 글 식별 관계"/>
          <p:cNvSpPr txBox="1"/>
          <p:nvPr/>
        </p:nvSpPr>
        <p:spPr>
          <a:xfrm>
            <a:off x="5068824" y="6309360"/>
            <a:ext cx="741807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식별 관계</a:t>
            </a:r>
          </a:p>
        </p:txBody>
      </p:sp>
      <p:cxnSp>
        <p:nvCxnSpPr>
          <p:cNvPr id="219" name="범례 비식별 관계"/>
          <p:cNvCxnSpPr/>
          <p:nvPr/>
        </p:nvCxnSpPr>
        <p:spPr>
          <a:xfrm>
            <a:off x="5886831" y="6507480"/>
            <a:ext cx="350520" cy="0"/>
          </a:xfrm>
          <a:prstGeom prst="line">
            <a:avLst/>
          </a:prstGeom>
          <a:ln w="15240">
            <a:solidFill>
              <a:srgbClr val="1E6B4F"/>
            </a:solidFill>
            <a:prstDash val="dash"/>
          </a:ln>
        </p:spPr>
      </p:cxnSp>
      <p:sp>
        <p:nvSpPr>
          <p:cNvPr id="220" name="범례 글 비식별 관계"/>
          <p:cNvSpPr txBox="1"/>
          <p:nvPr/>
        </p:nvSpPr>
        <p:spPr>
          <a:xfrm>
            <a:off x="6313551" y="6309360"/>
            <a:ext cx="871347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비식별 관계</a:t>
            </a:r>
          </a:p>
        </p:txBody>
      </p:sp>
      <p:sp>
        <p:nvSpPr>
          <p:cNvPr id="221" name="설명"/>
          <p:cNvSpPr txBox="1"/>
          <p:nvPr/>
        </p:nvSpPr>
        <p:spPr>
          <a:xfrm>
            <a:off x="7594092" y="6347460"/>
            <a:ext cx="4216908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event_log.job_id 는 NULL 허용 · verify_run_id 는 FK 아님</a:t>
            </a:r>
          </a:p>
        </p:txBody>
      </p:sp>
      <p:sp>
        <p:nvSpPr>
          <p:cNvPr id="222" name="설명"/>
          <p:cNvSpPr txBox="1"/>
          <p:nvPr/>
        </p:nvSpPr>
        <p:spPr>
          <a:xfrm>
            <a:off x="8410194" y="6537960"/>
            <a:ext cx="3400806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FK 는 모두 ON DELETE CASCADE · NN = NOT NULL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KDMS 관리 테이블 ERD</dc:title>
  <dc:subject/>
  <dc:creator>KDMS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
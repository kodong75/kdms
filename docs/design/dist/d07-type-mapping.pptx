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막대"/>
          <p:cNvSpPr/>
          <p:nvPr/>
        </p:nvSpPr>
        <p:spPr>
          <a:xfrm>
            <a:off x="381000" y="289560"/>
            <a:ext cx="53340" cy="335280"/>
          </a:xfrm>
          <a:prstGeom prst="roundRect">
            <a:avLst>
              <a:gd name="adj" fmla="val 50000"/>
            </a:avLst>
          </a:pr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제목"/>
          <p:cNvSpPr txBox="1"/>
          <p:nvPr/>
        </p:nvSpPr>
        <p:spPr>
          <a:xfrm>
            <a:off x="533400" y="289560"/>
            <a:ext cx="7620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KDMS 변환 규칙 매핑표</a:t>
            </a:r>
          </a:p>
        </p:txBody>
      </p:sp>
      <p:sp>
        <p:nvSpPr>
          <p:cNvPr id="4" name="부제"/>
          <p:cNvSpPr txBox="1"/>
          <p:nvPr/>
        </p:nvSpPr>
        <p:spPr>
          <a:xfrm>
            <a:off x="533400" y="624840"/>
            <a:ext cx="7620000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60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MS-SQL 2019 → PostgreSQL 16 · 기본 규칙 kdms-rules.yml · 2단계(스키마 변환) 결과</a:t>
            </a:r>
          </a:p>
        </p:txBody>
      </p:sp>
      <p:sp>
        <p:nvSpPr>
          <p:cNvPr id="5" name="문서 정보"/>
          <p:cNvSpPr txBox="1"/>
          <p:nvPr/>
        </p:nvSpPr>
        <p:spPr>
          <a:xfrm>
            <a:off x="8763000" y="426720"/>
            <a:ext cx="30480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KDMS-D07 · v0.1 · 2026-10-06</a:t>
            </a:r>
          </a:p>
        </p:txBody>
      </p:sp>
      <p:sp>
        <p:nvSpPr>
          <p:cNvPr id="6" name="영역 자료형 (types)"/>
          <p:cNvSpPr/>
          <p:nvPr/>
        </p:nvSpPr>
        <p:spPr>
          <a:xfrm>
            <a:off x="381000" y="914400"/>
            <a:ext cx="7391400" cy="5059680"/>
          </a:xfrm>
          <a:prstGeom prst="roundRect">
            <a:avLst>
              <a:gd name="adj" fmla="val 2710"/>
            </a:avLst>
          </a:prstGeom>
          <a:solidFill>
            <a:srgbClr val="F1F6FC"/>
          </a:solidFill>
          <a:ln w="10668">
            <a:solidFill>
              <a:srgbClr val="A9C3E2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자료형 (types)</a:t>
            </a:r>
          </a:p>
          <a:p>
            <a:pPr algn="l">
              <a:lnSpc>
                <a:spcPts val="120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원천 타입 → 대상 타입 · 괄호는 KIS 함정 번호</a:t>
            </a:r>
          </a:p>
        </p:txBody>
      </p:sp>
      <p:sp>
        <p:nvSpPr>
          <p:cNvPr id="7" name="영역 DDL 세 단계"/>
          <p:cNvSpPr/>
          <p:nvPr/>
        </p:nvSpPr>
        <p:spPr>
          <a:xfrm>
            <a:off x="7924800" y="914400"/>
            <a:ext cx="3886200" cy="2590800"/>
          </a:xfrm>
          <a:prstGeom prst="roundRect">
            <a:avLst>
              <a:gd name="adj" fmla="val 5294"/>
            </a:avLst>
          </a:prstGeom>
          <a:solidFill>
            <a:srgbClr val="F1F6FC"/>
          </a:solidFill>
          <a:ln w="10668">
            <a:solidFill>
              <a:srgbClr val="A9C3E2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DDL 세 단계</a:t>
            </a:r>
          </a:p>
          <a:p>
            <a:pPr algn="l">
              <a:lnSpc>
                <a:spcPts val="120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한 번에 만들지 않고 시점을 나눈다</a:t>
            </a:r>
          </a:p>
        </p:txBody>
      </p:sp>
      <p:sp>
        <p:nvSpPr>
          <p:cNvPr id="8" name="영역 값 규칙"/>
          <p:cNvSpPr/>
          <p:nvPr/>
        </p:nvSpPr>
        <p:spPr>
          <a:xfrm>
            <a:off x="7924800" y="3627120"/>
            <a:ext cx="3886200" cy="2346960"/>
          </a:xfrm>
          <a:prstGeom prst="roundRect">
            <a:avLst>
              <a:gd name="adj" fmla="val 5844"/>
            </a:avLst>
          </a:prstGeom>
          <a:solidFill>
            <a:srgbClr val="F1F6FC"/>
          </a:solidFill>
          <a:ln w="10668">
            <a:solidFill>
              <a:srgbClr val="A9C3E2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값 규칙</a:t>
            </a:r>
          </a:p>
          <a:p>
            <a:pPr algn="l">
              <a:lnSpc>
                <a:spcPts val="120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DDL 은 그대로, 적재·반영·검증이 같이 쓴다</a:t>
            </a:r>
          </a:p>
        </p:txBody>
      </p:sp>
      <p:sp>
        <p:nvSpPr>
          <p:cNvPr id="9" name="블록 datetime"/>
          <p:cNvSpPr/>
          <p:nvPr/>
        </p:nvSpPr>
        <p:spPr>
          <a:xfrm>
            <a:off x="548640" y="1493520"/>
            <a:ext cx="1463040" cy="62484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1181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datetime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3.33ms 단위</a:t>
            </a:r>
          </a:p>
        </p:txBody>
      </p:sp>
      <p:sp>
        <p:nvSpPr>
          <p:cNvPr id="10" name="블록 timestamp(3)"/>
          <p:cNvSpPr/>
          <p:nvPr/>
        </p:nvSpPr>
        <p:spPr>
          <a:xfrm>
            <a:off x="2240280" y="1493520"/>
            <a:ext cx="1600200" cy="62484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1181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timestamp(3)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.997 값 그대로 (A05)</a:t>
            </a:r>
          </a:p>
        </p:txBody>
      </p:sp>
      <p:sp>
        <p:nvSpPr>
          <p:cNvPr id="11" name="블록 datetime2(7)"/>
          <p:cNvSpPr/>
          <p:nvPr/>
        </p:nvSpPr>
        <p:spPr>
          <a:xfrm>
            <a:off x="548640" y="2255520"/>
            <a:ext cx="1463040" cy="62484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1181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datetime2(7)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100ns 단위</a:t>
            </a:r>
          </a:p>
        </p:txBody>
      </p:sp>
      <p:sp>
        <p:nvSpPr>
          <p:cNvPr id="12" name="블록 timestamp(6)"/>
          <p:cNvSpPr/>
          <p:nvPr/>
        </p:nvSpPr>
        <p:spPr>
          <a:xfrm>
            <a:off x="2240280" y="2255520"/>
            <a:ext cx="1600200" cy="62484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1181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timestamp(6)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7→6자리 반올림 (A06)</a:t>
            </a:r>
          </a:p>
        </p:txBody>
      </p:sp>
      <p:sp>
        <p:nvSpPr>
          <p:cNvPr id="13" name="블록 money"/>
          <p:cNvSpPr/>
          <p:nvPr/>
        </p:nvSpPr>
        <p:spPr>
          <a:xfrm>
            <a:off x="548640" y="3017520"/>
            <a:ext cx="1463040" cy="62484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1181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money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8바이트 고정 소수</a:t>
            </a:r>
          </a:p>
        </p:txBody>
      </p:sp>
      <p:sp>
        <p:nvSpPr>
          <p:cNvPr id="14" name="블록 numeric(19,4)"/>
          <p:cNvSpPr/>
          <p:nvPr/>
        </p:nvSpPr>
        <p:spPr>
          <a:xfrm>
            <a:off x="2240280" y="3017520"/>
            <a:ext cx="1600200" cy="62484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1181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numeric(19,4)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합계 오버플로 방지 (A04)</a:t>
            </a:r>
          </a:p>
        </p:txBody>
      </p:sp>
      <p:sp>
        <p:nvSpPr>
          <p:cNvPr id="15" name="블록 bit"/>
          <p:cNvSpPr/>
          <p:nvPr/>
        </p:nvSpPr>
        <p:spPr>
          <a:xfrm>
            <a:off x="548640" y="3779520"/>
            <a:ext cx="1463040" cy="62484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1181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bit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0 · 1</a:t>
            </a:r>
          </a:p>
        </p:txBody>
      </p:sp>
      <p:sp>
        <p:nvSpPr>
          <p:cNvPr id="16" name="블록 boolean"/>
          <p:cNvSpPr/>
          <p:nvPr/>
        </p:nvSpPr>
        <p:spPr>
          <a:xfrm>
            <a:off x="2240280" y="3779520"/>
            <a:ext cx="1600200" cy="62484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1181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boolean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앱 SQL '= 1' 주의 (A07)</a:t>
            </a:r>
          </a:p>
        </p:txBody>
      </p:sp>
      <p:sp>
        <p:nvSpPr>
          <p:cNvPr id="17" name="블록 tinyint"/>
          <p:cNvSpPr/>
          <p:nvPr/>
        </p:nvSpPr>
        <p:spPr>
          <a:xfrm>
            <a:off x="548640" y="4541520"/>
            <a:ext cx="1463040" cy="62484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1181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tinyint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0 ~ 255</a:t>
            </a:r>
          </a:p>
        </p:txBody>
      </p:sp>
      <p:sp>
        <p:nvSpPr>
          <p:cNvPr id="18" name="블록 smallint"/>
          <p:cNvSpPr/>
          <p:nvPr/>
        </p:nvSpPr>
        <p:spPr>
          <a:xfrm>
            <a:off x="2240280" y="4541520"/>
            <a:ext cx="1600200" cy="62484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1181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smallint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CHECK 0 ~ 255</a:t>
            </a:r>
          </a:p>
        </p:txBody>
      </p:sp>
      <p:sp>
        <p:nvSpPr>
          <p:cNvPr id="19" name="블록 (n)varchar(n)"/>
          <p:cNvSpPr/>
          <p:nvPr/>
        </p:nvSpPr>
        <p:spPr>
          <a:xfrm>
            <a:off x="4191000" y="1493520"/>
            <a:ext cx="1463040" cy="62484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1181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(n)varchar(n)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UTF-16 · CP949</a:t>
            </a:r>
          </a:p>
        </p:txBody>
      </p:sp>
      <p:sp>
        <p:nvSpPr>
          <p:cNvPr id="20" name="블록 varchar(n)"/>
          <p:cNvSpPr/>
          <p:nvPr/>
        </p:nvSpPr>
        <p:spPr>
          <a:xfrm>
            <a:off x="5882640" y="1493520"/>
            <a:ext cx="1600200" cy="62484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1181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varchar(n)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UTF-8 바이트 증가 (A03)</a:t>
            </a:r>
          </a:p>
        </p:txBody>
      </p:sp>
      <p:sp>
        <p:nvSpPr>
          <p:cNvPr id="21" name="블록 char(n)"/>
          <p:cNvSpPr/>
          <p:nvPr/>
        </p:nvSpPr>
        <p:spPr>
          <a:xfrm>
            <a:off x="4191000" y="2255520"/>
            <a:ext cx="1463040" cy="62484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1181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char(n)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채움 공백</a:t>
            </a:r>
          </a:p>
        </p:txBody>
      </p:sp>
      <p:sp>
        <p:nvSpPr>
          <p:cNvPr id="22" name="블록 char(n)"/>
          <p:cNvSpPr/>
          <p:nvPr/>
        </p:nvSpPr>
        <p:spPr>
          <a:xfrm>
            <a:off x="5882640" y="2255520"/>
            <a:ext cx="1600200" cy="62484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1181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char(n)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검증은 RTRIM (A10)</a:t>
            </a:r>
          </a:p>
        </p:txBody>
      </p:sp>
      <p:sp>
        <p:nvSpPr>
          <p:cNvPr id="23" name="블록 uniqueidentifier"/>
          <p:cNvSpPr/>
          <p:nvPr/>
        </p:nvSpPr>
        <p:spPr>
          <a:xfrm>
            <a:off x="4191000" y="3017520"/>
            <a:ext cx="1463040" cy="62484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1181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uniqueidentifier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GUID</a:t>
            </a:r>
          </a:p>
        </p:txBody>
      </p:sp>
      <p:sp>
        <p:nvSpPr>
          <p:cNvPr id="24" name="블록 uuid"/>
          <p:cNvSpPr/>
          <p:nvPr/>
        </p:nvSpPr>
        <p:spPr>
          <a:xfrm>
            <a:off x="5882640" y="3017520"/>
            <a:ext cx="1600200" cy="624840"/>
          </a:xfrm>
          <a:prstGeom prst="roundRect">
            <a:avLst>
              <a:gd name="adj" fmla="val 14634"/>
            </a:avLst>
          </a:prstGeom>
          <a:solidFill>
            <a:srgbClr val="D3E5F8"/>
          </a:solidFill>
          <a:ln w="18288">
            <a:solidFill>
              <a:srgbClr val="0F3C78"/>
            </a:solidFill>
          </a:ln>
        </p:spPr>
        <p:txBody>
          <a:bodyPr rtlCol="0" anchor="t" lIns="45720" tIns="1181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uuid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정렬 순서가 달라짐</a:t>
            </a:r>
          </a:p>
        </p:txBody>
      </p:sp>
      <p:sp>
        <p:nvSpPr>
          <p:cNvPr id="25" name="블록 rowversion"/>
          <p:cNvSpPr/>
          <p:nvPr/>
        </p:nvSpPr>
        <p:spPr>
          <a:xfrm>
            <a:off x="4191000" y="3779520"/>
            <a:ext cx="1463040" cy="62484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1181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rowversion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행 버전</a:t>
            </a:r>
          </a:p>
        </p:txBody>
      </p:sp>
      <p:sp>
        <p:nvSpPr>
          <p:cNvPr id="26" name="블록 bytea"/>
          <p:cNvSpPr/>
          <p:nvPr/>
        </p:nvSpPr>
        <p:spPr>
          <a:xfrm>
            <a:off x="5882640" y="3779520"/>
            <a:ext cx="1600200" cy="624840"/>
          </a:xfrm>
          <a:prstGeom prst="roundRect">
            <a:avLst>
              <a:gd name="adj" fmla="val 14634"/>
            </a:avLst>
          </a:prstGeom>
          <a:solidFill>
            <a:srgbClr val="D3E5F8"/>
          </a:solidFill>
          <a:ln w="18288">
            <a:solidFill>
              <a:srgbClr val="0F3C78"/>
            </a:solidFill>
          </a:ln>
        </p:spPr>
        <p:txBody>
          <a:bodyPr rtlCol="0" anchor="t" lIns="45720" tIns="1181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bytea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낙관적 잠금이면 별도 설계</a:t>
            </a:r>
          </a:p>
        </p:txBody>
      </p:sp>
      <p:sp>
        <p:nvSpPr>
          <p:cNvPr id="27" name="블록 datetimeoffset"/>
          <p:cNvSpPr/>
          <p:nvPr/>
        </p:nvSpPr>
        <p:spPr>
          <a:xfrm>
            <a:off x="4191000" y="4541520"/>
            <a:ext cx="1463040" cy="62484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1181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datetimeoffset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시간대 포함</a:t>
            </a:r>
          </a:p>
        </p:txBody>
      </p:sp>
      <p:sp>
        <p:nvSpPr>
          <p:cNvPr id="28" name="블록 timestamptz(6)"/>
          <p:cNvSpPr/>
          <p:nvPr/>
        </p:nvSpPr>
        <p:spPr>
          <a:xfrm>
            <a:off x="5882640" y="4541520"/>
            <a:ext cx="1600200" cy="624840"/>
          </a:xfrm>
          <a:prstGeom prst="roundRect">
            <a:avLst>
              <a:gd name="adj" fmla="val 14634"/>
            </a:avLst>
          </a:prstGeom>
          <a:solidFill>
            <a:srgbClr val="D3E5F8"/>
          </a:solidFill>
          <a:ln w="18288">
            <a:solidFill>
              <a:srgbClr val="0F3C78"/>
            </a:solidFill>
          </a:ln>
        </p:spPr>
        <p:txBody>
          <a:bodyPr rtlCol="0" anchor="t" lIns="45720" tIns="1181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timestamptz(6)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오프셋 버리고 UTC 저장</a:t>
            </a:r>
          </a:p>
        </p:txBody>
      </p:sp>
      <p:sp>
        <p:nvSpPr>
          <p:cNvPr id="29" name="블록 규칙 없는 타입(geography · hierarchyid · sql_variant 등)은 kdms plan 이 오류로 멈춘다"/>
          <p:cNvSpPr/>
          <p:nvPr/>
        </p:nvSpPr>
        <p:spPr>
          <a:xfrm>
            <a:off x="548640" y="5349240"/>
            <a:ext cx="7056120" cy="396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164B8C"/>
            </a:solidFill>
          </a:ln>
        </p:spPr>
        <p:txBody>
          <a:bodyPr rtlCol="0" anchor="ctr" lIns="734377" tIns="0" rIns="0" bIns="0" wrap="none">
            <a:noAutofit/>
          </a:bodyPr>
          <a:lstStyle/>
          <a:p>
            <a:pPr algn="l"/>
            <a:r>
              <a:rPr sz="1019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규칙 없는 타입(geography · hierarchyid · sql_variant 등)은 kdms plan 이 오류로 멈춘다</a:t>
            </a:r>
          </a:p>
        </p:txBody>
      </p:sp>
      <p:sp>
        <p:nvSpPr>
          <p:cNvPr id="30" name="아이콘 report"/>
          <p:cNvSpPr/>
          <p:nvPr/>
        </p:nvSpPr>
        <p:spPr>
          <a:xfrm>
            <a:off x="1033462" y="5473065"/>
            <a:ext cx="148590" cy="148590"/>
          </a:xfrm>
          <a:custGeom>
            <a:avLst/>
            <a:gdLst/>
            <a:ahLst/>
            <a:cxnLst/>
            <a:rect l="l" t="t" r="r" b="b"/>
            <a:pathLst>
              <a:path w="148590" h="148590">
                <a:moveTo>
                  <a:pt x="74295" y="115364"/>
                </a:moveTo>
                <a:lnTo>
                  <a:pt x="74772" y="115349"/>
                </a:lnTo>
                <a:lnTo>
                  <a:pt x="75239" y="115303"/>
                </a:lnTo>
                <a:lnTo>
                  <a:pt x="75695" y="115228"/>
                </a:lnTo>
                <a:lnTo>
                  <a:pt x="76141" y="115123"/>
                </a:lnTo>
                <a:lnTo>
                  <a:pt x="76578" y="114987"/>
                </a:lnTo>
                <a:lnTo>
                  <a:pt x="77004" y="114822"/>
                </a:lnTo>
                <a:lnTo>
                  <a:pt x="77421" y="114626"/>
                </a:lnTo>
                <a:lnTo>
                  <a:pt x="77827" y="114401"/>
                </a:lnTo>
                <a:lnTo>
                  <a:pt x="78223" y="114145"/>
                </a:lnTo>
                <a:lnTo>
                  <a:pt x="78609" y="113859"/>
                </a:lnTo>
                <a:lnTo>
                  <a:pt x="78986" y="113543"/>
                </a:lnTo>
                <a:lnTo>
                  <a:pt x="79352" y="113197"/>
                </a:lnTo>
                <a:lnTo>
                  <a:pt x="79698" y="112831"/>
                </a:lnTo>
                <a:lnTo>
                  <a:pt x="80014" y="112454"/>
                </a:lnTo>
                <a:lnTo>
                  <a:pt x="80300" y="112068"/>
                </a:lnTo>
                <a:lnTo>
                  <a:pt x="80556" y="111672"/>
                </a:lnTo>
                <a:lnTo>
                  <a:pt x="80781" y="111266"/>
                </a:lnTo>
                <a:lnTo>
                  <a:pt x="80977" y="110849"/>
                </a:lnTo>
                <a:lnTo>
                  <a:pt x="81142" y="110423"/>
                </a:lnTo>
                <a:lnTo>
                  <a:pt x="81278" y="109986"/>
                </a:lnTo>
                <a:lnTo>
                  <a:pt x="81383" y="109540"/>
                </a:lnTo>
                <a:lnTo>
                  <a:pt x="81458" y="109084"/>
                </a:lnTo>
                <a:lnTo>
                  <a:pt x="81504" y="108617"/>
                </a:lnTo>
                <a:lnTo>
                  <a:pt x="81519" y="108141"/>
                </a:lnTo>
                <a:lnTo>
                  <a:pt x="81504" y="107664"/>
                </a:lnTo>
                <a:lnTo>
                  <a:pt x="81458" y="107197"/>
                </a:lnTo>
                <a:lnTo>
                  <a:pt x="81383" y="106741"/>
                </a:lnTo>
                <a:lnTo>
                  <a:pt x="81278" y="106295"/>
                </a:lnTo>
                <a:lnTo>
                  <a:pt x="81142" y="105858"/>
                </a:lnTo>
                <a:lnTo>
                  <a:pt x="80977" y="105432"/>
                </a:lnTo>
                <a:lnTo>
                  <a:pt x="80781" y="105015"/>
                </a:lnTo>
                <a:lnTo>
                  <a:pt x="80556" y="104609"/>
                </a:lnTo>
                <a:lnTo>
                  <a:pt x="80300" y="104213"/>
                </a:lnTo>
                <a:lnTo>
                  <a:pt x="80014" y="103827"/>
                </a:lnTo>
                <a:lnTo>
                  <a:pt x="79698" y="103450"/>
                </a:lnTo>
                <a:lnTo>
                  <a:pt x="79352" y="103084"/>
                </a:lnTo>
                <a:lnTo>
                  <a:pt x="78986" y="102738"/>
                </a:lnTo>
                <a:lnTo>
                  <a:pt x="78609" y="102422"/>
                </a:lnTo>
                <a:lnTo>
                  <a:pt x="78223" y="102136"/>
                </a:lnTo>
                <a:lnTo>
                  <a:pt x="77827" y="101880"/>
                </a:lnTo>
                <a:lnTo>
                  <a:pt x="77421" y="101655"/>
                </a:lnTo>
                <a:lnTo>
                  <a:pt x="77004" y="101459"/>
                </a:lnTo>
                <a:lnTo>
                  <a:pt x="76578" y="101294"/>
                </a:lnTo>
                <a:lnTo>
                  <a:pt x="76141" y="101158"/>
                </a:lnTo>
                <a:lnTo>
                  <a:pt x="75695" y="101053"/>
                </a:lnTo>
                <a:lnTo>
                  <a:pt x="75239" y="100978"/>
                </a:lnTo>
                <a:lnTo>
                  <a:pt x="74772" y="100932"/>
                </a:lnTo>
                <a:lnTo>
                  <a:pt x="74295" y="100917"/>
                </a:lnTo>
                <a:lnTo>
                  <a:pt x="73819" y="100932"/>
                </a:lnTo>
                <a:lnTo>
                  <a:pt x="73352" y="100978"/>
                </a:lnTo>
                <a:lnTo>
                  <a:pt x="72896" y="101053"/>
                </a:lnTo>
                <a:lnTo>
                  <a:pt x="72450" y="101158"/>
                </a:lnTo>
                <a:lnTo>
                  <a:pt x="72013" y="101294"/>
                </a:lnTo>
                <a:lnTo>
                  <a:pt x="71587" y="101459"/>
                </a:lnTo>
                <a:lnTo>
                  <a:pt x="71170" y="101655"/>
                </a:lnTo>
                <a:lnTo>
                  <a:pt x="70764" y="101880"/>
                </a:lnTo>
                <a:lnTo>
                  <a:pt x="70368" y="102136"/>
                </a:lnTo>
                <a:lnTo>
                  <a:pt x="69982" y="102422"/>
                </a:lnTo>
                <a:lnTo>
                  <a:pt x="69605" y="102738"/>
                </a:lnTo>
                <a:lnTo>
                  <a:pt x="69239" y="103084"/>
                </a:lnTo>
                <a:lnTo>
                  <a:pt x="68893" y="103450"/>
                </a:lnTo>
                <a:lnTo>
                  <a:pt x="68577" y="103827"/>
                </a:lnTo>
                <a:lnTo>
                  <a:pt x="68291" y="104213"/>
                </a:lnTo>
                <a:lnTo>
                  <a:pt x="68035" y="104609"/>
                </a:lnTo>
                <a:lnTo>
                  <a:pt x="67810" y="105015"/>
                </a:lnTo>
                <a:lnTo>
                  <a:pt x="67614" y="105432"/>
                </a:lnTo>
                <a:lnTo>
                  <a:pt x="67449" y="105858"/>
                </a:lnTo>
                <a:lnTo>
                  <a:pt x="67313" y="106295"/>
                </a:lnTo>
                <a:lnTo>
                  <a:pt x="67208" y="106741"/>
                </a:lnTo>
                <a:lnTo>
                  <a:pt x="67133" y="107197"/>
                </a:lnTo>
                <a:lnTo>
                  <a:pt x="67087" y="107664"/>
                </a:lnTo>
                <a:lnTo>
                  <a:pt x="67072" y="108141"/>
                </a:lnTo>
                <a:lnTo>
                  <a:pt x="67087" y="108617"/>
                </a:lnTo>
                <a:lnTo>
                  <a:pt x="67133" y="109084"/>
                </a:lnTo>
                <a:lnTo>
                  <a:pt x="67208" y="109540"/>
                </a:lnTo>
                <a:lnTo>
                  <a:pt x="67313" y="109986"/>
                </a:lnTo>
                <a:lnTo>
                  <a:pt x="67449" y="110423"/>
                </a:lnTo>
                <a:lnTo>
                  <a:pt x="67614" y="110849"/>
                </a:lnTo>
                <a:lnTo>
                  <a:pt x="67810" y="111266"/>
                </a:lnTo>
                <a:lnTo>
                  <a:pt x="68035" y="111672"/>
                </a:lnTo>
                <a:lnTo>
                  <a:pt x="68291" y="112068"/>
                </a:lnTo>
                <a:lnTo>
                  <a:pt x="68577" y="112454"/>
                </a:lnTo>
                <a:lnTo>
                  <a:pt x="68893" y="112831"/>
                </a:lnTo>
                <a:lnTo>
                  <a:pt x="69239" y="113197"/>
                </a:lnTo>
                <a:lnTo>
                  <a:pt x="69605" y="113543"/>
                </a:lnTo>
                <a:lnTo>
                  <a:pt x="69982" y="113859"/>
                </a:lnTo>
                <a:lnTo>
                  <a:pt x="70368" y="114145"/>
                </a:lnTo>
                <a:lnTo>
                  <a:pt x="70764" y="114401"/>
                </a:lnTo>
                <a:lnTo>
                  <a:pt x="71170" y="114626"/>
                </a:lnTo>
                <a:lnTo>
                  <a:pt x="71587" y="114822"/>
                </a:lnTo>
                <a:lnTo>
                  <a:pt x="72013" y="114987"/>
                </a:lnTo>
                <a:lnTo>
                  <a:pt x="72450" y="115123"/>
                </a:lnTo>
                <a:lnTo>
                  <a:pt x="72896" y="115228"/>
                </a:lnTo>
                <a:lnTo>
                  <a:pt x="73352" y="115303"/>
                </a:lnTo>
                <a:lnTo>
                  <a:pt x="73819" y="115349"/>
                </a:lnTo>
                <a:lnTo>
                  <a:pt x="74295" y="115364"/>
                </a:lnTo>
                <a:close/>
                <a:moveTo>
                  <a:pt x="68104" y="85646"/>
                </a:moveTo>
                <a:lnTo>
                  <a:pt x="80487" y="85646"/>
                </a:lnTo>
                <a:lnTo>
                  <a:pt x="80487" y="31369"/>
                </a:lnTo>
                <a:lnTo>
                  <a:pt x="68104" y="31369"/>
                </a:lnTo>
                <a:lnTo>
                  <a:pt x="68104" y="85646"/>
                </a:lnTo>
                <a:close/>
                <a:moveTo>
                  <a:pt x="43339" y="148590"/>
                </a:moveTo>
                <a:lnTo>
                  <a:pt x="0" y="105251"/>
                </a:lnTo>
                <a:lnTo>
                  <a:pt x="0" y="43339"/>
                </a:lnTo>
                <a:lnTo>
                  <a:pt x="43339" y="0"/>
                </a:lnTo>
                <a:lnTo>
                  <a:pt x="105252" y="0"/>
                </a:lnTo>
                <a:lnTo>
                  <a:pt x="148590" y="43339"/>
                </a:lnTo>
                <a:lnTo>
                  <a:pt x="148590" y="105251"/>
                </a:lnTo>
                <a:lnTo>
                  <a:pt x="105252" y="148590"/>
                </a:lnTo>
                <a:lnTo>
                  <a:pt x="43339" y="148590"/>
                </a:lnTo>
                <a:close/>
                <a:moveTo>
                  <a:pt x="48499" y="136207"/>
                </a:moveTo>
                <a:lnTo>
                  <a:pt x="100092" y="136207"/>
                </a:lnTo>
                <a:lnTo>
                  <a:pt x="136208" y="100092"/>
                </a:lnTo>
                <a:lnTo>
                  <a:pt x="136208" y="48498"/>
                </a:lnTo>
                <a:lnTo>
                  <a:pt x="100092" y="12383"/>
                </a:lnTo>
                <a:lnTo>
                  <a:pt x="48499" y="12383"/>
                </a:lnTo>
                <a:lnTo>
                  <a:pt x="12383" y="48498"/>
                </a:lnTo>
                <a:lnTo>
                  <a:pt x="12383" y="100092"/>
                </a:lnTo>
                <a:lnTo>
                  <a:pt x="48499" y="136207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블록 10_pre_load.sql"/>
          <p:cNvSpPr/>
          <p:nvPr/>
        </p:nvSpPr>
        <p:spPr>
          <a:xfrm>
            <a:off x="8092440" y="1447800"/>
            <a:ext cx="3550920" cy="57912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9525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10_pre_load.sql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테이블 · PK · 시퀀스 · 기본값 · 계산 컬럼</a:t>
            </a:r>
          </a:p>
        </p:txBody>
      </p:sp>
      <p:sp>
        <p:nvSpPr>
          <p:cNvPr id="32" name="번호 1"/>
          <p:cNvSpPr/>
          <p:nvPr/>
        </p:nvSpPr>
        <p:spPr>
          <a:xfrm>
            <a:off x="8145780" y="1501140"/>
            <a:ext cx="198120" cy="198120"/>
          </a:xfrm>
          <a:prstGeom prst="ellipse">
            <a:avLst/>
          </a:prstGeom>
          <a:solidFill>
            <a:srgbClr val="164B8C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3" name="블록 20_post_load.sql"/>
          <p:cNvSpPr/>
          <p:nvPr/>
        </p:nvSpPr>
        <p:spPr>
          <a:xfrm>
            <a:off x="8092440" y="2133600"/>
            <a:ext cx="3550920" cy="57912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9525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20_post_load.sql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UNIQUE · lower() 유일 인덱스 · 보조 인덱스</a:t>
            </a:r>
          </a:p>
        </p:txBody>
      </p:sp>
      <p:sp>
        <p:nvSpPr>
          <p:cNvPr id="34" name="번호 2"/>
          <p:cNvSpPr/>
          <p:nvPr/>
        </p:nvSpPr>
        <p:spPr>
          <a:xfrm>
            <a:off x="8145780" y="2186940"/>
            <a:ext cx="198120" cy="198120"/>
          </a:xfrm>
          <a:prstGeom prst="ellipse">
            <a:avLst/>
          </a:prstGeom>
          <a:solidFill>
            <a:srgbClr val="164B8C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블록 30_cutover.sql"/>
          <p:cNvSpPr/>
          <p:nvPr/>
        </p:nvSpPr>
        <p:spPr>
          <a:xfrm>
            <a:off x="8092440" y="2819400"/>
            <a:ext cx="3550920" cy="57912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9525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30_cutover.sql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FK (setval 은 전환 시점 값으로 5단계)</a:t>
            </a:r>
          </a:p>
        </p:txBody>
      </p:sp>
      <p:sp>
        <p:nvSpPr>
          <p:cNvPr id="36" name="번호 3"/>
          <p:cNvSpPr/>
          <p:nvPr/>
        </p:nvSpPr>
        <p:spPr>
          <a:xfrm>
            <a:off x="8145780" y="2872740"/>
            <a:ext cx="198120" cy="198120"/>
          </a:xfrm>
          <a:prstGeom prst="ellipse">
            <a:avLst/>
          </a:prstGeom>
          <a:solidFill>
            <a:srgbClr val="164B8C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7" name="블록 끝 공백"/>
          <p:cNvSpPr/>
          <p:nvPr/>
        </p:nvSpPr>
        <p:spPr>
          <a:xfrm>
            <a:off x="8092440" y="4175760"/>
            <a:ext cx="1737360" cy="746760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17907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끝 공백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keep (B02 · B04)</a:t>
            </a:r>
          </a:p>
        </p:txBody>
      </p:sp>
      <p:sp>
        <p:nvSpPr>
          <p:cNvPr id="38" name="블록 NUL 문자"/>
          <p:cNvSpPr/>
          <p:nvPr/>
        </p:nvSpPr>
        <p:spPr>
          <a:xfrm>
            <a:off x="9906000" y="4175760"/>
            <a:ext cx="1737360" cy="746760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17907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NUL 문자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fail · 적재 전 결정 (A02)</a:t>
            </a:r>
          </a:p>
        </p:txBody>
      </p:sp>
      <p:sp>
        <p:nvSpPr>
          <p:cNvPr id="39" name="블록 콜레이션 C"/>
          <p:cNvSpPr/>
          <p:nvPr/>
        </p:nvSpPr>
        <p:spPr>
          <a:xfrm>
            <a:off x="8092440" y="5029200"/>
            <a:ext cx="1737360" cy="746760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17907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콜레이션 C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CI UNIQUE → lower() (B14)</a:t>
            </a:r>
          </a:p>
        </p:txBody>
      </p:sp>
      <p:sp>
        <p:nvSpPr>
          <p:cNvPr id="40" name="블록 센티널 날짜"/>
          <p:cNvSpPr/>
          <p:nvPr/>
        </p:nvSpPr>
        <p:spPr>
          <a:xfrm>
            <a:off x="9906000" y="5029200"/>
            <a:ext cx="1737360" cy="746760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17907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센티널 날짜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keep (A08)</a:t>
            </a:r>
          </a:p>
        </p:txBody>
      </p:sp>
      <p:cxnSp>
        <p:nvCxnSpPr>
          <p:cNvPr id="41" name="연결 s0→t0"/>
          <p:cNvCxnSpPr>
            <a:stCxn id="9" idx="3"/>
            <a:endCxn id="10" idx="1"/>
          </p:cNvCxnSpPr>
          <p:nvPr/>
        </p:nvCxnSpPr>
        <p:spPr>
          <a:xfrm>
            <a:off x="2011680" y="1805940"/>
            <a:ext cx="22860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cxnSp>
        <p:nvCxnSpPr>
          <p:cNvPr id="42" name="연결 s1→t1"/>
          <p:cNvCxnSpPr>
            <a:stCxn id="11" idx="3"/>
            <a:endCxn id="12" idx="1"/>
          </p:cNvCxnSpPr>
          <p:nvPr/>
        </p:nvCxnSpPr>
        <p:spPr>
          <a:xfrm>
            <a:off x="2011680" y="2567940"/>
            <a:ext cx="22860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cxnSp>
        <p:nvCxnSpPr>
          <p:cNvPr id="43" name="연결 s2→t2"/>
          <p:cNvCxnSpPr>
            <a:stCxn id="13" idx="3"/>
            <a:endCxn id="14" idx="1"/>
          </p:cNvCxnSpPr>
          <p:nvPr/>
        </p:nvCxnSpPr>
        <p:spPr>
          <a:xfrm>
            <a:off x="2011680" y="3329940"/>
            <a:ext cx="22860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cxnSp>
        <p:nvCxnSpPr>
          <p:cNvPr id="44" name="연결 s3→t3"/>
          <p:cNvCxnSpPr>
            <a:stCxn id="15" idx="3"/>
            <a:endCxn id="16" idx="1"/>
          </p:cNvCxnSpPr>
          <p:nvPr/>
        </p:nvCxnSpPr>
        <p:spPr>
          <a:xfrm>
            <a:off x="2011680" y="4091940"/>
            <a:ext cx="22860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cxnSp>
        <p:nvCxnSpPr>
          <p:cNvPr id="45" name="연결 s4→t4"/>
          <p:cNvCxnSpPr>
            <a:stCxn id="17" idx="3"/>
            <a:endCxn id="18" idx="1"/>
          </p:cNvCxnSpPr>
          <p:nvPr/>
        </p:nvCxnSpPr>
        <p:spPr>
          <a:xfrm>
            <a:off x="2011680" y="4853940"/>
            <a:ext cx="22860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cxnSp>
        <p:nvCxnSpPr>
          <p:cNvPr id="46" name="연결 s5→t5"/>
          <p:cNvCxnSpPr>
            <a:stCxn id="19" idx="3"/>
            <a:endCxn id="20" idx="1"/>
          </p:cNvCxnSpPr>
          <p:nvPr/>
        </p:nvCxnSpPr>
        <p:spPr>
          <a:xfrm>
            <a:off x="5654040" y="1805940"/>
            <a:ext cx="22860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cxnSp>
        <p:nvCxnSpPr>
          <p:cNvPr id="47" name="연결 s6→t6"/>
          <p:cNvCxnSpPr>
            <a:stCxn id="21" idx="3"/>
            <a:endCxn id="22" idx="1"/>
          </p:cNvCxnSpPr>
          <p:nvPr/>
        </p:nvCxnSpPr>
        <p:spPr>
          <a:xfrm>
            <a:off x="5654040" y="2567940"/>
            <a:ext cx="22860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cxnSp>
        <p:nvCxnSpPr>
          <p:cNvPr id="48" name="연결 s7→t7"/>
          <p:cNvCxnSpPr>
            <a:stCxn id="23" idx="3"/>
            <a:endCxn id="24" idx="1"/>
          </p:cNvCxnSpPr>
          <p:nvPr/>
        </p:nvCxnSpPr>
        <p:spPr>
          <a:xfrm>
            <a:off x="5654040" y="3329940"/>
            <a:ext cx="22860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cxnSp>
        <p:nvCxnSpPr>
          <p:cNvPr id="49" name="연결 s8→t8"/>
          <p:cNvCxnSpPr>
            <a:stCxn id="25" idx="3"/>
            <a:endCxn id="26" idx="1"/>
          </p:cNvCxnSpPr>
          <p:nvPr/>
        </p:nvCxnSpPr>
        <p:spPr>
          <a:xfrm>
            <a:off x="5654040" y="4091940"/>
            <a:ext cx="22860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cxnSp>
        <p:nvCxnSpPr>
          <p:cNvPr id="50" name="연결 s9→t9"/>
          <p:cNvCxnSpPr>
            <a:stCxn id="27" idx="3"/>
            <a:endCxn id="28" idx="1"/>
          </p:cNvCxnSpPr>
          <p:nvPr/>
        </p:nvCxnSpPr>
        <p:spPr>
          <a:xfrm>
            <a:off x="5654040" y="4853940"/>
            <a:ext cx="22860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cxnSp>
        <p:nvCxnSpPr>
          <p:cNvPr id="51" name="연결 p1→p2"/>
          <p:cNvCxnSpPr>
            <a:stCxn id="31" idx="2"/>
            <a:endCxn id="33" idx="0"/>
          </p:cNvCxnSpPr>
          <p:nvPr/>
        </p:nvCxnSpPr>
        <p:spPr>
          <a:xfrm>
            <a:off x="9867900" y="2026920"/>
            <a:ext cx="0" cy="10668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cxnSp>
        <p:nvCxnSpPr>
          <p:cNvPr id="52" name="연결 p2→p3"/>
          <p:cNvCxnSpPr>
            <a:stCxn id="33" idx="2"/>
            <a:endCxn id="35" idx="0"/>
          </p:cNvCxnSpPr>
          <p:nvPr/>
        </p:nvCxnSpPr>
        <p:spPr>
          <a:xfrm>
            <a:off x="9867900" y="2712720"/>
            <a:ext cx="0" cy="10668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sp>
        <p:nvSpPr>
          <p:cNvPr id="53" name="범례"/>
          <p:cNvSpPr/>
          <p:nvPr/>
        </p:nvSpPr>
        <p:spPr>
          <a:xfrm>
            <a:off x="381000" y="6309360"/>
            <a:ext cx="3560445" cy="39624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0668">
            <a:solidFill>
              <a:srgbClr val="A9C3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범례 제목"/>
          <p:cNvSpPr txBox="1"/>
          <p:nvPr/>
        </p:nvSpPr>
        <p:spPr>
          <a:xfrm>
            <a:off x="518160" y="6309360"/>
            <a:ext cx="3810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범례</a:t>
            </a:r>
          </a:p>
        </p:txBody>
      </p:sp>
      <p:cxnSp>
        <p:nvCxnSpPr>
          <p:cNvPr id="55" name="범례 변환"/>
          <p:cNvCxnSpPr/>
          <p:nvPr/>
        </p:nvCxnSpPr>
        <p:spPr>
          <a:xfrm>
            <a:off x="914400" y="6507480"/>
            <a:ext cx="35052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sp>
        <p:nvSpPr>
          <p:cNvPr id="56" name="범례 글 변환"/>
          <p:cNvSpPr txBox="1"/>
          <p:nvPr/>
        </p:nvSpPr>
        <p:spPr>
          <a:xfrm>
            <a:off x="1341120" y="6309360"/>
            <a:ext cx="3810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변환</a:t>
            </a:r>
          </a:p>
        </p:txBody>
      </p:sp>
      <p:sp>
        <p:nvSpPr>
          <p:cNvPr id="57" name="범례 kdms plan 이 경고를 내는 규칙"/>
          <p:cNvSpPr/>
          <p:nvPr/>
        </p:nvSpPr>
        <p:spPr>
          <a:xfrm>
            <a:off x="1798320" y="6438900"/>
            <a:ext cx="182880" cy="137160"/>
          </a:xfrm>
          <a:prstGeom prst="roundRect">
            <a:avLst>
              <a:gd name="adj" fmla="val 22222"/>
            </a:avLst>
          </a:prstGeom>
          <a:solidFill>
            <a:srgbClr val="D3E5F8"/>
          </a:solidFill>
          <a:ln w="7620">
            <a:solidFill>
              <a:srgbClr val="6F9B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범례 글 kdms plan 이 경고를 내는 규칙"/>
          <p:cNvSpPr txBox="1"/>
          <p:nvPr/>
        </p:nvSpPr>
        <p:spPr>
          <a:xfrm>
            <a:off x="2057400" y="6309360"/>
            <a:ext cx="1884045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kdms plan 이 경고를 내는 규칙</a:t>
            </a:r>
          </a:p>
        </p:txBody>
      </p:sp>
      <p:sp>
        <p:nvSpPr>
          <p:cNvPr id="59" name="설명"/>
          <p:cNvSpPr txBox="1"/>
          <p:nvPr/>
        </p:nvSpPr>
        <p:spPr>
          <a:xfrm>
            <a:off x="6140196" y="6385560"/>
            <a:ext cx="5670804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전체 표와 기본값·IDENTITY·계산 컬럼 규칙은 PDF 2쪽부터 · 작업별 덮어쓰기는 config/kdms-rules.yml</a:t>
            </a:r>
          </a:p>
        </p:txBody>
      </p:sp>
      <p:sp>
        <p:nvSpPr>
          <p:cNvPr id="60" name="설명"/>
          <p:cNvSpPr txBox="1"/>
          <p:nvPr/>
        </p:nvSpPr>
        <p:spPr>
          <a:xfrm>
            <a:off x="6758940" y="6553200"/>
            <a:ext cx="5052060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규칙이 값을 바꾸면(rtrim · upper · 센티널→NULL) 검증도 같은 규칙으로 원천을 정규화한다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KDMS 변환 규칙 매핑표</dc:title>
  <dc:subject/>
  <dc:creator>KDMS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
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89560"/>
            <a:ext cx="53340" cy="335280"/>
          </a:xfrm>
          <a:prstGeom prst="roundRect">
            <a:avLst>
              <a:gd name="adj" fmla="val 50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8956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개발 일정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24840"/>
            <a:ext cx="7620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단계별 기간(안) · 단계 끝 = Mac 에서 완료 기준을 확인한 날 · 오늘 2026-10-06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763000" y="426720"/>
            <a:ext cx="30480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KDMS-D06 · v0.1 · 2026-10-06</a:t>
            </a:r>
          </a:p>
        </p:txBody>
      </p:sp>
      <p:sp>
        <p:nvSpPr>
          <p:cNvPr id="6" name="머리줄"/>
          <p:cNvSpPr/>
          <p:nvPr/>
        </p:nvSpPr>
        <p:spPr>
          <a:xfrm>
            <a:off x="381000" y="960120"/>
            <a:ext cx="11430000" cy="487680"/>
          </a:xfrm>
          <a:prstGeom prst="roundRect">
            <a:avLst>
              <a:gd name="adj" fmla="val 125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줄 배경"/>
          <p:cNvSpPr/>
          <p:nvPr/>
        </p:nvSpPr>
        <p:spPr>
          <a:xfrm>
            <a:off x="381000" y="1965960"/>
            <a:ext cx="11430000" cy="472440"/>
          </a:xfrm>
          <a:prstGeom prst="roundRect">
            <a:avLst>
              <a:gd name="adj" fmla="val 0"/>
            </a:avLst>
          </a:prstGeom>
          <a:solidFill>
            <a:srgbClr val="F1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줄 배경"/>
          <p:cNvSpPr/>
          <p:nvPr/>
        </p:nvSpPr>
        <p:spPr>
          <a:xfrm>
            <a:off x="381000" y="2910840"/>
            <a:ext cx="11430000" cy="472440"/>
          </a:xfrm>
          <a:prstGeom prst="roundRect">
            <a:avLst>
              <a:gd name="adj" fmla="val 0"/>
            </a:avLst>
          </a:prstGeom>
          <a:solidFill>
            <a:srgbClr val="F1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줄 배경"/>
          <p:cNvSpPr/>
          <p:nvPr/>
        </p:nvSpPr>
        <p:spPr>
          <a:xfrm>
            <a:off x="381000" y="3855720"/>
            <a:ext cx="11430000" cy="472440"/>
          </a:xfrm>
          <a:prstGeom prst="roundRect">
            <a:avLst>
              <a:gd name="adj" fmla="val 0"/>
            </a:avLst>
          </a:prstGeom>
          <a:solidFill>
            <a:srgbClr val="F1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줄 배경"/>
          <p:cNvSpPr/>
          <p:nvPr/>
        </p:nvSpPr>
        <p:spPr>
          <a:xfrm>
            <a:off x="381000" y="4800600"/>
            <a:ext cx="11430000" cy="472440"/>
          </a:xfrm>
          <a:prstGeom prst="roundRect">
            <a:avLst>
              <a:gd name="adj" fmla="val 0"/>
            </a:avLst>
          </a:prstGeom>
          <a:solidFill>
            <a:srgbClr val="F1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주 격자"/>
          <p:cNvSpPr/>
          <p:nvPr/>
        </p:nvSpPr>
        <p:spPr>
          <a:xfrm>
            <a:off x="3577590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주 격자"/>
          <p:cNvSpPr/>
          <p:nvPr/>
        </p:nvSpPr>
        <p:spPr>
          <a:xfrm>
            <a:off x="4210636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주 격자"/>
          <p:cNvSpPr/>
          <p:nvPr/>
        </p:nvSpPr>
        <p:spPr>
          <a:xfrm>
            <a:off x="4843682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주 격자"/>
          <p:cNvSpPr/>
          <p:nvPr/>
        </p:nvSpPr>
        <p:spPr>
          <a:xfrm>
            <a:off x="5476728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주 격자"/>
          <p:cNvSpPr/>
          <p:nvPr/>
        </p:nvSpPr>
        <p:spPr>
          <a:xfrm>
            <a:off x="6109775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주 격자"/>
          <p:cNvSpPr/>
          <p:nvPr/>
        </p:nvSpPr>
        <p:spPr>
          <a:xfrm>
            <a:off x="6742821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주 격자"/>
          <p:cNvSpPr/>
          <p:nvPr/>
        </p:nvSpPr>
        <p:spPr>
          <a:xfrm>
            <a:off x="7375867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주 격자"/>
          <p:cNvSpPr/>
          <p:nvPr/>
        </p:nvSpPr>
        <p:spPr>
          <a:xfrm>
            <a:off x="8008913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주 격자"/>
          <p:cNvSpPr/>
          <p:nvPr/>
        </p:nvSpPr>
        <p:spPr>
          <a:xfrm>
            <a:off x="8641959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주 격자"/>
          <p:cNvSpPr/>
          <p:nvPr/>
        </p:nvSpPr>
        <p:spPr>
          <a:xfrm>
            <a:off x="9275005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주 격자"/>
          <p:cNvSpPr/>
          <p:nvPr/>
        </p:nvSpPr>
        <p:spPr>
          <a:xfrm>
            <a:off x="9908052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주 격자"/>
          <p:cNvSpPr/>
          <p:nvPr/>
        </p:nvSpPr>
        <p:spPr>
          <a:xfrm>
            <a:off x="10541098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주 격자"/>
          <p:cNvSpPr/>
          <p:nvPr/>
        </p:nvSpPr>
        <p:spPr>
          <a:xfrm>
            <a:off x="11174144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주 격자"/>
          <p:cNvSpPr/>
          <p:nvPr/>
        </p:nvSpPr>
        <p:spPr>
          <a:xfrm>
            <a:off x="11807190" y="1447800"/>
            <a:ext cx="7620" cy="4297680"/>
          </a:xfrm>
          <a:prstGeom prst="roundRect">
            <a:avLst>
              <a:gd name="adj" fmla="val 0"/>
            </a:avLst>
          </a:prstGeom>
          <a:solidFill>
            <a:srgbClr val="D6E3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오늘 선"/>
          <p:cNvSpPr/>
          <p:nvPr/>
        </p:nvSpPr>
        <p:spPr>
          <a:xfrm>
            <a:off x="4342479" y="1447800"/>
            <a:ext cx="15240" cy="4404360"/>
          </a:xfrm>
          <a:prstGeom prst="roundRect">
            <a:avLst>
              <a:gd name="adj" fmla="val 0"/>
            </a:avLst>
          </a:prstGeom>
          <a:solidFill>
            <a:srgbClr val="0A23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막대 0. 환경 준비"/>
          <p:cNvSpPr/>
          <p:nvPr/>
        </p:nvSpPr>
        <p:spPr>
          <a:xfrm>
            <a:off x="3852705" y="1607820"/>
            <a:ext cx="542611" cy="243840"/>
          </a:xfrm>
          <a:prstGeom prst="roundRect">
            <a:avLst>
              <a:gd name="adj" fmla="val 25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막대 1. 골격"/>
          <p:cNvSpPr/>
          <p:nvPr/>
        </p:nvSpPr>
        <p:spPr>
          <a:xfrm>
            <a:off x="3852705" y="2080260"/>
            <a:ext cx="542611" cy="243840"/>
          </a:xfrm>
          <a:prstGeom prst="roundRect">
            <a:avLst>
              <a:gd name="adj" fmla="val 25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막대 2. 스키마 변환"/>
          <p:cNvSpPr/>
          <p:nvPr/>
        </p:nvSpPr>
        <p:spPr>
          <a:xfrm>
            <a:off x="3852705" y="2552700"/>
            <a:ext cx="813916" cy="243840"/>
          </a:xfrm>
          <a:prstGeom prst="roundRect">
            <a:avLst>
              <a:gd name="adj" fmla="val 25000"/>
            </a:avLst>
          </a:prstGeom>
          <a:solidFill>
            <a:srgbClr val="1F74C4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10/9</a:t>
            </a:r>
          </a:p>
        </p:txBody>
      </p:sp>
      <p:sp>
        <p:nvSpPr>
          <p:cNvPr id="29" name="막대 3. 전체 적재 + 검증"/>
          <p:cNvSpPr/>
          <p:nvPr/>
        </p:nvSpPr>
        <p:spPr>
          <a:xfrm>
            <a:off x="4847492" y="3025140"/>
            <a:ext cx="1085222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78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10/12 ~ 10/23</a:t>
            </a:r>
          </a:p>
        </p:txBody>
      </p:sp>
      <p:sp>
        <p:nvSpPr>
          <p:cNvPr id="30" name="막대 4. CDC 수집·반영"/>
          <p:cNvSpPr/>
          <p:nvPr/>
        </p:nvSpPr>
        <p:spPr>
          <a:xfrm>
            <a:off x="6113585" y="3497580"/>
            <a:ext cx="1718268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78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10/26 ~ 11/13</a:t>
            </a:r>
          </a:p>
        </p:txBody>
      </p:sp>
      <p:sp>
        <p:nvSpPr>
          <p:cNvPr id="31" name="막대 5. 전환 + 화면·CLI"/>
          <p:cNvSpPr/>
          <p:nvPr/>
        </p:nvSpPr>
        <p:spPr>
          <a:xfrm>
            <a:off x="8012723" y="3970020"/>
            <a:ext cx="1085222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78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11/16 ~ 11/27</a:t>
            </a:r>
          </a:p>
        </p:txBody>
      </p:sp>
      <p:sp>
        <p:nvSpPr>
          <p:cNvPr id="32" name="막대 6. MVP 리허설"/>
          <p:cNvSpPr/>
          <p:nvPr/>
        </p:nvSpPr>
        <p:spPr>
          <a:xfrm>
            <a:off x="9278815" y="4442460"/>
            <a:ext cx="452176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막대 7. 설치본"/>
          <p:cNvSpPr/>
          <p:nvPr/>
        </p:nvSpPr>
        <p:spPr>
          <a:xfrm>
            <a:off x="9911862" y="4914900"/>
            <a:ext cx="452176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막대 8. 확장"/>
          <p:cNvSpPr/>
          <p:nvPr/>
        </p:nvSpPr>
        <p:spPr>
          <a:xfrm>
            <a:off x="10544908" y="5387340"/>
            <a:ext cx="452176" cy="243840"/>
          </a:xfrm>
          <a:prstGeom prst="roundRect">
            <a:avLst>
              <a:gd name="adj" fmla="val 25000"/>
            </a:avLst>
          </a:prstGeom>
          <a:solidFill>
            <a:srgbClr val="D3E5F8"/>
          </a:solidFill>
          <a:ln w="9144">
            <a:solidFill>
              <a:srgbClr val="164B8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선"/>
          <p:cNvCxnSpPr/>
          <p:nvPr/>
        </p:nvCxnSpPr>
        <p:spPr>
          <a:xfrm>
            <a:off x="381000" y="5745480"/>
            <a:ext cx="11430000" cy="0"/>
          </a:xfrm>
          <a:prstGeom prst="line">
            <a:avLst/>
          </a:prstGeom>
          <a:ln w="10668">
            <a:solidFill>
              <a:srgbClr val="A9C3E2"/>
            </a:solidFill>
          </a:ln>
        </p:spPr>
      </p:cxnSp>
      <p:sp>
        <p:nvSpPr>
          <p:cNvPr id="36" name="글"/>
          <p:cNvSpPr txBox="1"/>
          <p:nvPr/>
        </p:nvSpPr>
        <p:spPr>
          <a:xfrm>
            <a:off x="533400" y="1120140"/>
            <a:ext cx="44196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7" name="글"/>
          <p:cNvSpPr txBox="1"/>
          <p:nvPr/>
        </p:nvSpPr>
        <p:spPr>
          <a:xfrm>
            <a:off x="4989777" y="1021080"/>
            <a:ext cx="43891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10월</a:t>
            </a:r>
          </a:p>
        </p:txBody>
      </p:sp>
      <p:sp>
        <p:nvSpPr>
          <p:cNvPr id="38" name="글"/>
          <p:cNvSpPr txBox="1"/>
          <p:nvPr/>
        </p:nvSpPr>
        <p:spPr>
          <a:xfrm>
            <a:off x="7748049" y="1021080"/>
            <a:ext cx="43891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11월</a:t>
            </a:r>
          </a:p>
        </p:txBody>
      </p:sp>
      <p:sp>
        <p:nvSpPr>
          <p:cNvPr id="39" name="글"/>
          <p:cNvSpPr txBox="1"/>
          <p:nvPr/>
        </p:nvSpPr>
        <p:spPr>
          <a:xfrm>
            <a:off x="10325452" y="1021080"/>
            <a:ext cx="43891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12월</a:t>
            </a:r>
          </a:p>
        </p:txBody>
      </p:sp>
      <p:sp>
        <p:nvSpPr>
          <p:cNvPr id="40" name="글"/>
          <p:cNvSpPr txBox="1"/>
          <p:nvPr/>
        </p:nvSpPr>
        <p:spPr>
          <a:xfrm>
            <a:off x="3697517" y="1242060"/>
            <a:ext cx="400812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9/28</a:t>
            </a:r>
          </a:p>
        </p:txBody>
      </p:sp>
      <p:sp>
        <p:nvSpPr>
          <p:cNvPr id="41" name="글"/>
          <p:cNvSpPr txBox="1"/>
          <p:nvPr/>
        </p:nvSpPr>
        <p:spPr>
          <a:xfrm>
            <a:off x="4330563" y="1242060"/>
            <a:ext cx="400812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10/5</a:t>
            </a:r>
          </a:p>
        </p:txBody>
      </p:sp>
      <p:sp>
        <p:nvSpPr>
          <p:cNvPr id="42" name="글"/>
          <p:cNvSpPr txBox="1"/>
          <p:nvPr/>
        </p:nvSpPr>
        <p:spPr>
          <a:xfrm>
            <a:off x="4936368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10/12</a:t>
            </a:r>
          </a:p>
        </p:txBody>
      </p:sp>
      <p:sp>
        <p:nvSpPr>
          <p:cNvPr id="43" name="글"/>
          <p:cNvSpPr txBox="1"/>
          <p:nvPr/>
        </p:nvSpPr>
        <p:spPr>
          <a:xfrm>
            <a:off x="5569414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10/19</a:t>
            </a:r>
          </a:p>
        </p:txBody>
      </p:sp>
      <p:sp>
        <p:nvSpPr>
          <p:cNvPr id="44" name="글"/>
          <p:cNvSpPr txBox="1"/>
          <p:nvPr/>
        </p:nvSpPr>
        <p:spPr>
          <a:xfrm>
            <a:off x="6202460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10/26</a:t>
            </a:r>
          </a:p>
        </p:txBody>
      </p:sp>
      <p:sp>
        <p:nvSpPr>
          <p:cNvPr id="45" name="글"/>
          <p:cNvSpPr txBox="1"/>
          <p:nvPr/>
        </p:nvSpPr>
        <p:spPr>
          <a:xfrm>
            <a:off x="6862748" y="1242060"/>
            <a:ext cx="400812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11/2</a:t>
            </a:r>
          </a:p>
        </p:txBody>
      </p:sp>
      <p:sp>
        <p:nvSpPr>
          <p:cNvPr id="46" name="글"/>
          <p:cNvSpPr txBox="1"/>
          <p:nvPr/>
        </p:nvSpPr>
        <p:spPr>
          <a:xfrm>
            <a:off x="7495794" y="1242060"/>
            <a:ext cx="400812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11/9</a:t>
            </a:r>
          </a:p>
        </p:txBody>
      </p:sp>
      <p:sp>
        <p:nvSpPr>
          <p:cNvPr id="47" name="글"/>
          <p:cNvSpPr txBox="1"/>
          <p:nvPr/>
        </p:nvSpPr>
        <p:spPr>
          <a:xfrm>
            <a:off x="8101599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11/16</a:t>
            </a:r>
          </a:p>
        </p:txBody>
      </p:sp>
      <p:sp>
        <p:nvSpPr>
          <p:cNvPr id="48" name="글"/>
          <p:cNvSpPr txBox="1"/>
          <p:nvPr/>
        </p:nvSpPr>
        <p:spPr>
          <a:xfrm>
            <a:off x="8734645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11/23</a:t>
            </a:r>
          </a:p>
        </p:txBody>
      </p:sp>
      <p:sp>
        <p:nvSpPr>
          <p:cNvPr id="49" name="글"/>
          <p:cNvSpPr txBox="1"/>
          <p:nvPr/>
        </p:nvSpPr>
        <p:spPr>
          <a:xfrm>
            <a:off x="9367691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11/30</a:t>
            </a:r>
          </a:p>
        </p:txBody>
      </p:sp>
      <p:sp>
        <p:nvSpPr>
          <p:cNvPr id="50" name="글"/>
          <p:cNvSpPr txBox="1"/>
          <p:nvPr/>
        </p:nvSpPr>
        <p:spPr>
          <a:xfrm>
            <a:off x="10027979" y="1242060"/>
            <a:ext cx="400812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12/7</a:t>
            </a:r>
          </a:p>
        </p:txBody>
      </p:sp>
      <p:sp>
        <p:nvSpPr>
          <p:cNvPr id="51" name="글"/>
          <p:cNvSpPr txBox="1"/>
          <p:nvPr/>
        </p:nvSpPr>
        <p:spPr>
          <a:xfrm>
            <a:off x="10633783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12/14</a:t>
            </a:r>
          </a:p>
        </p:txBody>
      </p:sp>
      <p:sp>
        <p:nvSpPr>
          <p:cNvPr id="52" name="글"/>
          <p:cNvSpPr txBox="1"/>
          <p:nvPr/>
        </p:nvSpPr>
        <p:spPr>
          <a:xfrm>
            <a:off x="11266829" y="1242060"/>
            <a:ext cx="455295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80" b="0">
                <a:solidFill>
                  <a:srgbClr val="D3E5F8"/>
                </a:solidFill>
                <a:latin typeface="Pretendard"/>
                <a:ea typeface="Pretendard"/>
                <a:cs typeface="Pretendard"/>
              </a:rPr>
              <a:t>12/21</a:t>
            </a:r>
          </a:p>
        </p:txBody>
      </p:sp>
      <p:sp>
        <p:nvSpPr>
          <p:cNvPr id="53" name="글"/>
          <p:cNvSpPr txBox="1"/>
          <p:nvPr/>
        </p:nvSpPr>
        <p:spPr>
          <a:xfrm>
            <a:off x="4005294" y="5882640"/>
            <a:ext cx="68961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오늘 10/6</a:t>
            </a:r>
          </a:p>
        </p:txBody>
      </p:sp>
      <p:sp>
        <p:nvSpPr>
          <p:cNvPr id="54" name="글"/>
          <p:cNvSpPr txBox="1"/>
          <p:nvPr/>
        </p:nvSpPr>
        <p:spPr>
          <a:xfrm>
            <a:off x="533400" y="1562100"/>
            <a:ext cx="98602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0. 환경 준비</a:t>
            </a:r>
          </a:p>
        </p:txBody>
      </p:sp>
      <p:sp>
        <p:nvSpPr>
          <p:cNvPr id="55" name="글"/>
          <p:cNvSpPr txBox="1"/>
          <p:nvPr/>
        </p:nvSpPr>
        <p:spPr>
          <a:xfrm>
            <a:off x="533400" y="1748790"/>
            <a:ext cx="1900809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노트북 DB · CDC 켜기 · 전용 계정</a:t>
            </a:r>
          </a:p>
        </p:txBody>
      </p:sp>
      <p:sp>
        <p:nvSpPr>
          <p:cNvPr id="56" name="글"/>
          <p:cNvSpPr txBox="1"/>
          <p:nvPr/>
        </p:nvSpPr>
        <p:spPr>
          <a:xfrm>
            <a:off x="4471516" y="1653540"/>
            <a:ext cx="782193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8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57" name="글"/>
          <p:cNvSpPr txBox="1"/>
          <p:nvPr/>
        </p:nvSpPr>
        <p:spPr>
          <a:xfrm>
            <a:off x="533400" y="2034540"/>
            <a:ext cx="65570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1. 골격</a:t>
            </a:r>
          </a:p>
        </p:txBody>
      </p:sp>
      <p:sp>
        <p:nvSpPr>
          <p:cNvPr id="58" name="글"/>
          <p:cNvSpPr txBox="1"/>
          <p:nvPr/>
        </p:nvSpPr>
        <p:spPr>
          <a:xfrm>
            <a:off x="533400" y="2221230"/>
            <a:ext cx="1818513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Maven · CLI · 웹 · 관리 테이블</a:t>
            </a:r>
          </a:p>
        </p:txBody>
      </p:sp>
      <p:sp>
        <p:nvSpPr>
          <p:cNvPr id="59" name="글"/>
          <p:cNvSpPr txBox="1"/>
          <p:nvPr/>
        </p:nvSpPr>
        <p:spPr>
          <a:xfrm>
            <a:off x="4471516" y="2125980"/>
            <a:ext cx="782193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8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60" name="글"/>
          <p:cNvSpPr txBox="1"/>
          <p:nvPr/>
        </p:nvSpPr>
        <p:spPr>
          <a:xfrm>
            <a:off x="5177509" y="2122170"/>
            <a:ext cx="1031558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D01 D02 D03 D06</a:t>
            </a:r>
          </a:p>
        </p:txBody>
      </p:sp>
      <p:sp>
        <p:nvSpPr>
          <p:cNvPr id="61" name="글"/>
          <p:cNvSpPr txBox="1"/>
          <p:nvPr/>
        </p:nvSpPr>
        <p:spPr>
          <a:xfrm>
            <a:off x="533400" y="2506980"/>
            <a:ext cx="11155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2. 스키마 변환</a:t>
            </a:r>
          </a:p>
        </p:txBody>
      </p:sp>
      <p:sp>
        <p:nvSpPr>
          <p:cNvPr id="62" name="글"/>
          <p:cNvSpPr txBox="1"/>
          <p:nvPr/>
        </p:nvSpPr>
        <p:spPr>
          <a:xfrm>
            <a:off x="533400" y="2693670"/>
            <a:ext cx="1895666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 plan · DDL (Mac 확인 대기)</a:t>
            </a:r>
          </a:p>
        </p:txBody>
      </p:sp>
      <p:sp>
        <p:nvSpPr>
          <p:cNvPr id="63" name="글"/>
          <p:cNvSpPr txBox="1"/>
          <p:nvPr/>
        </p:nvSpPr>
        <p:spPr>
          <a:xfrm>
            <a:off x="4742822" y="2594610"/>
            <a:ext cx="352616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D07</a:t>
            </a:r>
          </a:p>
        </p:txBody>
      </p:sp>
      <p:sp>
        <p:nvSpPr>
          <p:cNvPr id="64" name="글"/>
          <p:cNvSpPr txBox="1"/>
          <p:nvPr/>
        </p:nvSpPr>
        <p:spPr>
          <a:xfrm>
            <a:off x="533400" y="2979420"/>
            <a:ext cx="145884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3. 전체 적재 + 검증</a:t>
            </a:r>
          </a:p>
        </p:txBody>
      </p:sp>
      <p:sp>
        <p:nvSpPr>
          <p:cNvPr id="65" name="글"/>
          <p:cNvSpPr txBox="1"/>
          <p:nvPr/>
        </p:nvSpPr>
        <p:spPr>
          <a:xfrm>
            <a:off x="533400" y="3166110"/>
            <a:ext cx="1787652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COPY · 재시작 · 건수·합계·해시</a:t>
            </a:r>
          </a:p>
        </p:txBody>
      </p:sp>
      <p:sp>
        <p:nvSpPr>
          <p:cNvPr id="66" name="글"/>
          <p:cNvSpPr txBox="1"/>
          <p:nvPr/>
        </p:nvSpPr>
        <p:spPr>
          <a:xfrm>
            <a:off x="6008914" y="3067050"/>
            <a:ext cx="578930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D05 D08</a:t>
            </a:r>
          </a:p>
        </p:txBody>
      </p:sp>
      <p:sp>
        <p:nvSpPr>
          <p:cNvPr id="67" name="글"/>
          <p:cNvSpPr txBox="1"/>
          <p:nvPr/>
        </p:nvSpPr>
        <p:spPr>
          <a:xfrm>
            <a:off x="533400" y="3451860"/>
            <a:ext cx="127101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4. CDC 수집·반영</a:t>
            </a:r>
          </a:p>
        </p:txBody>
      </p:sp>
      <p:sp>
        <p:nvSpPr>
          <p:cNvPr id="68" name="글"/>
          <p:cNvSpPr txBox="1"/>
          <p:nvPr/>
        </p:nvSpPr>
        <p:spPr>
          <a:xfrm>
            <a:off x="533400" y="3638550"/>
            <a:ext cx="1849374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· change_log · 반영기</a:t>
            </a:r>
          </a:p>
        </p:txBody>
      </p:sp>
      <p:sp>
        <p:nvSpPr>
          <p:cNvPr id="69" name="글"/>
          <p:cNvSpPr txBox="1"/>
          <p:nvPr/>
        </p:nvSpPr>
        <p:spPr>
          <a:xfrm>
            <a:off x="7908053" y="3539490"/>
            <a:ext cx="352616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D04</a:t>
            </a:r>
          </a:p>
        </p:txBody>
      </p:sp>
      <p:sp>
        <p:nvSpPr>
          <p:cNvPr id="70" name="글"/>
          <p:cNvSpPr txBox="1"/>
          <p:nvPr/>
        </p:nvSpPr>
        <p:spPr>
          <a:xfrm>
            <a:off x="533400" y="3924300"/>
            <a:ext cx="141351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5. 전환 + 화면·CLI</a:t>
            </a:r>
          </a:p>
        </p:txBody>
      </p:sp>
      <p:sp>
        <p:nvSpPr>
          <p:cNvPr id="71" name="글"/>
          <p:cNvSpPr txBox="1"/>
          <p:nvPr/>
        </p:nvSpPr>
        <p:spPr>
          <a:xfrm>
            <a:off x="533400" y="4110990"/>
            <a:ext cx="1900809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상태 기계 · setval · 화면 마무리</a:t>
            </a:r>
          </a:p>
        </p:txBody>
      </p:sp>
      <p:sp>
        <p:nvSpPr>
          <p:cNvPr id="72" name="글"/>
          <p:cNvSpPr txBox="1"/>
          <p:nvPr/>
        </p:nvSpPr>
        <p:spPr>
          <a:xfrm>
            <a:off x="9174145" y="4011930"/>
            <a:ext cx="352616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D09</a:t>
            </a:r>
          </a:p>
        </p:txBody>
      </p:sp>
      <p:sp>
        <p:nvSpPr>
          <p:cNvPr id="73" name="글"/>
          <p:cNvSpPr txBox="1"/>
          <p:nvPr/>
        </p:nvSpPr>
        <p:spPr>
          <a:xfrm>
            <a:off x="533400" y="4396740"/>
            <a:ext cx="107022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6. MVP 리허설</a:t>
            </a:r>
          </a:p>
        </p:txBody>
      </p:sp>
      <p:sp>
        <p:nvSpPr>
          <p:cNvPr id="74" name="글"/>
          <p:cNvSpPr txBox="1"/>
          <p:nvPr/>
        </p:nvSpPr>
        <p:spPr>
          <a:xfrm>
            <a:off x="533400" y="4583430"/>
            <a:ext cx="1551051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처음부터 2회 · 운영 절차서</a:t>
            </a:r>
          </a:p>
        </p:txBody>
      </p:sp>
      <p:sp>
        <p:nvSpPr>
          <p:cNvPr id="75" name="글"/>
          <p:cNvSpPr txBox="1"/>
          <p:nvPr/>
        </p:nvSpPr>
        <p:spPr>
          <a:xfrm>
            <a:off x="9807191" y="4488180"/>
            <a:ext cx="836676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8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11/30 ~ 12/4</a:t>
            </a:r>
          </a:p>
        </p:txBody>
      </p:sp>
      <p:sp>
        <p:nvSpPr>
          <p:cNvPr id="76" name="글"/>
          <p:cNvSpPr txBox="1"/>
          <p:nvPr/>
        </p:nvSpPr>
        <p:spPr>
          <a:xfrm>
            <a:off x="10567667" y="4484370"/>
            <a:ext cx="578930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D10 D11</a:t>
            </a:r>
          </a:p>
        </p:txBody>
      </p:sp>
      <p:sp>
        <p:nvSpPr>
          <p:cNvPr id="77" name="글"/>
          <p:cNvSpPr txBox="1"/>
          <p:nvPr/>
        </p:nvSpPr>
        <p:spPr>
          <a:xfrm>
            <a:off x="533400" y="4869180"/>
            <a:ext cx="78524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7. 설치본</a:t>
            </a:r>
          </a:p>
        </p:txBody>
      </p:sp>
      <p:sp>
        <p:nvSpPr>
          <p:cNvPr id="78" name="글"/>
          <p:cNvSpPr txBox="1"/>
          <p:nvPr/>
        </p:nvSpPr>
        <p:spPr>
          <a:xfrm>
            <a:off x="533400" y="5055870"/>
            <a:ext cx="1479042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jlink 로 JRE 포함 압축본</a:t>
            </a:r>
          </a:p>
        </p:txBody>
      </p:sp>
      <p:sp>
        <p:nvSpPr>
          <p:cNvPr id="79" name="글"/>
          <p:cNvSpPr txBox="1"/>
          <p:nvPr/>
        </p:nvSpPr>
        <p:spPr>
          <a:xfrm>
            <a:off x="10440237" y="4960620"/>
            <a:ext cx="836676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8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12/7 ~ 12/11</a:t>
            </a:r>
          </a:p>
        </p:txBody>
      </p:sp>
      <p:sp>
        <p:nvSpPr>
          <p:cNvPr id="80" name="글"/>
          <p:cNvSpPr txBox="1"/>
          <p:nvPr/>
        </p:nvSpPr>
        <p:spPr>
          <a:xfrm>
            <a:off x="533400" y="5341620"/>
            <a:ext cx="65570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8. 확장</a:t>
            </a:r>
          </a:p>
        </p:txBody>
      </p:sp>
      <p:sp>
        <p:nvSpPr>
          <p:cNvPr id="81" name="글"/>
          <p:cNvSpPr txBox="1"/>
          <p:nvPr/>
        </p:nvSpPr>
        <p:spPr>
          <a:xfrm>
            <a:off x="533400" y="5528310"/>
            <a:ext cx="1720787" cy="1638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1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22테이블 · 대용량 · 별도 계획</a:t>
            </a:r>
          </a:p>
        </p:txBody>
      </p:sp>
      <p:sp>
        <p:nvSpPr>
          <p:cNvPr id="82" name="글"/>
          <p:cNvSpPr txBox="1"/>
          <p:nvPr/>
        </p:nvSpPr>
        <p:spPr>
          <a:xfrm>
            <a:off x="11073284" y="5433060"/>
            <a:ext cx="89115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8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12/14 ~ 12/18</a:t>
            </a:r>
          </a:p>
        </p:txBody>
      </p:sp>
      <p:sp>
        <p:nvSpPr>
          <p:cNvPr id="83" name="범례"/>
          <p:cNvSpPr/>
          <p:nvPr/>
        </p:nvSpPr>
        <p:spPr>
          <a:xfrm>
            <a:off x="381000" y="6309360"/>
            <a:ext cx="2783205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A9C3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sp>
        <p:nvSpPr>
          <p:cNvPr id="85" name="범례 완료"/>
          <p:cNvSpPr/>
          <p:nvPr/>
        </p:nvSpPr>
        <p:spPr>
          <a:xfrm>
            <a:off x="91440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164B8C"/>
          </a:solidFill>
          <a:ln w="7620">
            <a:solidFill>
              <a:srgbClr val="6F9B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범례 글 완료"/>
          <p:cNvSpPr txBox="1"/>
          <p:nvPr/>
        </p:nvSpPr>
        <p:spPr>
          <a:xfrm>
            <a:off x="117348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sp>
        <p:nvSpPr>
          <p:cNvPr id="87" name="범례 진행 중"/>
          <p:cNvSpPr/>
          <p:nvPr/>
        </p:nvSpPr>
        <p:spPr>
          <a:xfrm>
            <a:off x="163068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1F74C4"/>
          </a:solidFill>
          <a:ln w="7620">
            <a:solidFill>
              <a:srgbClr val="6F9B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범례 글 진행 중"/>
          <p:cNvSpPr txBox="1"/>
          <p:nvPr/>
        </p:nvSpPr>
        <p:spPr>
          <a:xfrm>
            <a:off x="1889760" y="6309360"/>
            <a:ext cx="558165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진행 중</a:t>
            </a:r>
          </a:p>
        </p:txBody>
      </p:sp>
      <p:sp>
        <p:nvSpPr>
          <p:cNvPr id="89" name="범례 예정"/>
          <p:cNvSpPr/>
          <p:nvPr/>
        </p:nvSpPr>
        <p:spPr>
          <a:xfrm>
            <a:off x="2524125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3E5F8"/>
          </a:solidFill>
          <a:ln w="7620">
            <a:solidFill>
              <a:srgbClr val="6F9B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범례 글 예정"/>
          <p:cNvSpPr txBox="1"/>
          <p:nvPr/>
        </p:nvSpPr>
        <p:spPr>
          <a:xfrm>
            <a:off x="2783205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예정</a:t>
            </a:r>
          </a:p>
        </p:txBody>
      </p:sp>
      <p:sp>
        <p:nvSpPr>
          <p:cNvPr id="91" name="설명"/>
          <p:cNvSpPr txBox="1"/>
          <p:nvPr/>
        </p:nvSpPr>
        <p:spPr>
          <a:xfrm>
            <a:off x="5510784" y="6385560"/>
            <a:ext cx="6300216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막대 오른쪽 D 번호: 그 단계에서 함께 만드는 설계 문서 · 3단계 이후 날짜는 안(案)으로 단계가 끝날 때마다 고친다</a:t>
            </a:r>
          </a:p>
        </p:txBody>
      </p:sp>
      <p:sp>
        <p:nvSpPr>
          <p:cNvPr id="92" name="설명"/>
          <p:cNvSpPr txBox="1"/>
          <p:nvPr/>
        </p:nvSpPr>
        <p:spPr>
          <a:xfrm>
            <a:off x="7729728" y="6553200"/>
            <a:ext cx="4081272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브랜치 하나 + draft PR 하나 · 머지는 사용자가 한다(plan §6)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개발 일정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
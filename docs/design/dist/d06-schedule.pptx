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 개발 일정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0 ~ 5단계는 실제(PR 머지일) · 6단계부터 안(案) · 오늘 2026-10-09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KDMS-D06 · v0.2 · 2026-10-09</a:t>
            </a:r>
          </a:p>
        </p:txBody>
      </p:sp>
      <p:sp>
        <p:nvSpPr>
          <p:cNvPr id="6" name="머리줄"/>
          <p:cNvSpPr/>
          <p:nvPr/>
        </p:nvSpPr>
        <p:spPr>
          <a:xfrm>
            <a:off x="381000" y="960120"/>
            <a:ext cx="11430000" cy="487680"/>
          </a:xfrm>
          <a:prstGeom prst="roundRect">
            <a:avLst>
              <a:gd name="adj" fmla="val 12500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줄 배경"/>
          <p:cNvSpPr/>
          <p:nvPr/>
        </p:nvSpPr>
        <p:spPr>
          <a:xfrm>
            <a:off x="381000" y="1981200"/>
            <a:ext cx="11430000" cy="518160"/>
          </a:xfrm>
          <a:prstGeom prst="roundRect">
            <a:avLst>
              <a:gd name="adj" fmla="val 0"/>
            </a:avLst>
          </a:prstGeom>
          <a:solidFill>
            <a:srgbClr val="EE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줄 배경"/>
          <p:cNvSpPr/>
          <p:nvPr/>
        </p:nvSpPr>
        <p:spPr>
          <a:xfrm>
            <a:off x="381000" y="3017520"/>
            <a:ext cx="11430000" cy="518160"/>
          </a:xfrm>
          <a:prstGeom prst="roundRect">
            <a:avLst>
              <a:gd name="adj" fmla="val 0"/>
            </a:avLst>
          </a:prstGeom>
          <a:solidFill>
            <a:srgbClr val="EE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줄 배경"/>
          <p:cNvSpPr/>
          <p:nvPr/>
        </p:nvSpPr>
        <p:spPr>
          <a:xfrm>
            <a:off x="381000" y="4053840"/>
            <a:ext cx="11430000" cy="518160"/>
          </a:xfrm>
          <a:prstGeom prst="roundRect">
            <a:avLst>
              <a:gd name="adj" fmla="val 0"/>
            </a:avLst>
          </a:prstGeom>
          <a:solidFill>
            <a:srgbClr val="EE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줄 배경"/>
          <p:cNvSpPr/>
          <p:nvPr/>
        </p:nvSpPr>
        <p:spPr>
          <a:xfrm>
            <a:off x="381000" y="5090160"/>
            <a:ext cx="11430000" cy="518160"/>
          </a:xfrm>
          <a:prstGeom prst="roundRect">
            <a:avLst>
              <a:gd name="adj" fmla="val 0"/>
            </a:avLst>
          </a:prstGeom>
          <a:solidFill>
            <a:srgbClr val="EEF6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주 격자"/>
          <p:cNvSpPr/>
          <p:nvPr/>
        </p:nvSpPr>
        <p:spPr>
          <a:xfrm>
            <a:off x="35775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주 격자"/>
          <p:cNvSpPr/>
          <p:nvPr/>
        </p:nvSpPr>
        <p:spPr>
          <a:xfrm>
            <a:off x="49491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주 격자"/>
          <p:cNvSpPr/>
          <p:nvPr/>
        </p:nvSpPr>
        <p:spPr>
          <a:xfrm>
            <a:off x="63207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주 격자"/>
          <p:cNvSpPr/>
          <p:nvPr/>
        </p:nvSpPr>
        <p:spPr>
          <a:xfrm>
            <a:off x="76923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주 격자"/>
          <p:cNvSpPr/>
          <p:nvPr/>
        </p:nvSpPr>
        <p:spPr>
          <a:xfrm>
            <a:off x="90639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주 격자"/>
          <p:cNvSpPr/>
          <p:nvPr/>
        </p:nvSpPr>
        <p:spPr>
          <a:xfrm>
            <a:off x="104355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주 격자"/>
          <p:cNvSpPr/>
          <p:nvPr/>
        </p:nvSpPr>
        <p:spPr>
          <a:xfrm>
            <a:off x="11807190" y="1447800"/>
            <a:ext cx="7620" cy="4678680"/>
          </a:xfrm>
          <a:prstGeom prst="roundRect">
            <a:avLst>
              <a:gd name="adj" fmla="val 0"/>
            </a:avLst>
          </a:prstGeom>
          <a:solidFill>
            <a:srgbClr val="D6E3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오늘 선"/>
          <p:cNvSpPr/>
          <p:nvPr/>
        </p:nvSpPr>
        <p:spPr>
          <a:xfrm>
            <a:off x="5827123" y="1447800"/>
            <a:ext cx="15240" cy="4861560"/>
          </a:xfrm>
          <a:prstGeom prst="roundRect">
            <a:avLst>
              <a:gd name="adj" fmla="val 0"/>
            </a:avLst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막대 0. 환경 준비"/>
          <p:cNvSpPr/>
          <p:nvPr/>
        </p:nvSpPr>
        <p:spPr>
          <a:xfrm>
            <a:off x="4169229" y="1584960"/>
            <a:ext cx="1175657" cy="274320"/>
          </a:xfrm>
          <a:prstGeom prst="roundRect">
            <a:avLst>
              <a:gd name="adj" fmla="val 22222"/>
            </a:avLst>
          </a:prstGeom>
          <a:solidFill>
            <a:srgbClr val="1F4E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10/1 ~ 10/6</a:t>
            </a:r>
          </a:p>
        </p:txBody>
      </p:sp>
      <p:sp>
        <p:nvSpPr>
          <p:cNvPr id="20" name="막대 1. 골격"/>
          <p:cNvSpPr/>
          <p:nvPr/>
        </p:nvSpPr>
        <p:spPr>
          <a:xfrm>
            <a:off x="4169229" y="2103120"/>
            <a:ext cx="1175657" cy="274320"/>
          </a:xfrm>
          <a:prstGeom prst="roundRect">
            <a:avLst>
              <a:gd name="adj" fmla="val 22222"/>
            </a:avLst>
          </a:prstGeom>
          <a:solidFill>
            <a:srgbClr val="1F4E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10/1 ~ 10/6</a:t>
            </a:r>
          </a:p>
        </p:txBody>
      </p:sp>
      <p:sp>
        <p:nvSpPr>
          <p:cNvPr id="21" name="막대 2. 스키마 변환"/>
          <p:cNvSpPr/>
          <p:nvPr/>
        </p:nvSpPr>
        <p:spPr>
          <a:xfrm>
            <a:off x="4169229" y="2621280"/>
            <a:ext cx="1175657" cy="274320"/>
          </a:xfrm>
          <a:prstGeom prst="roundRect">
            <a:avLst>
              <a:gd name="adj" fmla="val 22222"/>
            </a:avLst>
          </a:prstGeom>
          <a:solidFill>
            <a:srgbClr val="1F4E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10/1 ~ 10/6</a:t>
            </a:r>
          </a:p>
        </p:txBody>
      </p:sp>
      <p:sp>
        <p:nvSpPr>
          <p:cNvPr id="22" name="막대 3. 전체 적재 + 검증"/>
          <p:cNvSpPr/>
          <p:nvPr/>
        </p:nvSpPr>
        <p:spPr>
          <a:xfrm>
            <a:off x="5344886" y="3139440"/>
            <a:ext cx="391886" cy="274320"/>
          </a:xfrm>
          <a:prstGeom prst="roundRect">
            <a:avLst>
              <a:gd name="adj" fmla="val 22222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막대 4. CDC 수집·반영"/>
          <p:cNvSpPr/>
          <p:nvPr/>
        </p:nvSpPr>
        <p:spPr>
          <a:xfrm>
            <a:off x="5540829" y="3657600"/>
            <a:ext cx="195943" cy="274320"/>
          </a:xfrm>
          <a:prstGeom prst="roundRect">
            <a:avLst>
              <a:gd name="adj" fmla="val 31111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막대 5. 전환 + 화면·CLI"/>
          <p:cNvSpPr/>
          <p:nvPr/>
        </p:nvSpPr>
        <p:spPr>
          <a:xfrm>
            <a:off x="5540829" y="4175760"/>
            <a:ext cx="195943" cy="274320"/>
          </a:xfrm>
          <a:prstGeom prst="roundRect">
            <a:avLst>
              <a:gd name="adj" fmla="val 31111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막대 6. MVP 리허설"/>
          <p:cNvSpPr/>
          <p:nvPr/>
        </p:nvSpPr>
        <p:spPr>
          <a:xfrm>
            <a:off x="5736771" y="4693920"/>
            <a:ext cx="1567543" cy="274320"/>
          </a:xfrm>
          <a:prstGeom prst="roundRect">
            <a:avLst>
              <a:gd name="adj" fmla="val 22222"/>
            </a:avLst>
          </a:prstGeom>
          <a:solidFill>
            <a:srgbClr val="2B86C9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10/9 ~ 10/16</a:t>
            </a:r>
          </a:p>
        </p:txBody>
      </p:sp>
      <p:sp>
        <p:nvSpPr>
          <p:cNvPr id="26" name="막대 7. 설치본"/>
          <p:cNvSpPr/>
          <p:nvPr/>
        </p:nvSpPr>
        <p:spPr>
          <a:xfrm>
            <a:off x="7696200" y="5212080"/>
            <a:ext cx="979714" cy="274320"/>
          </a:xfrm>
          <a:prstGeom prst="roundRect">
            <a:avLst>
              <a:gd name="adj" fmla="val 22222"/>
            </a:avLst>
          </a:prstGeom>
          <a:solidFill>
            <a:srgbClr val="D3E5F8"/>
          </a:solidFill>
          <a:ln w="9144">
            <a:solidFill>
              <a:srgbClr val="1F4E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막대 8. 확장"/>
          <p:cNvSpPr/>
          <p:nvPr/>
        </p:nvSpPr>
        <p:spPr>
          <a:xfrm>
            <a:off x="9067800" y="5730240"/>
            <a:ext cx="979714" cy="274320"/>
          </a:xfrm>
          <a:prstGeom prst="roundRect">
            <a:avLst>
              <a:gd name="adj" fmla="val 22222"/>
            </a:avLst>
          </a:prstGeom>
          <a:solidFill>
            <a:srgbClr val="D3E5F8"/>
          </a:solidFill>
          <a:ln w="9144">
            <a:solidFill>
              <a:srgbClr val="1F4E8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선"/>
          <p:cNvCxnSpPr/>
          <p:nvPr/>
        </p:nvCxnSpPr>
        <p:spPr>
          <a:xfrm>
            <a:off x="381000" y="6126480"/>
            <a:ext cx="11430000" cy="0"/>
          </a:xfrm>
          <a:prstGeom prst="line">
            <a:avLst/>
          </a:prstGeom>
          <a:ln w="10668">
            <a:solidFill>
              <a:srgbClr val="8EC3EC"/>
            </a:solidFill>
          </a:ln>
        </p:spPr>
      </p:cxnSp>
      <p:sp>
        <p:nvSpPr>
          <p:cNvPr id="29" name="글"/>
          <p:cNvSpPr txBox="1"/>
          <p:nvPr/>
        </p:nvSpPr>
        <p:spPr>
          <a:xfrm>
            <a:off x="533400" y="1097280"/>
            <a:ext cx="4876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30" name="글"/>
          <p:cNvSpPr txBox="1"/>
          <p:nvPr/>
        </p:nvSpPr>
        <p:spPr>
          <a:xfrm>
            <a:off x="3677575" y="1005840"/>
            <a:ext cx="395478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9월</a:t>
            </a:r>
          </a:p>
        </p:txBody>
      </p:sp>
      <p:sp>
        <p:nvSpPr>
          <p:cNvPr id="31" name="글"/>
          <p:cNvSpPr txBox="1"/>
          <p:nvPr/>
        </p:nvSpPr>
        <p:spPr>
          <a:xfrm>
            <a:off x="6970885" y="1005840"/>
            <a:ext cx="470916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10월</a:t>
            </a:r>
          </a:p>
        </p:txBody>
      </p:sp>
      <p:sp>
        <p:nvSpPr>
          <p:cNvPr id="32" name="글"/>
          <p:cNvSpPr txBox="1"/>
          <p:nvPr/>
        </p:nvSpPr>
        <p:spPr>
          <a:xfrm>
            <a:off x="10791771" y="1005840"/>
            <a:ext cx="470916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11월</a:t>
            </a:r>
          </a:p>
        </p:txBody>
      </p:sp>
      <p:sp>
        <p:nvSpPr>
          <p:cNvPr id="33" name="글"/>
          <p:cNvSpPr txBox="1"/>
          <p:nvPr/>
        </p:nvSpPr>
        <p:spPr>
          <a:xfrm>
            <a:off x="4033266" y="1211580"/>
            <a:ext cx="46786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9/28</a:t>
            </a:r>
          </a:p>
        </p:txBody>
      </p:sp>
      <p:sp>
        <p:nvSpPr>
          <p:cNvPr id="34" name="글"/>
          <p:cNvSpPr txBox="1"/>
          <p:nvPr/>
        </p:nvSpPr>
        <p:spPr>
          <a:xfrm>
            <a:off x="5404866" y="1211580"/>
            <a:ext cx="46786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10/5</a:t>
            </a:r>
          </a:p>
        </p:txBody>
      </p:sp>
      <p:sp>
        <p:nvSpPr>
          <p:cNvPr id="35" name="글"/>
          <p:cNvSpPr txBox="1"/>
          <p:nvPr/>
        </p:nvSpPr>
        <p:spPr>
          <a:xfrm>
            <a:off x="6740842" y="1211580"/>
            <a:ext cx="539115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10/12</a:t>
            </a:r>
          </a:p>
        </p:txBody>
      </p:sp>
      <p:sp>
        <p:nvSpPr>
          <p:cNvPr id="36" name="글"/>
          <p:cNvSpPr txBox="1"/>
          <p:nvPr/>
        </p:nvSpPr>
        <p:spPr>
          <a:xfrm>
            <a:off x="8112442" y="1211580"/>
            <a:ext cx="539115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10/19</a:t>
            </a:r>
          </a:p>
        </p:txBody>
      </p:sp>
      <p:sp>
        <p:nvSpPr>
          <p:cNvPr id="37" name="글"/>
          <p:cNvSpPr txBox="1"/>
          <p:nvPr/>
        </p:nvSpPr>
        <p:spPr>
          <a:xfrm>
            <a:off x="9484042" y="1211580"/>
            <a:ext cx="539115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10/26</a:t>
            </a:r>
          </a:p>
        </p:txBody>
      </p:sp>
      <p:sp>
        <p:nvSpPr>
          <p:cNvPr id="38" name="글"/>
          <p:cNvSpPr txBox="1"/>
          <p:nvPr/>
        </p:nvSpPr>
        <p:spPr>
          <a:xfrm>
            <a:off x="10891266" y="1211580"/>
            <a:ext cx="46786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11/2</a:t>
            </a:r>
          </a:p>
        </p:txBody>
      </p:sp>
      <p:sp>
        <p:nvSpPr>
          <p:cNvPr id="39" name="글"/>
          <p:cNvSpPr txBox="1"/>
          <p:nvPr/>
        </p:nvSpPr>
        <p:spPr>
          <a:xfrm>
            <a:off x="5895703" y="6164580"/>
            <a:ext cx="798195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오늘 10/9</a:t>
            </a:r>
          </a:p>
        </p:txBody>
      </p:sp>
      <p:sp>
        <p:nvSpPr>
          <p:cNvPr id="40" name="글"/>
          <p:cNvSpPr txBox="1"/>
          <p:nvPr/>
        </p:nvSpPr>
        <p:spPr>
          <a:xfrm>
            <a:off x="533400" y="1516380"/>
            <a:ext cx="112776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0. 환경 준비</a:t>
            </a:r>
          </a:p>
        </p:txBody>
      </p:sp>
      <p:sp>
        <p:nvSpPr>
          <p:cNvPr id="41" name="글"/>
          <p:cNvSpPr txBox="1"/>
          <p:nvPr/>
        </p:nvSpPr>
        <p:spPr>
          <a:xfrm>
            <a:off x="533400" y="1729740"/>
            <a:ext cx="234619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노트북 DB · CDC 켜기 · 전용 계정</a:t>
            </a:r>
          </a:p>
        </p:txBody>
      </p:sp>
      <p:sp>
        <p:nvSpPr>
          <p:cNvPr id="42" name="글"/>
          <p:cNvSpPr txBox="1"/>
          <p:nvPr/>
        </p:nvSpPr>
        <p:spPr>
          <a:xfrm>
            <a:off x="533400" y="2034540"/>
            <a:ext cx="73914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1. 골격</a:t>
            </a:r>
          </a:p>
        </p:txBody>
      </p:sp>
      <p:sp>
        <p:nvSpPr>
          <p:cNvPr id="43" name="글"/>
          <p:cNvSpPr txBox="1"/>
          <p:nvPr/>
        </p:nvSpPr>
        <p:spPr>
          <a:xfrm>
            <a:off x="533400" y="2247900"/>
            <a:ext cx="2242566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Maven · CLI · 웹 · 관리 테이블</a:t>
            </a:r>
          </a:p>
        </p:txBody>
      </p:sp>
      <p:sp>
        <p:nvSpPr>
          <p:cNvPr id="44" name="글"/>
          <p:cNvSpPr txBox="1"/>
          <p:nvPr/>
        </p:nvSpPr>
        <p:spPr>
          <a:xfrm>
            <a:off x="5926183" y="2141220"/>
            <a:ext cx="1251585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D01 D02 D03 D06</a:t>
            </a:r>
          </a:p>
        </p:txBody>
      </p:sp>
      <p:sp>
        <p:nvSpPr>
          <p:cNvPr id="45" name="글"/>
          <p:cNvSpPr txBox="1"/>
          <p:nvPr/>
        </p:nvSpPr>
        <p:spPr>
          <a:xfrm>
            <a:off x="533400" y="2552700"/>
            <a:ext cx="128016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2. 스키마 변환</a:t>
            </a:r>
          </a:p>
        </p:txBody>
      </p:sp>
      <p:sp>
        <p:nvSpPr>
          <p:cNvPr id="46" name="글"/>
          <p:cNvSpPr txBox="1"/>
          <p:nvPr/>
        </p:nvSpPr>
        <p:spPr>
          <a:xfrm>
            <a:off x="533400" y="2766060"/>
            <a:ext cx="1782699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 plan · 세 단계 DDL</a:t>
            </a:r>
          </a:p>
        </p:txBody>
      </p:sp>
      <p:sp>
        <p:nvSpPr>
          <p:cNvPr id="47" name="글"/>
          <p:cNvSpPr txBox="1"/>
          <p:nvPr/>
        </p:nvSpPr>
        <p:spPr>
          <a:xfrm>
            <a:off x="5421086" y="2659380"/>
            <a:ext cx="39662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D07</a:t>
            </a:r>
          </a:p>
        </p:txBody>
      </p:sp>
      <p:sp>
        <p:nvSpPr>
          <p:cNvPr id="48" name="글"/>
          <p:cNvSpPr txBox="1"/>
          <p:nvPr/>
        </p:nvSpPr>
        <p:spPr>
          <a:xfrm>
            <a:off x="533400" y="3070860"/>
            <a:ext cx="168402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3. 전체 적재 + 검증</a:t>
            </a:r>
          </a:p>
        </p:txBody>
      </p:sp>
      <p:sp>
        <p:nvSpPr>
          <p:cNvPr id="49" name="글"/>
          <p:cNvSpPr txBox="1"/>
          <p:nvPr/>
        </p:nvSpPr>
        <p:spPr>
          <a:xfrm>
            <a:off x="533400" y="3284220"/>
            <a:ext cx="2203704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COPY · 재시작 · 건수·합계·해시</a:t>
            </a:r>
          </a:p>
        </p:txBody>
      </p:sp>
      <p:sp>
        <p:nvSpPr>
          <p:cNvPr id="50" name="글"/>
          <p:cNvSpPr txBox="1"/>
          <p:nvPr/>
        </p:nvSpPr>
        <p:spPr>
          <a:xfrm>
            <a:off x="5926183" y="3177540"/>
            <a:ext cx="966597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10/7 ~ 10/8</a:t>
            </a:r>
          </a:p>
        </p:txBody>
      </p:sp>
      <p:sp>
        <p:nvSpPr>
          <p:cNvPr id="51" name="글"/>
          <p:cNvSpPr txBox="1"/>
          <p:nvPr/>
        </p:nvSpPr>
        <p:spPr>
          <a:xfrm>
            <a:off x="6816580" y="3177540"/>
            <a:ext cx="681609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D05 D08</a:t>
            </a:r>
          </a:p>
        </p:txBody>
      </p:sp>
      <p:sp>
        <p:nvSpPr>
          <p:cNvPr id="52" name="글"/>
          <p:cNvSpPr txBox="1"/>
          <p:nvPr/>
        </p:nvSpPr>
        <p:spPr>
          <a:xfrm>
            <a:off x="533400" y="3589020"/>
            <a:ext cx="146304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4. CDC 수집·반영</a:t>
            </a:r>
          </a:p>
        </p:txBody>
      </p:sp>
      <p:sp>
        <p:nvSpPr>
          <p:cNvPr id="53" name="글"/>
          <p:cNvSpPr txBox="1"/>
          <p:nvPr/>
        </p:nvSpPr>
        <p:spPr>
          <a:xfrm>
            <a:off x="533400" y="3802380"/>
            <a:ext cx="228142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Debezium · change_log · 반영기</a:t>
            </a:r>
          </a:p>
        </p:txBody>
      </p:sp>
      <p:sp>
        <p:nvSpPr>
          <p:cNvPr id="54" name="글"/>
          <p:cNvSpPr txBox="1"/>
          <p:nvPr/>
        </p:nvSpPr>
        <p:spPr>
          <a:xfrm>
            <a:off x="5926183" y="3695700"/>
            <a:ext cx="46786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10/8</a:t>
            </a:r>
          </a:p>
        </p:txBody>
      </p:sp>
      <p:sp>
        <p:nvSpPr>
          <p:cNvPr id="55" name="글"/>
          <p:cNvSpPr txBox="1"/>
          <p:nvPr/>
        </p:nvSpPr>
        <p:spPr>
          <a:xfrm>
            <a:off x="6317851" y="3695700"/>
            <a:ext cx="39662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D04</a:t>
            </a:r>
          </a:p>
        </p:txBody>
      </p:sp>
      <p:sp>
        <p:nvSpPr>
          <p:cNvPr id="56" name="글"/>
          <p:cNvSpPr txBox="1"/>
          <p:nvPr/>
        </p:nvSpPr>
        <p:spPr>
          <a:xfrm>
            <a:off x="533400" y="4107180"/>
            <a:ext cx="16306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5. 전환 + 화면·CLI</a:t>
            </a:r>
          </a:p>
        </p:txBody>
      </p:sp>
      <p:sp>
        <p:nvSpPr>
          <p:cNvPr id="57" name="글"/>
          <p:cNvSpPr txBox="1"/>
          <p:nvPr/>
        </p:nvSpPr>
        <p:spPr>
          <a:xfrm>
            <a:off x="533400" y="4320540"/>
            <a:ext cx="188633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상태 기계 · setval · 화면</a:t>
            </a:r>
          </a:p>
        </p:txBody>
      </p:sp>
      <p:sp>
        <p:nvSpPr>
          <p:cNvPr id="58" name="글"/>
          <p:cNvSpPr txBox="1"/>
          <p:nvPr/>
        </p:nvSpPr>
        <p:spPr>
          <a:xfrm>
            <a:off x="5926183" y="4213860"/>
            <a:ext cx="46786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10/8</a:t>
            </a:r>
          </a:p>
        </p:txBody>
      </p:sp>
      <p:sp>
        <p:nvSpPr>
          <p:cNvPr id="59" name="글"/>
          <p:cNvSpPr txBox="1"/>
          <p:nvPr/>
        </p:nvSpPr>
        <p:spPr>
          <a:xfrm>
            <a:off x="6317851" y="4213860"/>
            <a:ext cx="39662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D09</a:t>
            </a:r>
          </a:p>
        </p:txBody>
      </p:sp>
      <p:sp>
        <p:nvSpPr>
          <p:cNvPr id="60" name="글"/>
          <p:cNvSpPr txBox="1"/>
          <p:nvPr/>
        </p:nvSpPr>
        <p:spPr>
          <a:xfrm>
            <a:off x="533400" y="4625340"/>
            <a:ext cx="122682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6. MVP 리허설</a:t>
            </a:r>
          </a:p>
        </p:txBody>
      </p:sp>
      <p:sp>
        <p:nvSpPr>
          <p:cNvPr id="61" name="글"/>
          <p:cNvSpPr txBox="1"/>
          <p:nvPr/>
        </p:nvSpPr>
        <p:spPr>
          <a:xfrm>
            <a:off x="533400" y="4838700"/>
            <a:ext cx="1905762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처음부터 2회 · 운영 절차서</a:t>
            </a:r>
          </a:p>
        </p:txBody>
      </p:sp>
      <p:sp>
        <p:nvSpPr>
          <p:cNvPr id="62" name="글"/>
          <p:cNvSpPr txBox="1"/>
          <p:nvPr/>
        </p:nvSpPr>
        <p:spPr>
          <a:xfrm>
            <a:off x="7380514" y="4732020"/>
            <a:ext cx="681609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D10 D11</a:t>
            </a:r>
          </a:p>
        </p:txBody>
      </p:sp>
      <p:sp>
        <p:nvSpPr>
          <p:cNvPr id="63" name="글"/>
          <p:cNvSpPr txBox="1"/>
          <p:nvPr/>
        </p:nvSpPr>
        <p:spPr>
          <a:xfrm>
            <a:off x="533400" y="5143500"/>
            <a:ext cx="89154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7. 설치본</a:t>
            </a:r>
          </a:p>
        </p:txBody>
      </p:sp>
      <p:sp>
        <p:nvSpPr>
          <p:cNvPr id="64" name="글"/>
          <p:cNvSpPr txBox="1"/>
          <p:nvPr/>
        </p:nvSpPr>
        <p:spPr>
          <a:xfrm>
            <a:off x="533400" y="5356860"/>
            <a:ext cx="1815084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jlink 로 JRE 포함 압축본</a:t>
            </a:r>
          </a:p>
        </p:txBody>
      </p:sp>
      <p:sp>
        <p:nvSpPr>
          <p:cNvPr id="65" name="글"/>
          <p:cNvSpPr txBox="1"/>
          <p:nvPr/>
        </p:nvSpPr>
        <p:spPr>
          <a:xfrm>
            <a:off x="8752114" y="5250180"/>
            <a:ext cx="110909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10/19 ~ 10/23</a:t>
            </a:r>
          </a:p>
        </p:txBody>
      </p:sp>
      <p:sp>
        <p:nvSpPr>
          <p:cNvPr id="66" name="글"/>
          <p:cNvSpPr txBox="1"/>
          <p:nvPr/>
        </p:nvSpPr>
        <p:spPr>
          <a:xfrm>
            <a:off x="533400" y="5661660"/>
            <a:ext cx="73914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8. 확장</a:t>
            </a:r>
          </a:p>
        </p:txBody>
      </p:sp>
      <p:sp>
        <p:nvSpPr>
          <p:cNvPr id="67" name="글"/>
          <p:cNvSpPr txBox="1"/>
          <p:nvPr/>
        </p:nvSpPr>
        <p:spPr>
          <a:xfrm>
            <a:off x="533400" y="5875020"/>
            <a:ext cx="2119503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22테이블 · 대용량 · 별도 계획</a:t>
            </a:r>
          </a:p>
        </p:txBody>
      </p:sp>
      <p:sp>
        <p:nvSpPr>
          <p:cNvPr id="68" name="글"/>
          <p:cNvSpPr txBox="1"/>
          <p:nvPr/>
        </p:nvSpPr>
        <p:spPr>
          <a:xfrm>
            <a:off x="10123714" y="5768340"/>
            <a:ext cx="110909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10/26 ~ 10/30</a:t>
            </a:r>
          </a:p>
        </p:txBody>
      </p:sp>
      <p:sp>
        <p:nvSpPr>
          <p:cNvPr id="69" name="범례"/>
          <p:cNvSpPr/>
          <p:nvPr/>
        </p:nvSpPr>
        <p:spPr>
          <a:xfrm>
            <a:off x="381000" y="6309360"/>
            <a:ext cx="2898267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8EC3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sp>
        <p:nvSpPr>
          <p:cNvPr id="71" name="범례 완료"/>
          <p:cNvSpPr/>
          <p:nvPr/>
        </p:nvSpPr>
        <p:spPr>
          <a:xfrm>
            <a:off x="914400" y="6438900"/>
            <a:ext cx="182880" cy="137160"/>
          </a:xfrm>
          <a:prstGeom prst="roundRect">
            <a:avLst>
              <a:gd name="adj" fmla="val 22222"/>
            </a:avLst>
          </a:prstGeom>
          <a:solidFill>
            <a:srgbClr val="1F4E8C"/>
          </a:solidFill>
          <a:ln w="7620">
            <a:solidFill>
              <a:srgbClr val="8EC3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범례 글 완료"/>
          <p:cNvSpPr txBox="1"/>
          <p:nvPr/>
        </p:nvSpPr>
        <p:spPr>
          <a:xfrm>
            <a:off x="1173480" y="6309360"/>
            <a:ext cx="41148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  <p:sp>
        <p:nvSpPr>
          <p:cNvPr id="73" name="범례 진행 중"/>
          <p:cNvSpPr/>
          <p:nvPr/>
        </p:nvSpPr>
        <p:spPr>
          <a:xfrm>
            <a:off x="1661160" y="6438900"/>
            <a:ext cx="182880" cy="137160"/>
          </a:xfrm>
          <a:prstGeom prst="roundRect">
            <a:avLst>
              <a:gd name="adj" fmla="val 22222"/>
            </a:avLst>
          </a:prstGeom>
          <a:solidFill>
            <a:srgbClr val="2B86C9"/>
          </a:solidFill>
          <a:ln w="7620">
            <a:solidFill>
              <a:srgbClr val="8EC3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범례 글 진행 중"/>
          <p:cNvSpPr txBox="1"/>
          <p:nvPr/>
        </p:nvSpPr>
        <p:spPr>
          <a:xfrm>
            <a:off x="1920240" y="6309360"/>
            <a:ext cx="61226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진행 중</a:t>
            </a:r>
          </a:p>
        </p:txBody>
      </p:sp>
      <p:sp>
        <p:nvSpPr>
          <p:cNvPr id="75" name="범례 예정"/>
          <p:cNvSpPr/>
          <p:nvPr/>
        </p:nvSpPr>
        <p:spPr>
          <a:xfrm>
            <a:off x="2608707" y="6438900"/>
            <a:ext cx="182880" cy="137160"/>
          </a:xfrm>
          <a:prstGeom prst="roundRect">
            <a:avLst>
              <a:gd name="adj" fmla="val 22222"/>
            </a:avLst>
          </a:prstGeom>
          <a:solidFill>
            <a:srgbClr val="D3E5F8"/>
          </a:solidFill>
          <a:ln w="7620">
            <a:solidFill>
              <a:srgbClr val="8EC3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범례 글 예정"/>
          <p:cNvSpPr txBox="1"/>
          <p:nvPr/>
        </p:nvSpPr>
        <p:spPr>
          <a:xfrm>
            <a:off x="2867787" y="6309360"/>
            <a:ext cx="41148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예정</a:t>
            </a:r>
          </a:p>
        </p:txBody>
      </p:sp>
      <p:sp>
        <p:nvSpPr>
          <p:cNvPr id="77" name="설명"/>
          <p:cNvSpPr txBox="1"/>
          <p:nvPr/>
        </p:nvSpPr>
        <p:spPr>
          <a:xfrm>
            <a:off x="6395847" y="6347460"/>
            <a:ext cx="5415153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막대 오른쪽 D 번호: 그 단계에 맞춰 만드는 설계 문서 · 6단계부터 날짜는 안(案)</a:t>
            </a:r>
          </a:p>
        </p:txBody>
      </p:sp>
      <p:sp>
        <p:nvSpPr>
          <p:cNvPr id="78" name="설명"/>
          <p:cNvSpPr txBox="1"/>
          <p:nvPr/>
        </p:nvSpPr>
        <p:spPr>
          <a:xfrm>
            <a:off x="6564249" y="6537960"/>
            <a:ext cx="524675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단계마다 브랜치 하나 + draft PR 하나 · 머지는 사용자가 한다(CLAUDE.md §4)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개발 일정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
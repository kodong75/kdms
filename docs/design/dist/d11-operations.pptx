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운영 매뉴얼 (역할별 흐름)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runbook.md 요약 · D-n 준비 → 적재·동기화(며칠도 가능) → D-day 전환 ①~⑦ → D+n 정리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KDMS-D11 · v0.1 · 2026-10-10</a:t>
            </a:r>
          </a:p>
        </p:txBody>
      </p:sp>
      <p:sp>
        <p:nvSpPr>
          <p:cNvPr id="6" name="영역 DBA"/>
          <p:cNvSpPr/>
          <p:nvPr/>
        </p:nvSpPr>
        <p:spPr>
          <a:xfrm>
            <a:off x="335280" y="1249680"/>
            <a:ext cx="11521440" cy="1493520"/>
          </a:xfrm>
          <a:prstGeom prst="roundRect">
            <a:avLst>
              <a:gd name="adj" fmla="val 9183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DBA</a:t>
            </a:r>
          </a:p>
        </p:txBody>
      </p:sp>
      <p:sp>
        <p:nvSpPr>
          <p:cNvPr id="7" name="영역 이관 담당"/>
          <p:cNvSpPr/>
          <p:nvPr/>
        </p:nvSpPr>
        <p:spPr>
          <a:xfrm>
            <a:off x="335280" y="2834640"/>
            <a:ext cx="11521440" cy="1630680"/>
          </a:xfrm>
          <a:prstGeom prst="roundRect">
            <a:avLst>
              <a:gd name="adj" fmla="val 8411"/>
            </a:avLst>
          </a:prstGeom>
          <a:solidFill>
            <a:srgbClr val="EEF8F3"/>
          </a:solidFill>
          <a:ln w="15240">
            <a:solidFill>
              <a:srgbClr val="1E6B4F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이관 담당</a:t>
            </a:r>
          </a:p>
        </p:txBody>
      </p:sp>
      <p:sp>
        <p:nvSpPr>
          <p:cNvPr id="8" name="영역 앱 담당 · 판단자"/>
          <p:cNvSpPr/>
          <p:nvPr/>
        </p:nvSpPr>
        <p:spPr>
          <a:xfrm>
            <a:off x="335280" y="4556760"/>
            <a:ext cx="11521440" cy="1463040"/>
          </a:xfrm>
          <a:prstGeom prst="roundRect">
            <a:avLst>
              <a:gd name="adj" fmla="val 9375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앱 담당 · 판단자</a:t>
            </a:r>
          </a:p>
        </p:txBody>
      </p:sp>
      <p:cxnSp>
        <p:nvCxnSpPr>
          <p:cNvPr id="9" name="선"/>
          <p:cNvCxnSpPr/>
          <p:nvPr/>
        </p:nvCxnSpPr>
        <p:spPr>
          <a:xfrm>
            <a:off x="3581400" y="1219200"/>
            <a:ext cx="0" cy="4800600"/>
          </a:xfrm>
          <a:prstGeom prst="line">
            <a:avLst/>
          </a:prstGeom>
          <a:ln w="12192">
            <a:solidFill>
              <a:srgbClr val="2E9E6E"/>
            </a:solidFill>
            <a:prstDash val="dash"/>
          </a:ln>
        </p:spPr>
      </p:cxnSp>
      <p:cxnSp>
        <p:nvCxnSpPr>
          <p:cNvPr id="10" name="선"/>
          <p:cNvCxnSpPr/>
          <p:nvPr/>
        </p:nvCxnSpPr>
        <p:spPr>
          <a:xfrm>
            <a:off x="5562600" y="1219200"/>
            <a:ext cx="0" cy="4800600"/>
          </a:xfrm>
          <a:prstGeom prst="line">
            <a:avLst/>
          </a:prstGeom>
          <a:ln w="12192">
            <a:solidFill>
              <a:srgbClr val="2E9E6E"/>
            </a:solidFill>
            <a:prstDash val="dash"/>
          </a:ln>
        </p:spPr>
      </p:cxnSp>
      <p:cxnSp>
        <p:nvCxnSpPr>
          <p:cNvPr id="11" name="선"/>
          <p:cNvCxnSpPr/>
          <p:nvPr/>
        </p:nvCxnSpPr>
        <p:spPr>
          <a:xfrm>
            <a:off x="10668000" y="1219200"/>
            <a:ext cx="0" cy="3246120"/>
          </a:xfrm>
          <a:prstGeom prst="line">
            <a:avLst/>
          </a:prstGeom>
          <a:ln w="12192">
            <a:solidFill>
              <a:srgbClr val="2E9E6E"/>
            </a:solidFill>
            <a:prstDash val="dash"/>
          </a:ln>
        </p:spPr>
      </p:cxnSp>
      <p:cxnSp>
        <p:nvCxnSpPr>
          <p:cNvPr id="12" name="선"/>
          <p:cNvCxnSpPr/>
          <p:nvPr/>
        </p:nvCxnSpPr>
        <p:spPr>
          <a:xfrm flipH="1">
            <a:off x="8496300" y="2072640"/>
            <a:ext cx="114300" cy="0"/>
          </a:xfrm>
          <a:prstGeom prst="line">
            <a:avLst/>
          </a:prstGeom>
          <a:ln w="16764">
            <a:solidFill>
              <a:srgbClr val="1E6B4F"/>
            </a:solidFill>
          </a:ln>
        </p:spPr>
      </p:cxnSp>
      <p:cxnSp>
        <p:nvCxnSpPr>
          <p:cNvPr id="13" name="선"/>
          <p:cNvCxnSpPr/>
          <p:nvPr/>
        </p:nvCxnSpPr>
        <p:spPr>
          <a:xfrm>
            <a:off x="8496300" y="2072640"/>
            <a:ext cx="0" cy="2621280"/>
          </a:xfrm>
          <a:prstGeom prst="line">
            <a:avLst/>
          </a:prstGeom>
          <a:ln w="16764">
            <a:solidFill>
              <a:srgbClr val="1E6B4F"/>
            </a:solidFill>
          </a:ln>
        </p:spPr>
      </p:cxnSp>
      <p:cxnSp>
        <p:nvCxnSpPr>
          <p:cNvPr id="14" name="선"/>
          <p:cNvCxnSpPr/>
          <p:nvPr/>
        </p:nvCxnSpPr>
        <p:spPr>
          <a:xfrm flipH="1">
            <a:off x="7581900" y="4693920"/>
            <a:ext cx="914400" cy="0"/>
          </a:xfrm>
          <a:prstGeom prst="line">
            <a:avLst/>
          </a:prstGeom>
          <a:ln w="16764">
            <a:solidFill>
              <a:srgbClr val="1E6B4F"/>
            </a:solidFill>
          </a:ln>
        </p:spPr>
      </p:cxnSp>
      <p:cxnSp>
        <p:nvCxnSpPr>
          <p:cNvPr id="15" name="선"/>
          <p:cNvCxnSpPr/>
          <p:nvPr/>
        </p:nvCxnSpPr>
        <p:spPr>
          <a:xfrm>
            <a:off x="7581900" y="4693920"/>
            <a:ext cx="0" cy="16764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16" name="선"/>
          <p:cNvCxnSpPr/>
          <p:nvPr/>
        </p:nvCxnSpPr>
        <p:spPr>
          <a:xfrm>
            <a:off x="7581900" y="5775960"/>
            <a:ext cx="0" cy="137160"/>
          </a:xfrm>
          <a:prstGeom prst="line">
            <a:avLst/>
          </a:prstGeom>
          <a:ln w="16764">
            <a:solidFill>
              <a:srgbClr val="2E9E6E"/>
            </a:solidFill>
            <a:prstDash val="dash"/>
          </a:ln>
        </p:spPr>
      </p:cxnSp>
      <p:cxnSp>
        <p:nvCxnSpPr>
          <p:cNvPr id="17" name="선"/>
          <p:cNvCxnSpPr/>
          <p:nvPr/>
        </p:nvCxnSpPr>
        <p:spPr>
          <a:xfrm>
            <a:off x="7581900" y="5913120"/>
            <a:ext cx="368046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</a:ln>
        </p:spPr>
      </p:cxnSp>
      <p:cxnSp>
        <p:nvCxnSpPr>
          <p:cNvPr id="18" name="선"/>
          <p:cNvCxnSpPr/>
          <p:nvPr/>
        </p:nvCxnSpPr>
        <p:spPr>
          <a:xfrm flipV="1">
            <a:off x="11262360" y="5715000"/>
            <a:ext cx="0" cy="19812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19" name="블록 원천 준비"/>
          <p:cNvSpPr/>
          <p:nvPr/>
        </p:nvSpPr>
        <p:spPr>
          <a:xfrm>
            <a:off x="487680" y="1630680"/>
            <a:ext cx="1447800" cy="88392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447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원천 준비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CDC · 스냅숏 격리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읽기 전용 로그인</a:t>
            </a:r>
          </a:p>
        </p:txBody>
      </p:sp>
      <p:sp>
        <p:nvSpPr>
          <p:cNvPr id="20" name="블록 대상 준비"/>
          <p:cNvSpPr/>
          <p:nvPr/>
        </p:nvSpPr>
        <p:spPr>
          <a:xfrm>
            <a:off x="2057400" y="1630680"/>
            <a:ext cx="1417320" cy="88392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447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대상 준비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DB · kdms_app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앱 역할 · 시간대</a:t>
            </a:r>
          </a:p>
        </p:txBody>
      </p:sp>
      <p:sp>
        <p:nvSpPr>
          <p:cNvPr id="21" name="블록 캡처 Job 다시 시작"/>
          <p:cNvSpPr/>
          <p:nvPr/>
        </p:nvSpPr>
        <p:spPr>
          <a:xfrm>
            <a:off x="3733800" y="1630680"/>
            <a:ext cx="1676400" cy="883920"/>
          </a:xfrm>
          <a:prstGeom prst="roundRect">
            <a:avLst>
              <a:gd name="adj" fmla="val 10344"/>
            </a:avLst>
          </a:prstGeom>
          <a:solidFill>
            <a:srgbClr val="D5EFE2"/>
          </a:solidFill>
          <a:ln w="16764">
            <a:solidFill>
              <a:srgbClr val="1E6B4F"/>
            </a:solidFill>
          </a:ln>
        </p:spPr>
        <p:txBody>
          <a:bodyPr rtlCol="0" anchor="t" lIns="45720" tIns="22860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캡처 Job 다시 시작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경고가 뜰 때만</a:t>
            </a:r>
          </a:p>
        </p:txBody>
      </p:sp>
      <p:sp>
        <p:nvSpPr>
          <p:cNvPr id="22" name="블록 객체·권한 배포"/>
          <p:cNvSpPr/>
          <p:nvPr/>
        </p:nvSpPr>
        <p:spPr>
          <a:xfrm>
            <a:off x="8610600" y="1630680"/>
            <a:ext cx="1295400" cy="88392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22860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객체·권한 배포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트리거·뷰·SP</a:t>
            </a:r>
          </a:p>
        </p:txBody>
      </p:sp>
      <p:sp>
        <p:nvSpPr>
          <p:cNvPr id="23" name="번호 5"/>
          <p:cNvSpPr/>
          <p:nvPr/>
        </p:nvSpPr>
        <p:spPr>
          <a:xfrm>
            <a:off x="8663940" y="168402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4" name="블록 원천 정리"/>
          <p:cNvSpPr/>
          <p:nvPr/>
        </p:nvSpPr>
        <p:spPr>
          <a:xfrm>
            <a:off x="10744200" y="1630680"/>
            <a:ext cx="1036320" cy="88392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447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원천 정리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CDC 끄기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로그인 끄기</a:t>
            </a:r>
          </a:p>
        </p:txBody>
      </p:sp>
      <p:sp>
        <p:nvSpPr>
          <p:cNvPr id="25" name="블록 설정 · 접속 확인"/>
          <p:cNvSpPr/>
          <p:nvPr/>
        </p:nvSpPr>
        <p:spPr>
          <a:xfrm>
            <a:off x="487680" y="3261360"/>
            <a:ext cx="1447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600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설정 · 접속 확인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.env · kdms.yml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 status</a:t>
            </a:r>
          </a:p>
        </p:txBody>
      </p:sp>
      <p:sp>
        <p:nvSpPr>
          <p:cNvPr id="26" name="블록 계획 검토"/>
          <p:cNvSpPr/>
          <p:nvPr/>
        </p:nvSpPr>
        <p:spPr>
          <a:xfrm>
            <a:off x="2057400" y="326136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600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계획 검토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plan --scan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오류 0 까지</a:t>
            </a:r>
          </a:p>
        </p:txBody>
      </p:sp>
      <p:sp>
        <p:nvSpPr>
          <p:cNvPr id="27" name="블록 적재 · 동기화"/>
          <p:cNvSpPr/>
          <p:nvPr/>
        </p:nvSpPr>
        <p:spPr>
          <a:xfrm>
            <a:off x="3733800" y="3261360"/>
            <a:ext cx="167640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 w="18288">
            <a:solidFill>
              <a:srgbClr val="0B3D2E"/>
            </a:solidFill>
          </a:ln>
        </p:spPr>
        <p:txBody>
          <a:bodyPr rtlCol="0" anchor="t" lIns="45720" tIns="1600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 · 동기화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schema → sync → load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status · 웹으로 감시</a:t>
            </a:r>
          </a:p>
        </p:txBody>
      </p:sp>
      <p:sp>
        <p:nvSpPr>
          <p:cNvPr id="28" name="블록 sync 중지"/>
          <p:cNvSpPr/>
          <p:nvPr/>
        </p:nvSpPr>
        <p:spPr>
          <a:xfrm>
            <a:off x="5715000" y="326136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2438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sync 중지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Ctrl+C</a:t>
            </a:r>
          </a:p>
        </p:txBody>
      </p:sp>
      <p:sp>
        <p:nvSpPr>
          <p:cNvPr id="29" name="번호 2"/>
          <p:cNvSpPr/>
          <p:nvPr/>
        </p:nvSpPr>
        <p:spPr>
          <a:xfrm>
            <a:off x="5768340" y="331470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0" name="블록 cutover --yes"/>
          <p:cNvSpPr/>
          <p:nvPr/>
        </p:nvSpPr>
        <p:spPr>
          <a:xfrm>
            <a:off x="7010400" y="326136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 w="18288">
            <a:solidFill>
              <a:srgbClr val="0B3D2E"/>
            </a:solidFill>
          </a:ln>
        </p:spPr>
        <p:txBody>
          <a:bodyPr rtlCol="0" anchor="t" lIns="45720" tIns="2438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cutover --yes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kdms 가 재는 시간</a:t>
            </a:r>
          </a:p>
        </p:txBody>
      </p:sp>
      <p:sp>
        <p:nvSpPr>
          <p:cNvPr id="31" name="번호 3"/>
          <p:cNvSpPr/>
          <p:nvPr/>
        </p:nvSpPr>
        <p:spPr>
          <a:xfrm>
            <a:off x="7063740" y="3314700"/>
            <a:ext cx="213360" cy="213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2" name="블록 check --probe"/>
          <p:cNvSpPr/>
          <p:nvPr/>
        </p:nvSpPr>
        <p:spPr>
          <a:xfrm>
            <a:off x="8610600" y="3261360"/>
            <a:ext cx="1295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2438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check --probe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실패 0</a:t>
            </a:r>
          </a:p>
        </p:txBody>
      </p:sp>
      <p:sp>
        <p:nvSpPr>
          <p:cNvPr id="33" name="번호 4"/>
          <p:cNvSpPr/>
          <p:nvPr/>
        </p:nvSpPr>
        <p:spPr>
          <a:xfrm>
            <a:off x="8663940" y="331470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4" name="블록 기록 보관"/>
          <p:cNvSpPr/>
          <p:nvPr/>
        </p:nvSpPr>
        <p:spPr>
          <a:xfrm>
            <a:off x="10744200" y="3261360"/>
            <a:ext cx="1036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600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기록 보관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출력 원문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.env 삭제</a:t>
            </a:r>
          </a:p>
        </p:txBody>
      </p:sp>
      <p:sp>
        <p:nvSpPr>
          <p:cNvPr id="35" name="블록 앱 쿼리 결정"/>
          <p:cNvSpPr/>
          <p:nvPr/>
        </p:nvSpPr>
        <p:spPr>
          <a:xfrm>
            <a:off x="2057400" y="4922520"/>
            <a:ext cx="1417320" cy="7924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828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앱 쿼리 결정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plan 의 주의 항목</a:t>
            </a:r>
          </a:p>
        </p:txBody>
      </p:sp>
      <p:sp>
        <p:nvSpPr>
          <p:cNvPr id="36" name="블록 쓰기 중지"/>
          <p:cNvSpPr/>
          <p:nvPr/>
        </p:nvSpPr>
        <p:spPr>
          <a:xfrm>
            <a:off x="5715000" y="4922520"/>
            <a:ext cx="1143000" cy="7924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828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쓰기 중지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다운타임 시작</a:t>
            </a:r>
          </a:p>
        </p:txBody>
      </p:sp>
      <p:sp>
        <p:nvSpPr>
          <p:cNvPr id="37" name="번호 1"/>
          <p:cNvSpPr/>
          <p:nvPr/>
        </p:nvSpPr>
        <p:spPr>
          <a:xfrm>
            <a:off x="5768340" y="497586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8" name="판단 6. 계속?"/>
          <p:cNvSpPr/>
          <p:nvPr/>
        </p:nvSpPr>
        <p:spPr>
          <a:xfrm>
            <a:off x="6896100" y="4861560"/>
            <a:ext cx="1371600" cy="914400"/>
          </a:xfrm>
          <a:prstGeom prst="diamond">
            <a:avLst/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2438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6. 계속?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판단자</a:t>
            </a:r>
          </a:p>
        </p:txBody>
      </p:sp>
      <p:sp>
        <p:nvSpPr>
          <p:cNvPr id="39" name="블록 접속을 PG 로"/>
          <p:cNvSpPr/>
          <p:nvPr/>
        </p:nvSpPr>
        <p:spPr>
          <a:xfrm>
            <a:off x="8610600" y="4922520"/>
            <a:ext cx="1295400" cy="792480"/>
          </a:xfrm>
          <a:prstGeom prst="roundRect">
            <a:avLst>
              <a:gd name="adj" fmla="val 11538"/>
            </a:avLst>
          </a:prstGeom>
          <a:solidFill>
            <a:srgbClr val="0B3D2E"/>
          </a:solidFill>
          <a:ln w="18288">
            <a:solidFill>
              <a:srgbClr val="0B3D2E"/>
            </a:solidFill>
          </a:ln>
        </p:spPr>
        <p:txBody>
          <a:bodyPr rtlCol="0" anchor="t" lIns="45720" tIns="1828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접속을 PG 로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다운타임 끝</a:t>
            </a:r>
          </a:p>
        </p:txBody>
      </p:sp>
      <p:sp>
        <p:nvSpPr>
          <p:cNvPr id="40" name="번호 7"/>
          <p:cNvSpPr/>
          <p:nvPr/>
        </p:nvSpPr>
        <p:spPr>
          <a:xfrm>
            <a:off x="8663940" y="4975860"/>
            <a:ext cx="213360" cy="213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1" name="블록 되돌리기"/>
          <p:cNvSpPr/>
          <p:nvPr/>
        </p:nvSpPr>
        <p:spPr>
          <a:xfrm>
            <a:off x="10744200" y="4922520"/>
            <a:ext cx="1036320" cy="792480"/>
          </a:xfrm>
          <a:prstGeom prst="roundRect">
            <a:avLst>
              <a:gd name="adj" fmla="val 11538"/>
            </a:avLst>
          </a:prstGeom>
          <a:solidFill>
            <a:srgbClr val="D5EFE2"/>
          </a:solidFill>
          <a:ln w="16764">
            <a:solidFill>
              <a:srgbClr val="1E6B4F"/>
            </a:solidFill>
          </a:ln>
        </p:spPr>
        <p:txBody>
          <a:bodyPr rtlCol="0" anchor="t" lIns="45720" tIns="1828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되돌리기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§8 · 원천으로</a:t>
            </a:r>
          </a:p>
        </p:txBody>
      </p:sp>
      <p:cxnSp>
        <p:nvCxnSpPr>
          <p:cNvPr id="42" name="연결 d1→d2"/>
          <p:cNvCxnSpPr>
            <a:stCxn id="19" idx="3"/>
            <a:endCxn id="20" idx="1"/>
          </p:cNvCxnSpPr>
          <p:nvPr/>
        </p:nvCxnSpPr>
        <p:spPr>
          <a:xfrm>
            <a:off x="1935480" y="2072640"/>
            <a:ext cx="1219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43" name="연결 d2→m1"/>
          <p:cNvCxnSpPr>
            <a:stCxn id="20" idx="2"/>
            <a:endCxn id="25" idx="0"/>
          </p:cNvCxnSpPr>
          <p:nvPr/>
        </p:nvCxnSpPr>
        <p:spPr>
          <a:xfrm flipH="1">
            <a:off x="1211580" y="2514600"/>
            <a:ext cx="1554480" cy="746760"/>
          </a:xfrm>
          <a:prstGeom prst="bentConnector3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44" name="연결 m1→m2"/>
          <p:cNvCxnSpPr>
            <a:stCxn id="25" idx="3"/>
            <a:endCxn id="26" idx="1"/>
          </p:cNvCxnSpPr>
          <p:nvPr/>
        </p:nvCxnSpPr>
        <p:spPr>
          <a:xfrm>
            <a:off x="1935480" y="3718560"/>
            <a:ext cx="1219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45" name="연결 m2→m3"/>
          <p:cNvCxnSpPr>
            <a:stCxn id="26" idx="3"/>
            <a:endCxn id="27" idx="1"/>
          </p:cNvCxnSpPr>
          <p:nvPr/>
        </p:nvCxnSpPr>
        <p:spPr>
          <a:xfrm>
            <a:off x="3474720" y="3718560"/>
            <a:ext cx="25908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46" name="연결 m2→a0"/>
          <p:cNvCxnSpPr>
            <a:stCxn id="26" idx="2"/>
            <a:endCxn id="35" idx="0"/>
          </p:cNvCxnSpPr>
          <p:nvPr/>
        </p:nvCxnSpPr>
        <p:spPr>
          <a:xfrm>
            <a:off x="2766060" y="4175760"/>
            <a:ext cx="0" cy="74676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47" name="라벨 주의 항목"/>
          <p:cNvSpPr txBox="1"/>
          <p:nvPr/>
        </p:nvSpPr>
        <p:spPr>
          <a:xfrm>
            <a:off x="2811780" y="4453890"/>
            <a:ext cx="680847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주의 항목</a:t>
            </a:r>
          </a:p>
        </p:txBody>
      </p:sp>
      <p:cxnSp>
        <p:nvCxnSpPr>
          <p:cNvPr id="48" name="연결 m3→d3"/>
          <p:cNvCxnSpPr>
            <a:stCxn id="27" idx="0"/>
            <a:endCxn id="21" idx="2"/>
          </p:cNvCxnSpPr>
          <p:nvPr/>
        </p:nvCxnSpPr>
        <p:spPr>
          <a:xfrm flipV="1">
            <a:off x="4572000" y="2514600"/>
            <a:ext cx="0" cy="74676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49" name="라벨 멈춤 경고"/>
          <p:cNvSpPr txBox="1"/>
          <p:nvPr/>
        </p:nvSpPr>
        <p:spPr>
          <a:xfrm>
            <a:off x="4617720" y="2792730"/>
            <a:ext cx="680847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멈춤 경고</a:t>
            </a:r>
          </a:p>
        </p:txBody>
      </p:sp>
      <p:cxnSp>
        <p:nvCxnSpPr>
          <p:cNvPr id="50" name="연결 m3→a1"/>
          <p:cNvCxnSpPr>
            <a:stCxn id="27" idx="2"/>
          </p:cNvCxnSpPr>
          <p:nvPr/>
        </p:nvCxnSpPr>
        <p:spPr>
          <a:xfrm>
            <a:off x="4572000" y="4175760"/>
            <a:ext cx="1409700" cy="746760"/>
          </a:xfrm>
          <a:prstGeom prst="bentConnector3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51" name="라벨 전환 날"/>
          <p:cNvSpPr txBox="1"/>
          <p:nvPr/>
        </p:nvSpPr>
        <p:spPr>
          <a:xfrm>
            <a:off x="4719256" y="4328160"/>
            <a:ext cx="551307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전환 날</a:t>
            </a:r>
          </a:p>
        </p:txBody>
      </p:sp>
      <p:cxnSp>
        <p:nvCxnSpPr>
          <p:cNvPr id="52" name="연결 a1→m_2"/>
          <p:cNvCxnSpPr>
            <a:stCxn id="36" idx="0"/>
            <a:endCxn id="28" idx="2"/>
          </p:cNvCxnSpPr>
          <p:nvPr/>
        </p:nvCxnSpPr>
        <p:spPr>
          <a:xfrm flipV="1">
            <a:off x="6286500" y="4175760"/>
            <a:ext cx="0" cy="74676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3" name="연결 m_2→m_3"/>
          <p:cNvCxnSpPr>
            <a:stCxn id="28" idx="3"/>
            <a:endCxn id="30" idx="1"/>
          </p:cNvCxnSpPr>
          <p:nvPr/>
        </p:nvCxnSpPr>
        <p:spPr>
          <a:xfrm>
            <a:off x="6858000" y="3718560"/>
            <a:ext cx="1524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4" name="연결 m_3→m_4"/>
          <p:cNvCxnSpPr>
            <a:stCxn id="30" idx="3"/>
            <a:endCxn id="32" idx="1"/>
          </p:cNvCxnSpPr>
          <p:nvPr/>
        </p:nvCxnSpPr>
        <p:spPr>
          <a:xfrm>
            <a:off x="8382000" y="3718560"/>
            <a:ext cx="2286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5" name="연결 m_4→d5"/>
          <p:cNvCxnSpPr>
            <a:stCxn id="32" idx="0"/>
            <a:endCxn id="22" idx="2"/>
          </p:cNvCxnSpPr>
          <p:nvPr/>
        </p:nvCxnSpPr>
        <p:spPr>
          <a:xfrm flipV="1">
            <a:off x="9258300" y="2514600"/>
            <a:ext cx="0" cy="74676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56" name="연결 go→a7"/>
          <p:cNvCxnSpPr>
            <a:stCxn id="38" idx="3"/>
            <a:endCxn id="39" idx="1"/>
          </p:cNvCxnSpPr>
          <p:nvPr/>
        </p:nvCxnSpPr>
        <p:spPr>
          <a:xfrm>
            <a:off x="8267700" y="5318760"/>
            <a:ext cx="3429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57" name="라벨 예"/>
          <p:cNvSpPr txBox="1"/>
          <p:nvPr/>
        </p:nvSpPr>
        <p:spPr>
          <a:xfrm>
            <a:off x="8328660" y="5097780"/>
            <a:ext cx="22098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cxnSp>
        <p:nvCxnSpPr>
          <p:cNvPr id="58" name="연결 d9→m9"/>
          <p:cNvCxnSpPr>
            <a:stCxn id="24" idx="2"/>
            <a:endCxn id="34" idx="0"/>
          </p:cNvCxnSpPr>
          <p:nvPr/>
        </p:nvCxnSpPr>
        <p:spPr>
          <a:xfrm>
            <a:off x="11262360" y="2514600"/>
            <a:ext cx="0" cy="74676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59" name="글"/>
          <p:cNvSpPr txBox="1"/>
          <p:nvPr/>
        </p:nvSpPr>
        <p:spPr>
          <a:xfrm>
            <a:off x="1201674" y="990600"/>
            <a:ext cx="1513332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D-n 준비 (§2 ~ §4)</a:t>
            </a:r>
          </a:p>
        </p:txBody>
      </p:sp>
      <p:sp>
        <p:nvSpPr>
          <p:cNvPr id="60" name="글"/>
          <p:cNvSpPr txBox="1"/>
          <p:nvPr/>
        </p:nvSpPr>
        <p:spPr>
          <a:xfrm>
            <a:off x="3685032" y="990600"/>
            <a:ext cx="1773936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D-n 적재 · 동기화 (§5)</a:t>
            </a:r>
          </a:p>
        </p:txBody>
      </p:sp>
      <p:sp>
        <p:nvSpPr>
          <p:cNvPr id="61" name="글"/>
          <p:cNvSpPr txBox="1"/>
          <p:nvPr/>
        </p:nvSpPr>
        <p:spPr>
          <a:xfrm>
            <a:off x="7283196" y="990600"/>
            <a:ext cx="1664208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D-day 전환 (§6 ~ §8)</a:t>
            </a:r>
          </a:p>
        </p:txBody>
      </p:sp>
      <p:sp>
        <p:nvSpPr>
          <p:cNvPr id="62" name="글"/>
          <p:cNvSpPr txBox="1"/>
          <p:nvPr/>
        </p:nvSpPr>
        <p:spPr>
          <a:xfrm>
            <a:off x="10656570" y="990600"/>
            <a:ext cx="1211580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8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D+n 정리 (§10)</a:t>
            </a:r>
          </a:p>
        </p:txBody>
      </p:sp>
      <p:sp>
        <p:nvSpPr>
          <p:cNvPr id="63" name="글"/>
          <p:cNvSpPr txBox="1"/>
          <p:nvPr/>
        </p:nvSpPr>
        <p:spPr>
          <a:xfrm>
            <a:off x="9696450" y="570738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64" name="범례"/>
          <p:cNvSpPr/>
          <p:nvPr/>
        </p:nvSpPr>
        <p:spPr>
          <a:xfrm>
            <a:off x="381000" y="6309360"/>
            <a:ext cx="4352163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9D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66" name="범례 다음 순서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67" name="범례 글 다음 순서"/>
          <p:cNvSpPr txBox="1"/>
          <p:nvPr/>
        </p:nvSpPr>
        <p:spPr>
          <a:xfrm>
            <a:off x="1341120" y="6309360"/>
            <a:ext cx="74180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다음 순서</a:t>
            </a:r>
          </a:p>
        </p:txBody>
      </p:sp>
      <p:cxnSp>
        <p:nvCxnSpPr>
          <p:cNvPr id="68" name="범례 넘겨 주는 것 · 경고 · 되돌리기"/>
          <p:cNvCxnSpPr/>
          <p:nvPr/>
        </p:nvCxnSpPr>
        <p:spPr>
          <a:xfrm>
            <a:off x="2159127" y="6507480"/>
            <a:ext cx="35052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69" name="범례 글 넘겨 주는 것 · 경고 · 되돌리기"/>
          <p:cNvSpPr txBox="1"/>
          <p:nvPr/>
        </p:nvSpPr>
        <p:spPr>
          <a:xfrm>
            <a:off x="2585847" y="6309360"/>
            <a:ext cx="2147316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넘겨 주는 것 · 경고 · 되돌리기</a:t>
            </a:r>
          </a:p>
        </p:txBody>
      </p:sp>
      <p:sp>
        <p:nvSpPr>
          <p:cNvPr id="70" name="설명"/>
          <p:cNvSpPr txBox="1"/>
          <p:nvPr/>
        </p:nvSpPr>
        <p:spPr>
          <a:xfrm>
            <a:off x="5301234" y="6347460"/>
            <a:ext cx="6509766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다운타임 = ① ~ ⑦ · kdms 가 재는 것은 ③ 뿐이므로 사람 작업(①·②·④·⑤·⑦) 시간을 리허설로 재 둔다</a:t>
            </a:r>
          </a:p>
        </p:txBody>
      </p:sp>
      <p:sp>
        <p:nvSpPr>
          <p:cNvPr id="71" name="설명"/>
          <p:cNvSpPr txBox="1"/>
          <p:nvPr/>
        </p:nvSpPr>
        <p:spPr>
          <a:xfrm>
            <a:off x="4944999" y="6537960"/>
            <a:ext cx="6866001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③ 종료 코드 4 거부 · 5 검증 불일치 · 6 반영 시간 초과 → 할 일은 runbook §7 표 · 그 밖의 증상은 §9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운영 매뉴얼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
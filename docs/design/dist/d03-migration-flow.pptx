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KDMS 이관 흐름도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워터마크 → 전체 적재 → 변경분 반영 → 쓰기 중지 → 마지막 반영 → 검증 → 전환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KDMS-D03 · v0.2 · 2026-10-09</a:t>
            </a:r>
          </a:p>
        </p:txBody>
      </p:sp>
      <p:sp>
        <p:nvSpPr>
          <p:cNvPr id="6" name="영역 온라인 구간"/>
          <p:cNvSpPr/>
          <p:nvPr/>
        </p:nvSpPr>
        <p:spPr>
          <a:xfrm>
            <a:off x="335280" y="960120"/>
            <a:ext cx="11521440" cy="1554480"/>
          </a:xfrm>
          <a:prstGeom prst="roundRect">
            <a:avLst>
              <a:gd name="adj" fmla="val 8823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온라인 구간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업무 쓰기는 계속된다 · 그 변경은 CDC 로 따라간다</a:t>
            </a:r>
          </a:p>
        </p:txBody>
      </p:sp>
      <p:sp>
        <p:nvSpPr>
          <p:cNvPr id="7" name="영역 다운타임 구간"/>
          <p:cNvSpPr/>
          <p:nvPr/>
        </p:nvSpPr>
        <p:spPr>
          <a:xfrm>
            <a:off x="335280" y="2636520"/>
            <a:ext cx="11521440" cy="2209800"/>
          </a:xfrm>
          <a:prstGeom prst="roundRect">
            <a:avLst>
              <a:gd name="adj" fmla="val 6206"/>
            </a:avLst>
          </a:prstGeom>
          <a:solidFill>
            <a:srgbClr val="EEF6FD"/>
          </a:solidFill>
          <a:ln w="15240">
            <a:solidFill>
              <a:srgbClr val="1F4E8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다운타임 구간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쓰기를 멈춘 뒤 · 실제 다운타임 = 4 ~ 7 (kdms 가 재는 것은 cutover 시작 ~ 끝)</a:t>
            </a:r>
          </a:p>
        </p:txBody>
      </p:sp>
      <p:sp>
        <p:nvSpPr>
          <p:cNvPr id="8" name="영역 작업 상태 (kdms.job)"/>
          <p:cNvSpPr/>
          <p:nvPr/>
        </p:nvSpPr>
        <p:spPr>
          <a:xfrm>
            <a:off x="335280" y="4968240"/>
            <a:ext cx="11521440" cy="1219200"/>
          </a:xfrm>
          <a:prstGeom prst="roundRect">
            <a:avLst>
              <a:gd name="adj" fmla="val 11250"/>
            </a:avLst>
          </a:prstGeom>
          <a:solidFill>
            <a:srgbClr val="EEF6FD"/>
          </a:solidFill>
          <a:ln w="10668">
            <a:solidFill>
              <a:srgbClr val="8EC3EC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작업 상태 (kdms.job)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어느 단계에서 멈춰도 다시 실행하면 이어서 진행 · 실패는 FAILED 와 원인(last_error)으로 남는다</a:t>
            </a:r>
          </a:p>
        </p:txBody>
      </p:sp>
      <p:sp>
        <p:nvSpPr>
          <p:cNvPr id="9" name="블록 이관 시작"/>
          <p:cNvSpPr/>
          <p:nvPr/>
        </p:nvSpPr>
        <p:spPr>
          <a:xfrm>
            <a:off x="563880" y="1813560"/>
            <a:ext cx="1295400" cy="33528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5240">
            <a:solidFill>
              <a:srgbClr val="0B2545"/>
            </a:solidFill>
          </a:ln>
        </p:spPr>
        <p:txBody>
          <a:bodyPr rtlCol="0" anchor="ctr" lIns="335661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이관 시작</a:t>
            </a:r>
          </a:p>
        </p:txBody>
      </p:sp>
      <p:sp>
        <p:nvSpPr>
          <p:cNvPr id="10" name="블록 워터마크 기록"/>
          <p:cNvSpPr/>
          <p:nvPr/>
        </p:nvSpPr>
        <p:spPr>
          <a:xfrm>
            <a:off x="23622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워터마크 기록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시작 LSN 저장</a:t>
            </a:r>
          </a:p>
        </p:txBody>
      </p:sp>
      <p:sp>
        <p:nvSpPr>
          <p:cNvPr id="11" name="아이콘 bookmark_flag"/>
          <p:cNvSpPr/>
          <p:nvPr/>
        </p:nvSpPr>
        <p:spPr>
          <a:xfrm>
            <a:off x="3187700" y="1644332"/>
            <a:ext cx="177800" cy="230188"/>
          </a:xfrm>
          <a:custGeom>
            <a:avLst/>
            <a:gdLst/>
            <a:ahLst/>
            <a:cxnLst/>
            <a:rect l="l" t="t" r="r" b="b"/>
            <a:pathLst>
              <a:path w="177800" h="230188">
                <a:moveTo>
                  <a:pt x="58738" y="139700"/>
                </a:moveTo>
                <a:lnTo>
                  <a:pt x="74612" y="139700"/>
                </a:lnTo>
                <a:lnTo>
                  <a:pt x="74612" y="101600"/>
                </a:lnTo>
                <a:lnTo>
                  <a:pt x="130175" y="101600"/>
                </a:lnTo>
                <a:lnTo>
                  <a:pt x="112316" y="77788"/>
                </a:lnTo>
                <a:lnTo>
                  <a:pt x="130175" y="53976"/>
                </a:lnTo>
                <a:lnTo>
                  <a:pt x="58738" y="53976"/>
                </a:lnTo>
                <a:lnTo>
                  <a:pt x="58738" y="139700"/>
                </a:lnTo>
                <a:close/>
                <a:moveTo>
                  <a:pt x="0" y="230188"/>
                </a:moveTo>
                <a:lnTo>
                  <a:pt x="0" y="19050"/>
                </a:lnTo>
                <a:lnTo>
                  <a:pt x="40" y="17794"/>
                </a:lnTo>
                <a:lnTo>
                  <a:pt x="159" y="16563"/>
                </a:lnTo>
                <a:lnTo>
                  <a:pt x="357" y="15360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7"/>
                </a:lnTo>
                <a:lnTo>
                  <a:pt x="1945" y="10809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6"/>
                </a:lnTo>
                <a:lnTo>
                  <a:pt x="6681" y="4803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3"/>
                </a:lnTo>
                <a:lnTo>
                  <a:pt x="14182" y="636"/>
                </a:lnTo>
                <a:lnTo>
                  <a:pt x="15359" y="358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158750" y="0"/>
                </a:lnTo>
                <a:lnTo>
                  <a:pt x="160007" y="40"/>
                </a:lnTo>
                <a:lnTo>
                  <a:pt x="161237" y="159"/>
                </a:lnTo>
                <a:lnTo>
                  <a:pt x="162441" y="358"/>
                </a:lnTo>
                <a:lnTo>
                  <a:pt x="163618" y="636"/>
                </a:lnTo>
                <a:lnTo>
                  <a:pt x="164769" y="993"/>
                </a:lnTo>
                <a:lnTo>
                  <a:pt x="165894" y="1429"/>
                </a:lnTo>
                <a:lnTo>
                  <a:pt x="166992" y="1945"/>
                </a:lnTo>
                <a:lnTo>
                  <a:pt x="168063" y="2540"/>
                </a:lnTo>
                <a:lnTo>
                  <a:pt x="169108" y="3215"/>
                </a:lnTo>
                <a:lnTo>
                  <a:pt x="170127" y="3969"/>
                </a:lnTo>
                <a:lnTo>
                  <a:pt x="171119" y="4803"/>
                </a:lnTo>
                <a:lnTo>
                  <a:pt x="172085" y="5716"/>
                </a:lnTo>
                <a:lnTo>
                  <a:pt x="172998" y="6681"/>
                </a:lnTo>
                <a:lnTo>
                  <a:pt x="173831" y="7673"/>
                </a:lnTo>
                <a:lnTo>
                  <a:pt x="174585" y="8692"/>
                </a:lnTo>
                <a:lnTo>
                  <a:pt x="175260" y="9737"/>
                </a:lnTo>
                <a:lnTo>
                  <a:pt x="175855" y="10809"/>
                </a:lnTo>
                <a:lnTo>
                  <a:pt x="176371" y="11907"/>
                </a:lnTo>
                <a:lnTo>
                  <a:pt x="176808" y="13031"/>
                </a:lnTo>
                <a:lnTo>
                  <a:pt x="177165" y="14182"/>
                </a:lnTo>
                <a:lnTo>
                  <a:pt x="177443" y="15360"/>
                </a:lnTo>
                <a:lnTo>
                  <a:pt x="177641" y="16563"/>
                </a:lnTo>
                <a:lnTo>
                  <a:pt x="177760" y="17794"/>
                </a:lnTo>
                <a:lnTo>
                  <a:pt x="177800" y="19050"/>
                </a:lnTo>
                <a:lnTo>
                  <a:pt x="177800" y="230188"/>
                </a:lnTo>
                <a:lnTo>
                  <a:pt x="88900" y="192088"/>
                </a:lnTo>
                <a:lnTo>
                  <a:pt x="0" y="230188"/>
                </a:lnTo>
                <a:close/>
                <a:moveTo>
                  <a:pt x="19050" y="201296"/>
                </a:moveTo>
                <a:lnTo>
                  <a:pt x="88900" y="171768"/>
                </a:lnTo>
                <a:lnTo>
                  <a:pt x="158750" y="201296"/>
                </a:lnTo>
                <a:lnTo>
                  <a:pt x="158750" y="19050"/>
                </a:lnTo>
                <a:lnTo>
                  <a:pt x="19050" y="19050"/>
                </a:lnTo>
                <a:lnTo>
                  <a:pt x="19050" y="201296"/>
                </a:lnTo>
                <a:close/>
                <a:moveTo>
                  <a:pt x="19050" y="19050"/>
                </a:moveTo>
                <a:lnTo>
                  <a:pt x="158750" y="19050"/>
                </a:lnTo>
                <a:lnTo>
                  <a:pt x="19050" y="190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2415540" y="162306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3" name="블록 전체 적재"/>
          <p:cNvSpPr/>
          <p:nvPr/>
        </p:nvSpPr>
        <p:spPr>
          <a:xfrm>
            <a:off x="47244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전체 적재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SNAPSHOT · COPY 병렬</a:t>
            </a:r>
          </a:p>
        </p:txBody>
      </p:sp>
      <p:sp>
        <p:nvSpPr>
          <p:cNvPr id="14" name="아이콘 database_upload"/>
          <p:cNvSpPr/>
          <p:nvPr/>
        </p:nvSpPr>
        <p:spPr>
          <a:xfrm>
            <a:off x="5524500" y="164592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2"/>
          <p:cNvSpPr/>
          <p:nvPr/>
        </p:nvSpPr>
        <p:spPr>
          <a:xfrm>
            <a:off x="4777740" y="162306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블록 변경분 반영"/>
          <p:cNvSpPr/>
          <p:nvPr/>
        </p:nvSpPr>
        <p:spPr>
          <a:xfrm>
            <a:off x="7086600" y="1569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2545"/>
          </a:solidFill>
          <a:ln w="18288">
            <a:solidFill>
              <a:srgbClr val="0B2545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변경분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change_log 멱등 반영</a:t>
            </a:r>
          </a:p>
        </p:txBody>
      </p:sp>
      <p:sp>
        <p:nvSpPr>
          <p:cNvPr id="17" name="아이콘 sync"/>
          <p:cNvSpPr/>
          <p:nvPr/>
        </p:nvSpPr>
        <p:spPr>
          <a:xfrm>
            <a:off x="7899400" y="165862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3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7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3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7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7139940" y="162306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연결점 A"/>
          <p:cNvSpPr/>
          <p:nvPr/>
        </p:nvSpPr>
        <p:spPr>
          <a:xfrm>
            <a:off x="9525000" y="181356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F4E8C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0" name="연결점 A"/>
          <p:cNvSpPr/>
          <p:nvPr/>
        </p:nvSpPr>
        <p:spPr>
          <a:xfrm>
            <a:off x="563880" y="34747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F4E8C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1" name="블록 원천 쓰기 중지"/>
          <p:cNvSpPr/>
          <p:nvPr/>
        </p:nvSpPr>
        <p:spPr>
          <a:xfrm>
            <a:off x="12954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원천 쓰기 중지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사람이 업무를 멈춘다</a:t>
            </a:r>
          </a:p>
        </p:txBody>
      </p:sp>
      <p:sp>
        <p:nvSpPr>
          <p:cNvPr id="22" name="아이콘 pause_circle"/>
          <p:cNvSpPr/>
          <p:nvPr/>
        </p:nvSpPr>
        <p:spPr>
          <a:xfrm>
            <a:off x="2082800" y="32943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2075" y="177800"/>
                </a:moveTo>
                <a:lnTo>
                  <a:pt x="111125" y="177800"/>
                </a:lnTo>
                <a:lnTo>
                  <a:pt x="111125" y="76200"/>
                </a:lnTo>
                <a:lnTo>
                  <a:pt x="92075" y="76200"/>
                </a:lnTo>
                <a:lnTo>
                  <a:pt x="92075" y="177800"/>
                </a:lnTo>
                <a:close/>
                <a:moveTo>
                  <a:pt x="142875" y="177800"/>
                </a:moveTo>
                <a:lnTo>
                  <a:pt x="161925" y="177800"/>
                </a:lnTo>
                <a:lnTo>
                  <a:pt x="161925" y="76200"/>
                </a:lnTo>
                <a:lnTo>
                  <a:pt x="142875" y="76200"/>
                </a:lnTo>
                <a:lnTo>
                  <a:pt x="142875" y="177800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30"/>
                </a:lnTo>
                <a:lnTo>
                  <a:pt x="278" y="118304"/>
                </a:lnTo>
                <a:lnTo>
                  <a:pt x="625" y="114022"/>
                </a:lnTo>
                <a:lnTo>
                  <a:pt x="1111" y="109784"/>
                </a:lnTo>
                <a:lnTo>
                  <a:pt x="1736" y="105591"/>
                </a:lnTo>
                <a:lnTo>
                  <a:pt x="2500" y="101441"/>
                </a:lnTo>
                <a:lnTo>
                  <a:pt x="3403" y="97336"/>
                </a:lnTo>
                <a:lnTo>
                  <a:pt x="4445" y="93274"/>
                </a:lnTo>
                <a:lnTo>
                  <a:pt x="5626" y="89257"/>
                </a:lnTo>
                <a:lnTo>
                  <a:pt x="6945" y="85284"/>
                </a:lnTo>
                <a:lnTo>
                  <a:pt x="8404" y="81355"/>
                </a:lnTo>
                <a:lnTo>
                  <a:pt x="10001" y="77470"/>
                </a:lnTo>
                <a:lnTo>
                  <a:pt x="11719" y="73649"/>
                </a:lnTo>
                <a:lnTo>
                  <a:pt x="13538" y="69912"/>
                </a:lnTo>
                <a:lnTo>
                  <a:pt x="15458" y="66258"/>
                </a:lnTo>
                <a:lnTo>
                  <a:pt x="17480" y="62689"/>
                </a:lnTo>
                <a:lnTo>
                  <a:pt x="19603" y="59203"/>
                </a:lnTo>
                <a:lnTo>
                  <a:pt x="21828" y="55801"/>
                </a:lnTo>
                <a:lnTo>
                  <a:pt x="24154" y="52482"/>
                </a:lnTo>
                <a:lnTo>
                  <a:pt x="26582" y="49248"/>
                </a:lnTo>
                <a:lnTo>
                  <a:pt x="29111" y="46097"/>
                </a:lnTo>
                <a:lnTo>
                  <a:pt x="31741" y="43030"/>
                </a:lnTo>
                <a:lnTo>
                  <a:pt x="34473" y="40047"/>
                </a:lnTo>
                <a:lnTo>
                  <a:pt x="37306" y="37148"/>
                </a:lnTo>
                <a:lnTo>
                  <a:pt x="40231" y="34340"/>
                </a:lnTo>
                <a:lnTo>
                  <a:pt x="43237" y="31631"/>
                </a:lnTo>
                <a:lnTo>
                  <a:pt x="46325" y="29021"/>
                </a:lnTo>
                <a:lnTo>
                  <a:pt x="49495" y="26511"/>
                </a:lnTo>
                <a:lnTo>
                  <a:pt x="52746" y="24100"/>
                </a:lnTo>
                <a:lnTo>
                  <a:pt x="56078" y="21788"/>
                </a:lnTo>
                <a:lnTo>
                  <a:pt x="59493" y="19576"/>
                </a:lnTo>
                <a:lnTo>
                  <a:pt x="62988" y="17462"/>
                </a:lnTo>
                <a:lnTo>
                  <a:pt x="66566" y="15448"/>
                </a:lnTo>
                <a:lnTo>
                  <a:pt x="70225" y="13533"/>
                </a:lnTo>
                <a:lnTo>
                  <a:pt x="73965" y="11718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70" y="69"/>
                </a:lnTo>
                <a:lnTo>
                  <a:pt x="135696" y="278"/>
                </a:lnTo>
                <a:lnTo>
                  <a:pt x="139978" y="625"/>
                </a:lnTo>
                <a:lnTo>
                  <a:pt x="144216" y="1111"/>
                </a:lnTo>
                <a:lnTo>
                  <a:pt x="148409" y="1736"/>
                </a:lnTo>
                <a:lnTo>
                  <a:pt x="152559" y="2500"/>
                </a:lnTo>
                <a:lnTo>
                  <a:pt x="156664" y="3403"/>
                </a:lnTo>
                <a:lnTo>
                  <a:pt x="160726" y="4445"/>
                </a:lnTo>
                <a:lnTo>
                  <a:pt x="164743" y="5626"/>
                </a:lnTo>
                <a:lnTo>
                  <a:pt x="168716" y="6945"/>
                </a:lnTo>
                <a:lnTo>
                  <a:pt x="172645" y="8404"/>
                </a:lnTo>
                <a:lnTo>
                  <a:pt x="176530" y="10001"/>
                </a:lnTo>
                <a:lnTo>
                  <a:pt x="180351" y="11718"/>
                </a:lnTo>
                <a:lnTo>
                  <a:pt x="184088" y="13533"/>
                </a:lnTo>
                <a:lnTo>
                  <a:pt x="187742" y="15448"/>
                </a:lnTo>
                <a:lnTo>
                  <a:pt x="191311" y="17462"/>
                </a:lnTo>
                <a:lnTo>
                  <a:pt x="194797" y="19576"/>
                </a:lnTo>
                <a:lnTo>
                  <a:pt x="198199" y="21788"/>
                </a:lnTo>
                <a:lnTo>
                  <a:pt x="201518" y="24100"/>
                </a:lnTo>
                <a:lnTo>
                  <a:pt x="204752" y="26511"/>
                </a:lnTo>
                <a:lnTo>
                  <a:pt x="207903" y="29021"/>
                </a:lnTo>
                <a:lnTo>
                  <a:pt x="210970" y="31631"/>
                </a:lnTo>
                <a:lnTo>
                  <a:pt x="213953" y="34340"/>
                </a:lnTo>
                <a:lnTo>
                  <a:pt x="216852" y="37148"/>
                </a:lnTo>
                <a:lnTo>
                  <a:pt x="219660" y="40047"/>
                </a:lnTo>
                <a:lnTo>
                  <a:pt x="222369" y="43030"/>
                </a:lnTo>
                <a:lnTo>
                  <a:pt x="224979" y="46097"/>
                </a:lnTo>
                <a:lnTo>
                  <a:pt x="227489" y="49248"/>
                </a:lnTo>
                <a:lnTo>
                  <a:pt x="229900" y="52482"/>
                </a:lnTo>
                <a:lnTo>
                  <a:pt x="232212" y="55801"/>
                </a:lnTo>
                <a:lnTo>
                  <a:pt x="234424" y="59203"/>
                </a:lnTo>
                <a:lnTo>
                  <a:pt x="236538" y="62689"/>
                </a:lnTo>
                <a:lnTo>
                  <a:pt x="238552" y="66258"/>
                </a:lnTo>
                <a:lnTo>
                  <a:pt x="240467" y="69912"/>
                </a:lnTo>
                <a:lnTo>
                  <a:pt x="242282" y="73649"/>
                </a:lnTo>
                <a:lnTo>
                  <a:pt x="243999" y="77470"/>
                </a:lnTo>
                <a:lnTo>
                  <a:pt x="245596" y="81355"/>
                </a:lnTo>
                <a:lnTo>
                  <a:pt x="247055" y="85284"/>
                </a:lnTo>
                <a:lnTo>
                  <a:pt x="248374" y="89257"/>
                </a:lnTo>
                <a:lnTo>
                  <a:pt x="249555" y="93274"/>
                </a:lnTo>
                <a:lnTo>
                  <a:pt x="250597" y="97336"/>
                </a:lnTo>
                <a:lnTo>
                  <a:pt x="251500" y="101441"/>
                </a:lnTo>
                <a:lnTo>
                  <a:pt x="252264" y="105591"/>
                </a:lnTo>
                <a:lnTo>
                  <a:pt x="252889" y="109784"/>
                </a:lnTo>
                <a:lnTo>
                  <a:pt x="253375" y="114022"/>
                </a:lnTo>
                <a:lnTo>
                  <a:pt x="253722" y="118304"/>
                </a:lnTo>
                <a:lnTo>
                  <a:pt x="253931" y="122630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2" y="180035"/>
                </a:lnTo>
                <a:lnTo>
                  <a:pt x="240467" y="183775"/>
                </a:lnTo>
                <a:lnTo>
                  <a:pt x="238552" y="187434"/>
                </a:lnTo>
                <a:lnTo>
                  <a:pt x="236538" y="191012"/>
                </a:lnTo>
                <a:lnTo>
                  <a:pt x="234424" y="194507"/>
                </a:lnTo>
                <a:lnTo>
                  <a:pt x="232212" y="197922"/>
                </a:lnTo>
                <a:lnTo>
                  <a:pt x="229900" y="201254"/>
                </a:lnTo>
                <a:lnTo>
                  <a:pt x="227489" y="204505"/>
                </a:lnTo>
                <a:lnTo>
                  <a:pt x="224979" y="207675"/>
                </a:lnTo>
                <a:lnTo>
                  <a:pt x="222369" y="210763"/>
                </a:lnTo>
                <a:lnTo>
                  <a:pt x="219660" y="213769"/>
                </a:lnTo>
                <a:lnTo>
                  <a:pt x="216852" y="216694"/>
                </a:lnTo>
                <a:lnTo>
                  <a:pt x="213953" y="219527"/>
                </a:lnTo>
                <a:lnTo>
                  <a:pt x="210970" y="222259"/>
                </a:lnTo>
                <a:lnTo>
                  <a:pt x="207903" y="224889"/>
                </a:lnTo>
                <a:lnTo>
                  <a:pt x="204752" y="227418"/>
                </a:lnTo>
                <a:lnTo>
                  <a:pt x="201518" y="229846"/>
                </a:lnTo>
                <a:lnTo>
                  <a:pt x="198199" y="232172"/>
                </a:lnTo>
                <a:lnTo>
                  <a:pt x="194797" y="234397"/>
                </a:lnTo>
                <a:lnTo>
                  <a:pt x="191311" y="236520"/>
                </a:lnTo>
                <a:lnTo>
                  <a:pt x="187742" y="238542"/>
                </a:lnTo>
                <a:lnTo>
                  <a:pt x="184088" y="240462"/>
                </a:lnTo>
                <a:lnTo>
                  <a:pt x="180351" y="242281"/>
                </a:lnTo>
                <a:lnTo>
                  <a:pt x="176530" y="243999"/>
                </a:lnTo>
                <a:lnTo>
                  <a:pt x="172645" y="245596"/>
                </a:lnTo>
                <a:lnTo>
                  <a:pt x="168716" y="247055"/>
                </a:lnTo>
                <a:lnTo>
                  <a:pt x="164743" y="248374"/>
                </a:lnTo>
                <a:lnTo>
                  <a:pt x="160726" y="249555"/>
                </a:lnTo>
                <a:lnTo>
                  <a:pt x="156664" y="250597"/>
                </a:lnTo>
                <a:lnTo>
                  <a:pt x="152559" y="251500"/>
                </a:lnTo>
                <a:lnTo>
                  <a:pt x="148409" y="252264"/>
                </a:lnTo>
                <a:lnTo>
                  <a:pt x="144216" y="252889"/>
                </a:lnTo>
                <a:lnTo>
                  <a:pt x="139978" y="253375"/>
                </a:lnTo>
                <a:lnTo>
                  <a:pt x="135696" y="253722"/>
                </a:lnTo>
                <a:lnTo>
                  <a:pt x="131370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419" y="234731"/>
                </a:lnTo>
                <a:lnTo>
                  <a:pt x="141649" y="234072"/>
                </a:lnTo>
                <a:lnTo>
                  <a:pt x="148689" y="232976"/>
                </a:lnTo>
                <a:lnTo>
                  <a:pt x="155540" y="231440"/>
                </a:lnTo>
                <a:lnTo>
                  <a:pt x="162201" y="229465"/>
                </a:lnTo>
                <a:lnTo>
                  <a:pt x="168672" y="227052"/>
                </a:lnTo>
                <a:lnTo>
                  <a:pt x="174954" y="224200"/>
                </a:lnTo>
                <a:lnTo>
                  <a:pt x="181046" y="220909"/>
                </a:lnTo>
                <a:lnTo>
                  <a:pt x="186948" y="217180"/>
                </a:lnTo>
                <a:lnTo>
                  <a:pt x="192661" y="213012"/>
                </a:lnTo>
                <a:lnTo>
                  <a:pt x="198184" y="208405"/>
                </a:lnTo>
                <a:lnTo>
                  <a:pt x="203518" y="203359"/>
                </a:lnTo>
                <a:lnTo>
                  <a:pt x="208538" y="198002"/>
                </a:lnTo>
                <a:lnTo>
                  <a:pt x="213122" y="192462"/>
                </a:lnTo>
                <a:lnTo>
                  <a:pt x="217269" y="186740"/>
                </a:lnTo>
                <a:lnTo>
                  <a:pt x="220980" y="180834"/>
                </a:lnTo>
                <a:lnTo>
                  <a:pt x="224254" y="174745"/>
                </a:lnTo>
                <a:lnTo>
                  <a:pt x="227092" y="168473"/>
                </a:lnTo>
                <a:lnTo>
                  <a:pt x="229493" y="162019"/>
                </a:lnTo>
                <a:lnTo>
                  <a:pt x="231458" y="155381"/>
                </a:lnTo>
                <a:lnTo>
                  <a:pt x="232985" y="148560"/>
                </a:lnTo>
                <a:lnTo>
                  <a:pt x="234077" y="141556"/>
                </a:lnTo>
                <a:lnTo>
                  <a:pt x="234732" y="134370"/>
                </a:lnTo>
                <a:lnTo>
                  <a:pt x="234950" y="127000"/>
                </a:lnTo>
                <a:lnTo>
                  <a:pt x="234732" y="119581"/>
                </a:lnTo>
                <a:lnTo>
                  <a:pt x="234077" y="112351"/>
                </a:lnTo>
                <a:lnTo>
                  <a:pt x="232985" y="105311"/>
                </a:lnTo>
                <a:lnTo>
                  <a:pt x="231458" y="98460"/>
                </a:lnTo>
                <a:lnTo>
                  <a:pt x="229493" y="91799"/>
                </a:lnTo>
                <a:lnTo>
                  <a:pt x="227092" y="85328"/>
                </a:lnTo>
                <a:lnTo>
                  <a:pt x="224254" y="79046"/>
                </a:lnTo>
                <a:lnTo>
                  <a:pt x="220980" y="72954"/>
                </a:lnTo>
                <a:lnTo>
                  <a:pt x="217269" y="67052"/>
                </a:lnTo>
                <a:lnTo>
                  <a:pt x="213122" y="61339"/>
                </a:lnTo>
                <a:lnTo>
                  <a:pt x="208538" y="55816"/>
                </a:lnTo>
                <a:lnTo>
                  <a:pt x="203518" y="50482"/>
                </a:lnTo>
                <a:lnTo>
                  <a:pt x="198184" y="45462"/>
                </a:lnTo>
                <a:lnTo>
                  <a:pt x="192661" y="40878"/>
                </a:lnTo>
                <a:lnTo>
                  <a:pt x="186948" y="36731"/>
                </a:lnTo>
                <a:lnTo>
                  <a:pt x="181046" y="33020"/>
                </a:lnTo>
                <a:lnTo>
                  <a:pt x="174954" y="29746"/>
                </a:lnTo>
                <a:lnTo>
                  <a:pt x="168672" y="26908"/>
                </a:lnTo>
                <a:lnTo>
                  <a:pt x="162201" y="24507"/>
                </a:lnTo>
                <a:lnTo>
                  <a:pt x="155540" y="22542"/>
                </a:lnTo>
                <a:lnTo>
                  <a:pt x="148689" y="21015"/>
                </a:lnTo>
                <a:lnTo>
                  <a:pt x="141649" y="19923"/>
                </a:lnTo>
                <a:lnTo>
                  <a:pt x="134419" y="19268"/>
                </a:lnTo>
                <a:lnTo>
                  <a:pt x="127000" y="19050"/>
                </a:lnTo>
                <a:lnTo>
                  <a:pt x="119630" y="19268"/>
                </a:lnTo>
                <a:lnTo>
                  <a:pt x="112444" y="19923"/>
                </a:lnTo>
                <a:lnTo>
                  <a:pt x="105440" y="21015"/>
                </a:lnTo>
                <a:lnTo>
                  <a:pt x="98619" y="22542"/>
                </a:lnTo>
                <a:lnTo>
                  <a:pt x="91981" y="24507"/>
                </a:lnTo>
                <a:lnTo>
                  <a:pt x="85527" y="26908"/>
                </a:lnTo>
                <a:lnTo>
                  <a:pt x="79255" y="29746"/>
                </a:lnTo>
                <a:lnTo>
                  <a:pt x="73166" y="33020"/>
                </a:lnTo>
                <a:lnTo>
                  <a:pt x="67260" y="36731"/>
                </a:lnTo>
                <a:lnTo>
                  <a:pt x="61538" y="40878"/>
                </a:lnTo>
                <a:lnTo>
                  <a:pt x="55998" y="45462"/>
                </a:lnTo>
                <a:lnTo>
                  <a:pt x="50641" y="50482"/>
                </a:lnTo>
                <a:lnTo>
                  <a:pt x="45595" y="55816"/>
                </a:lnTo>
                <a:lnTo>
                  <a:pt x="40988" y="61339"/>
                </a:lnTo>
                <a:lnTo>
                  <a:pt x="36820" y="67052"/>
                </a:lnTo>
                <a:lnTo>
                  <a:pt x="33091" y="72954"/>
                </a:lnTo>
                <a:lnTo>
                  <a:pt x="29800" y="79046"/>
                </a:lnTo>
                <a:lnTo>
                  <a:pt x="26948" y="85328"/>
                </a:lnTo>
                <a:lnTo>
                  <a:pt x="24535" y="91799"/>
                </a:lnTo>
                <a:lnTo>
                  <a:pt x="22560" y="98460"/>
                </a:lnTo>
                <a:lnTo>
                  <a:pt x="21024" y="105311"/>
                </a:lnTo>
                <a:lnTo>
                  <a:pt x="19928" y="112351"/>
                </a:lnTo>
                <a:lnTo>
                  <a:pt x="19269" y="119581"/>
                </a:lnTo>
                <a:lnTo>
                  <a:pt x="19050" y="127000"/>
                </a:lnTo>
                <a:lnTo>
                  <a:pt x="19269" y="134370"/>
                </a:lnTo>
                <a:lnTo>
                  <a:pt x="19928" y="141556"/>
                </a:lnTo>
                <a:lnTo>
                  <a:pt x="21024" y="148560"/>
                </a:lnTo>
                <a:lnTo>
                  <a:pt x="22560" y="155381"/>
                </a:lnTo>
                <a:lnTo>
                  <a:pt x="24535" y="162019"/>
                </a:lnTo>
                <a:lnTo>
                  <a:pt x="26948" y="168473"/>
                </a:lnTo>
                <a:lnTo>
                  <a:pt x="29800" y="174745"/>
                </a:lnTo>
                <a:lnTo>
                  <a:pt x="33091" y="180834"/>
                </a:lnTo>
                <a:lnTo>
                  <a:pt x="36820" y="186740"/>
                </a:lnTo>
                <a:lnTo>
                  <a:pt x="40988" y="192462"/>
                </a:lnTo>
                <a:lnTo>
                  <a:pt x="45595" y="198002"/>
                </a:lnTo>
                <a:lnTo>
                  <a:pt x="50641" y="203359"/>
                </a:lnTo>
                <a:lnTo>
                  <a:pt x="55998" y="208405"/>
                </a:lnTo>
                <a:lnTo>
                  <a:pt x="61538" y="213012"/>
                </a:lnTo>
                <a:lnTo>
                  <a:pt x="67260" y="217180"/>
                </a:lnTo>
                <a:lnTo>
                  <a:pt x="73166" y="220909"/>
                </a:lnTo>
                <a:lnTo>
                  <a:pt x="79255" y="224200"/>
                </a:lnTo>
                <a:lnTo>
                  <a:pt x="85527" y="227052"/>
                </a:lnTo>
                <a:lnTo>
                  <a:pt x="91981" y="229465"/>
                </a:lnTo>
                <a:lnTo>
                  <a:pt x="98619" y="231440"/>
                </a:lnTo>
                <a:lnTo>
                  <a:pt x="105440" y="232976"/>
                </a:lnTo>
                <a:lnTo>
                  <a:pt x="112444" y="234072"/>
                </a:lnTo>
                <a:lnTo>
                  <a:pt x="119630" y="234731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1348740" y="328422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4" name="블록 마지막 반영"/>
          <p:cNvSpPr/>
          <p:nvPr/>
        </p:nvSpPr>
        <p:spPr>
          <a:xfrm>
            <a:off x="35814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2545"/>
          </a:solidFill>
          <a:ln w="18288">
            <a:solidFill>
              <a:srgbClr val="0B2545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kdms cutover 시작</a:t>
            </a:r>
          </a:p>
        </p:txBody>
      </p:sp>
      <p:sp>
        <p:nvSpPr>
          <p:cNvPr id="25" name="아이콘 published_with_changes"/>
          <p:cNvSpPr/>
          <p:nvPr/>
        </p:nvSpPr>
        <p:spPr>
          <a:xfrm>
            <a:off x="4371975" y="329501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3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5"/>
          <p:cNvSpPr/>
          <p:nvPr/>
        </p:nvSpPr>
        <p:spPr>
          <a:xfrm>
            <a:off x="3634740" y="328422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판단 6. 검증 일치?"/>
          <p:cNvSpPr/>
          <p:nvPr/>
        </p:nvSpPr>
        <p:spPr>
          <a:xfrm>
            <a:off x="5867400" y="3185160"/>
            <a:ext cx="1905000" cy="914400"/>
          </a:xfrm>
          <a:prstGeom prst="diamond">
            <a:avLst/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2438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6. 검증 일치?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건수·합계·해시</a:t>
            </a:r>
          </a:p>
        </p:txBody>
      </p:sp>
      <p:sp>
        <p:nvSpPr>
          <p:cNvPr id="28" name="블록 전환"/>
          <p:cNvSpPr/>
          <p:nvPr/>
        </p:nvSpPr>
        <p:spPr>
          <a:xfrm>
            <a:off x="8229600" y="32308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전환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setval · FK 켜기</a:t>
            </a:r>
          </a:p>
        </p:txBody>
      </p:sp>
      <p:sp>
        <p:nvSpPr>
          <p:cNvPr id="29" name="아이콘 swap_horiz"/>
          <p:cNvSpPr/>
          <p:nvPr/>
        </p:nvSpPr>
        <p:spPr>
          <a:xfrm>
            <a:off x="9017000" y="33197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F4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7"/>
          <p:cNvSpPr/>
          <p:nvPr/>
        </p:nvSpPr>
        <p:spPr>
          <a:xfrm>
            <a:off x="8282940" y="3284220"/>
            <a:ext cx="213360" cy="213360"/>
          </a:xfrm>
          <a:prstGeom prst="ellipse">
            <a:avLst/>
          </a:prstGeom>
          <a:solidFill>
            <a:srgbClr val="1F4E8C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1" name="블록 완료 (DONE)"/>
          <p:cNvSpPr/>
          <p:nvPr/>
        </p:nvSpPr>
        <p:spPr>
          <a:xfrm>
            <a:off x="10515600" y="3474720"/>
            <a:ext cx="1143000" cy="33528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5240">
            <a:solidFill>
              <a:srgbClr val="0B2545"/>
            </a:solidFill>
          </a:ln>
        </p:spPr>
        <p:txBody>
          <a:bodyPr rtlCol="0" anchor="ctr" lIns="170307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완료 (DONE)</a:t>
            </a:r>
          </a:p>
        </p:txBody>
      </p:sp>
      <p:sp>
        <p:nvSpPr>
          <p:cNvPr id="32" name="블록 멈춤 (FAILED)"/>
          <p:cNvSpPr/>
          <p:nvPr/>
        </p:nvSpPr>
        <p:spPr>
          <a:xfrm>
            <a:off x="5867400" y="4328160"/>
            <a:ext cx="1905000" cy="441960"/>
          </a:xfrm>
          <a:prstGeom prst="roundRect">
            <a:avLst>
              <a:gd name="adj" fmla="val 20689"/>
            </a:avLst>
          </a:prstGeom>
          <a:solidFill>
            <a:srgbClr val="D3E5F8"/>
          </a:solidFill>
          <a:ln w="16764">
            <a:solidFill>
              <a:srgbClr val="1F4E8C"/>
            </a:solidFill>
          </a:ln>
        </p:spPr>
        <p:txBody>
          <a:bodyPr rtlCol="0" anchor="t" lIns="45720" tIns="7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멈춤 (FAILED)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setval · FK 안 함</a:t>
            </a:r>
          </a:p>
        </p:txBody>
      </p:sp>
      <p:sp>
        <p:nvSpPr>
          <p:cNvPr id="33" name="블록 PLANNED"/>
          <p:cNvSpPr/>
          <p:nvPr/>
        </p:nvSpPr>
        <p:spPr>
          <a:xfrm>
            <a:off x="53340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PLANNED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4" name="블록 SCHEMA_DONE"/>
          <p:cNvSpPr/>
          <p:nvPr/>
        </p:nvSpPr>
        <p:spPr>
          <a:xfrm>
            <a:off x="216408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SCHEMA_DONE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스키마 생성</a:t>
            </a:r>
          </a:p>
        </p:txBody>
      </p:sp>
      <p:sp>
        <p:nvSpPr>
          <p:cNvPr id="35" name="블록 LOADING"/>
          <p:cNvSpPr/>
          <p:nvPr/>
        </p:nvSpPr>
        <p:spPr>
          <a:xfrm>
            <a:off x="379476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LOADING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전체 적재 중</a:t>
            </a:r>
          </a:p>
        </p:txBody>
      </p:sp>
      <p:sp>
        <p:nvSpPr>
          <p:cNvPr id="36" name="블록 SYNCING"/>
          <p:cNvSpPr/>
          <p:nvPr/>
        </p:nvSpPr>
        <p:spPr>
          <a:xfrm>
            <a:off x="542544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SYNCING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변경분 반영 중</a:t>
            </a:r>
          </a:p>
        </p:txBody>
      </p:sp>
      <p:sp>
        <p:nvSpPr>
          <p:cNvPr id="37" name="블록 CUTOVER"/>
          <p:cNvSpPr/>
          <p:nvPr/>
        </p:nvSpPr>
        <p:spPr>
          <a:xfrm>
            <a:off x="705612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CUTOVER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중</a:t>
            </a:r>
          </a:p>
        </p:txBody>
      </p:sp>
      <p:sp>
        <p:nvSpPr>
          <p:cNvPr id="38" name="블록 VERIFIED"/>
          <p:cNvSpPr/>
          <p:nvPr/>
        </p:nvSpPr>
        <p:spPr>
          <a:xfrm>
            <a:off x="868680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VERIFIED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검증 일치</a:t>
            </a:r>
          </a:p>
        </p:txBody>
      </p:sp>
      <p:sp>
        <p:nvSpPr>
          <p:cNvPr id="39" name="블록 DONE"/>
          <p:cNvSpPr/>
          <p:nvPr/>
        </p:nvSpPr>
        <p:spPr>
          <a:xfrm>
            <a:off x="10317480" y="5593080"/>
            <a:ext cx="1371600" cy="48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3716">
            <a:solidFill>
              <a:srgbClr val="8EC3EC"/>
            </a:solidFill>
          </a:ln>
        </p:spPr>
        <p:txBody>
          <a:bodyPr rtlCol="0" anchor="t" lIns="45720" tIns="30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DONE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cxnSp>
        <p:nvCxnSpPr>
          <p:cNvPr id="40" name="연결 start→s1"/>
          <p:cNvCxnSpPr>
            <a:stCxn id="9" idx="3"/>
            <a:endCxn id="10" idx="1"/>
          </p:cNvCxnSpPr>
          <p:nvPr/>
        </p:nvCxnSpPr>
        <p:spPr>
          <a:xfrm>
            <a:off x="1859280" y="1981200"/>
            <a:ext cx="50292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1" name="연결 s1→s2"/>
          <p:cNvCxnSpPr>
            <a:stCxn id="10" idx="3"/>
            <a:endCxn id="13" idx="1"/>
          </p:cNvCxnSpPr>
          <p:nvPr/>
        </p:nvCxnSpPr>
        <p:spPr>
          <a:xfrm>
            <a:off x="4191000" y="1981200"/>
            <a:ext cx="5334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2" name="연결 s2→s3"/>
          <p:cNvCxnSpPr>
            <a:stCxn id="13" idx="3"/>
            <a:endCxn id="16" idx="1"/>
          </p:cNvCxnSpPr>
          <p:nvPr/>
        </p:nvCxnSpPr>
        <p:spPr>
          <a:xfrm>
            <a:off x="6553200" y="1981200"/>
            <a:ext cx="5334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3" name="연결 s3→a1"/>
          <p:cNvCxnSpPr>
            <a:stCxn id="16" idx="3"/>
            <a:endCxn id="19" idx="2"/>
          </p:cNvCxnSpPr>
          <p:nvPr/>
        </p:nvCxnSpPr>
        <p:spPr>
          <a:xfrm>
            <a:off x="8915400" y="1981200"/>
            <a:ext cx="6096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4" name="연결 a2→s4"/>
          <p:cNvCxnSpPr>
            <a:stCxn id="20" idx="6"/>
            <a:endCxn id="21" idx="1"/>
          </p:cNvCxnSpPr>
          <p:nvPr/>
        </p:nvCxnSpPr>
        <p:spPr>
          <a:xfrm>
            <a:off x="899160" y="3642360"/>
            <a:ext cx="39624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5" name="연결 s4→s5"/>
          <p:cNvCxnSpPr>
            <a:stCxn id="21" idx="3"/>
            <a:endCxn id="24" idx="1"/>
          </p:cNvCxnSpPr>
          <p:nvPr/>
        </p:nvCxnSpPr>
        <p:spPr>
          <a:xfrm>
            <a:off x="3124200" y="3642360"/>
            <a:ext cx="457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6" name="연결 s5→chk"/>
          <p:cNvCxnSpPr>
            <a:stCxn id="24" idx="3"/>
            <a:endCxn id="27" idx="1"/>
          </p:cNvCxnSpPr>
          <p:nvPr/>
        </p:nvCxnSpPr>
        <p:spPr>
          <a:xfrm>
            <a:off x="5410200" y="3642360"/>
            <a:ext cx="457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47" name="연결 chk→s7"/>
          <p:cNvCxnSpPr>
            <a:stCxn id="27" idx="3"/>
            <a:endCxn id="28" idx="1"/>
          </p:cNvCxnSpPr>
          <p:nvPr/>
        </p:nvCxnSpPr>
        <p:spPr>
          <a:xfrm>
            <a:off x="7772400" y="3642360"/>
            <a:ext cx="457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48" name="라벨 예"/>
          <p:cNvSpPr txBox="1"/>
          <p:nvPr/>
        </p:nvSpPr>
        <p:spPr>
          <a:xfrm>
            <a:off x="7890510" y="3421380"/>
            <a:ext cx="22098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F4E8C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cxnSp>
        <p:nvCxnSpPr>
          <p:cNvPr id="49" name="연결 s7→end"/>
          <p:cNvCxnSpPr>
            <a:stCxn id="28" idx="3"/>
            <a:endCxn id="31" idx="1"/>
          </p:cNvCxnSpPr>
          <p:nvPr/>
        </p:nvCxnSpPr>
        <p:spPr>
          <a:xfrm>
            <a:off x="10058400" y="3642360"/>
            <a:ext cx="45720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0" name="연결 chk→stop"/>
          <p:cNvCxnSpPr>
            <a:stCxn id="27" idx="2"/>
            <a:endCxn id="32" idx="0"/>
          </p:cNvCxnSpPr>
          <p:nvPr/>
        </p:nvCxnSpPr>
        <p:spPr>
          <a:xfrm>
            <a:off x="6819900" y="4099560"/>
            <a:ext cx="0" cy="22860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51" name="라벨 아니오"/>
          <p:cNvSpPr txBox="1"/>
          <p:nvPr/>
        </p:nvSpPr>
        <p:spPr>
          <a:xfrm>
            <a:off x="6865620" y="4118610"/>
            <a:ext cx="48006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B86C9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cxnSp>
        <p:nvCxnSpPr>
          <p:cNvPr id="52" name="연결 stop→s5"/>
          <p:cNvCxnSpPr>
            <a:stCxn id="32" idx="1"/>
            <a:endCxn id="24" idx="2"/>
          </p:cNvCxnSpPr>
          <p:nvPr/>
        </p:nvCxnSpPr>
        <p:spPr>
          <a:xfrm flipH="1" flipV="1">
            <a:off x="4495800" y="4053840"/>
            <a:ext cx="1371600" cy="495300"/>
          </a:xfrm>
          <a:prstGeom prst="bentConnector3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53" name="라벨 원인 수정 후 다시"/>
          <p:cNvSpPr txBox="1"/>
          <p:nvPr/>
        </p:nvSpPr>
        <p:spPr>
          <a:xfrm>
            <a:off x="4575620" y="4328160"/>
            <a:ext cx="1211961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B86C9"/>
                </a:solidFill>
                <a:latin typeface="Pretendard"/>
                <a:ea typeface="Pretendard"/>
                <a:cs typeface="Pretendard"/>
              </a:rPr>
              <a:t>원인 수정 후 다시</a:t>
            </a:r>
          </a:p>
        </p:txBody>
      </p:sp>
      <p:cxnSp>
        <p:nvCxnSpPr>
          <p:cNvPr id="54" name="연결 st0→st1"/>
          <p:cNvCxnSpPr>
            <a:stCxn id="33" idx="3"/>
            <a:endCxn id="34" idx="1"/>
          </p:cNvCxnSpPr>
          <p:nvPr/>
        </p:nvCxnSpPr>
        <p:spPr>
          <a:xfrm>
            <a:off x="190500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5" name="연결 st1→st2"/>
          <p:cNvCxnSpPr>
            <a:stCxn id="34" idx="3"/>
            <a:endCxn id="35" idx="1"/>
          </p:cNvCxnSpPr>
          <p:nvPr/>
        </p:nvCxnSpPr>
        <p:spPr>
          <a:xfrm>
            <a:off x="353568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6" name="연결 st2→st3"/>
          <p:cNvCxnSpPr>
            <a:stCxn id="35" idx="3"/>
            <a:endCxn id="36" idx="1"/>
          </p:cNvCxnSpPr>
          <p:nvPr/>
        </p:nvCxnSpPr>
        <p:spPr>
          <a:xfrm>
            <a:off x="516636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7" name="연결 st3→st4"/>
          <p:cNvCxnSpPr>
            <a:stCxn id="36" idx="3"/>
            <a:endCxn id="37" idx="1"/>
          </p:cNvCxnSpPr>
          <p:nvPr/>
        </p:nvCxnSpPr>
        <p:spPr>
          <a:xfrm>
            <a:off x="679704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8" name="연결 st4→st5"/>
          <p:cNvCxnSpPr>
            <a:stCxn id="37" idx="3"/>
            <a:endCxn id="38" idx="1"/>
          </p:cNvCxnSpPr>
          <p:nvPr/>
        </p:nvCxnSpPr>
        <p:spPr>
          <a:xfrm>
            <a:off x="842772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cxnSp>
        <p:nvCxnSpPr>
          <p:cNvPr id="59" name="연결 st5→st6"/>
          <p:cNvCxnSpPr>
            <a:stCxn id="38" idx="3"/>
            <a:endCxn id="39" idx="1"/>
          </p:cNvCxnSpPr>
          <p:nvPr/>
        </p:nvCxnSpPr>
        <p:spPr>
          <a:xfrm>
            <a:off x="10058400" y="5836920"/>
            <a:ext cx="25908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60" name="범례"/>
          <p:cNvSpPr/>
          <p:nvPr/>
        </p:nvSpPr>
        <p:spPr>
          <a:xfrm>
            <a:off x="381000" y="6309360"/>
            <a:ext cx="399592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8EC3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2545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62" name="범례 처리 순서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F4E8C"/>
            </a:solidFill>
            <a:tailEnd type="triangle" w="med" len="med"/>
          </a:ln>
        </p:spPr>
      </p:cxnSp>
      <p:sp>
        <p:nvSpPr>
          <p:cNvPr id="63" name="범례 글 처리 순서"/>
          <p:cNvSpPr txBox="1"/>
          <p:nvPr/>
        </p:nvSpPr>
        <p:spPr>
          <a:xfrm>
            <a:off x="1341120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처리 순서</a:t>
            </a:r>
          </a:p>
        </p:txBody>
      </p:sp>
      <p:cxnSp>
        <p:nvCxnSpPr>
          <p:cNvPr id="64" name="범례 불합격 시 되돌아가는 경로"/>
          <p:cNvCxnSpPr/>
          <p:nvPr/>
        </p:nvCxnSpPr>
        <p:spPr>
          <a:xfrm>
            <a:off x="2159127" y="6507480"/>
            <a:ext cx="350520" cy="0"/>
          </a:xfrm>
          <a:prstGeom prst="line">
            <a:avLst/>
          </a:prstGeom>
          <a:ln w="16764">
            <a:solidFill>
              <a:srgbClr val="2B86C9"/>
            </a:solidFill>
            <a:prstDash val="dash"/>
            <a:tailEnd type="triangle" w="med" len="med"/>
          </a:ln>
        </p:spPr>
      </p:cxnSp>
      <p:sp>
        <p:nvSpPr>
          <p:cNvPr id="65" name="범례 글 불합격 시 되돌아가는 경로"/>
          <p:cNvSpPr txBox="1"/>
          <p:nvPr/>
        </p:nvSpPr>
        <p:spPr>
          <a:xfrm>
            <a:off x="2585847" y="6309360"/>
            <a:ext cx="1791081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불합격 시 되돌아가는 경로</a:t>
            </a:r>
          </a:p>
        </p:txBody>
      </p:sp>
      <p:sp>
        <p:nvSpPr>
          <p:cNvPr id="66" name="설명"/>
          <p:cNvSpPr txBox="1"/>
          <p:nvPr/>
        </p:nvSpPr>
        <p:spPr>
          <a:xfrm>
            <a:off x="6564249" y="6347460"/>
            <a:ext cx="524675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4 쓰기 중지와 전환 뒤 앱 연결은 사람이 한다 · 5 ~ 7 은 kdms cutover 한 번</a:t>
            </a:r>
          </a:p>
        </p:txBody>
      </p:sp>
      <p:sp>
        <p:nvSpPr>
          <p:cNvPr id="67" name="설명"/>
          <p:cNvSpPr txBox="1"/>
          <p:nvPr/>
        </p:nvSpPr>
        <p:spPr>
          <a:xfrm>
            <a:off x="6285738" y="6537960"/>
            <a:ext cx="55252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 은 테이블별 적재가 끝난 뒤부터 반영 · 적재 중 변경은 모두 change_log 에 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이관 흐름도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